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7432000" cy="43891200"/>
  <p:notesSz cx="43891200" cy="2743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7432000" cy="4023360"/>
          </a:xfrm>
          <a:prstGeom prst="rect">
            <a:avLst/>
          </a:prstGeom>
          <a:solidFill>
            <a:srgbClr val="163A70"/>
          </a:solidFill>
          <a:ln/>
        </p:spPr>
      </p:sp>
      <p:sp>
        <p:nvSpPr>
          <p:cNvPr id="3" name="Shape 1"/>
          <p:cNvSpPr/>
          <p:nvPr/>
        </p:nvSpPr>
        <p:spPr>
          <a:xfrm>
            <a:off x="0" y="4023360"/>
            <a:ext cx="27432000" cy="54864"/>
          </a:xfrm>
          <a:prstGeom prst="rect">
            <a:avLst/>
          </a:prstGeom>
          <a:solidFill>
            <a:srgbClr val="1FA6A6"/>
          </a:solidFill>
          <a:ln/>
        </p:spPr>
      </p:sp>
      <p:sp>
        <p:nvSpPr>
          <p:cNvPr id="4" name="Shape 2"/>
          <p:cNvSpPr/>
          <p:nvPr/>
        </p:nvSpPr>
        <p:spPr>
          <a:xfrm>
            <a:off x="822960" y="384048"/>
            <a:ext cx="3566160" cy="3273552"/>
          </a:xfrm>
          <a:prstGeom prst="roundRect">
            <a:avLst>
              <a:gd name="adj" fmla="val 2793"/>
            </a:avLst>
          </a:prstGeom>
          <a:solidFill>
            <a:srgbClr val="FFFFFF"/>
          </a:solidFill>
          <a:ln/>
        </p:spPr>
      </p:sp>
      <p:pic>
        <p:nvPicPr>
          <p:cNvPr id="5" name="Image 0" descr="logo.png">    </p:cNvPr>
          <p:cNvPicPr>
            <a:picLocks noChangeAspect="1"/>
          </p:cNvPicPr>
          <p:nvPr/>
        </p:nvPicPr>
        <p:blipFill>
          <a:blip r:embed="rId1"/>
          <a:stretch>
            <a:fillRect/>
          </a:stretch>
        </p:blipFill>
        <p:spPr>
          <a:xfrm>
            <a:off x="1509732" y="603504"/>
            <a:ext cx="2192616" cy="2286000"/>
          </a:xfrm>
          <a:prstGeom prst="rect">
            <a:avLst/>
          </a:prstGeom>
        </p:spPr>
      </p:pic>
      <p:sp>
        <p:nvSpPr>
          <p:cNvPr id="6" name="Text 3"/>
          <p:cNvSpPr/>
          <p:nvPr/>
        </p:nvSpPr>
        <p:spPr>
          <a:xfrm>
            <a:off x="822960" y="2944368"/>
            <a:ext cx="3566160" cy="365760"/>
          </a:xfrm>
          <a:prstGeom prst="rect">
            <a:avLst/>
          </a:prstGeom>
          <a:noFill/>
          <a:ln/>
        </p:spPr>
        <p:txBody>
          <a:bodyPr wrap="square" lIns="0" tIns="0" rIns="0" bIns="0" rtlCol="0" anchor="ctr"/>
          <a:lstStyle/>
          <a:p>
            <a:pPr algn="ctr" indent="0" marL="0">
              <a:buNone/>
            </a:pPr>
            <a:r>
              <a:rPr lang="en-US" sz="1400" i="1" dirty="0">
                <a:solidFill>
                  <a:srgbClr val="163A70"/>
                </a:solidFill>
                <a:latin typeface="Cambria" pitchFamily="34" charset="0"/>
                <a:ea typeface="Cambria" pitchFamily="34" charset="-122"/>
                <a:cs typeface="Cambria" pitchFamily="34" charset="-120"/>
              </a:rPr>
              <a:t>Since 1993</a:t>
            </a:r>
            <a:endParaRPr lang="en-US" sz="1400" dirty="0"/>
          </a:p>
        </p:txBody>
      </p:sp>
      <p:sp>
        <p:nvSpPr>
          <p:cNvPr id="7" name="Shape 4"/>
          <p:cNvSpPr/>
          <p:nvPr/>
        </p:nvSpPr>
        <p:spPr>
          <a:xfrm>
            <a:off x="23253192" y="576072"/>
            <a:ext cx="2596896" cy="2596896"/>
          </a:xfrm>
          <a:prstGeom prst="ellipse">
            <a:avLst/>
          </a:prstGeom>
          <a:ln w="28575">
            <a:solidFill>
              <a:srgbClr val="1FA6A6"/>
            </a:solidFill>
            <a:prstDash val="solid"/>
          </a:ln>
        </p:spPr>
      </p:sp>
      <p:sp>
        <p:nvSpPr>
          <p:cNvPr id="8" name="Shape 5"/>
          <p:cNvSpPr/>
          <p:nvPr/>
        </p:nvSpPr>
        <p:spPr>
          <a:xfrm>
            <a:off x="23447959" y="770839"/>
            <a:ext cx="2207362" cy="2207362"/>
          </a:xfrm>
          <a:prstGeom prst="ellipse">
            <a:avLst/>
          </a:prstGeom>
          <a:ln w="20320">
            <a:solidFill>
              <a:srgbClr val="4E7BFF"/>
            </a:solidFill>
            <a:prstDash val="solid"/>
          </a:ln>
        </p:spPr>
      </p:sp>
      <p:sp>
        <p:nvSpPr>
          <p:cNvPr id="9" name="Shape 6"/>
          <p:cNvSpPr/>
          <p:nvPr/>
        </p:nvSpPr>
        <p:spPr>
          <a:xfrm>
            <a:off x="23993307" y="1316187"/>
            <a:ext cx="1116665" cy="1116665"/>
          </a:xfrm>
          <a:prstGeom prst="ellipse">
            <a:avLst/>
          </a:prstGeom>
          <a:solidFill>
            <a:srgbClr val="22508F"/>
          </a:solidFill>
          <a:ln w="13970">
            <a:solidFill>
              <a:srgbClr val="1FA6A6"/>
            </a:solidFill>
            <a:prstDash val="solid"/>
          </a:ln>
        </p:spPr>
      </p:sp>
      <p:sp>
        <p:nvSpPr>
          <p:cNvPr id="10" name="Shape 7"/>
          <p:cNvSpPr/>
          <p:nvPr/>
        </p:nvSpPr>
        <p:spPr>
          <a:xfrm>
            <a:off x="25806654" y="1831086"/>
            <a:ext cx="86868" cy="86868"/>
          </a:xfrm>
          <a:prstGeom prst="ellipse">
            <a:avLst/>
          </a:prstGeom>
          <a:solidFill>
            <a:srgbClr val="FFFFFF"/>
          </a:solidFill>
          <a:ln/>
        </p:spPr>
      </p:sp>
      <p:sp>
        <p:nvSpPr>
          <p:cNvPr id="11" name="Shape 8"/>
          <p:cNvSpPr/>
          <p:nvPr/>
        </p:nvSpPr>
        <p:spPr>
          <a:xfrm>
            <a:off x="25762410" y="2167149"/>
            <a:ext cx="86868" cy="86868"/>
          </a:xfrm>
          <a:prstGeom prst="ellipse">
            <a:avLst/>
          </a:prstGeom>
          <a:solidFill>
            <a:srgbClr val="FFFFFF"/>
          </a:solidFill>
          <a:ln/>
        </p:spPr>
      </p:sp>
      <p:sp>
        <p:nvSpPr>
          <p:cNvPr id="12" name="Shape 9"/>
          <p:cNvSpPr/>
          <p:nvPr/>
        </p:nvSpPr>
        <p:spPr>
          <a:xfrm>
            <a:off x="25632695" y="2480310"/>
            <a:ext cx="86868" cy="86868"/>
          </a:xfrm>
          <a:prstGeom prst="ellipse">
            <a:avLst/>
          </a:prstGeom>
          <a:solidFill>
            <a:srgbClr val="FFFFFF"/>
          </a:solidFill>
          <a:ln/>
        </p:spPr>
      </p:sp>
      <p:sp>
        <p:nvSpPr>
          <p:cNvPr id="13" name="Shape 10"/>
          <p:cNvSpPr/>
          <p:nvPr/>
        </p:nvSpPr>
        <p:spPr>
          <a:xfrm>
            <a:off x="25426347" y="2749227"/>
            <a:ext cx="86868" cy="86868"/>
          </a:xfrm>
          <a:prstGeom prst="ellipse">
            <a:avLst/>
          </a:prstGeom>
          <a:solidFill>
            <a:srgbClr val="FFFFFF"/>
          </a:solidFill>
          <a:ln/>
        </p:spPr>
      </p:sp>
      <p:sp>
        <p:nvSpPr>
          <p:cNvPr id="14" name="Shape 11"/>
          <p:cNvSpPr/>
          <p:nvPr/>
        </p:nvSpPr>
        <p:spPr>
          <a:xfrm>
            <a:off x="25157430" y="2955575"/>
            <a:ext cx="86868" cy="86868"/>
          </a:xfrm>
          <a:prstGeom prst="ellipse">
            <a:avLst/>
          </a:prstGeom>
          <a:solidFill>
            <a:srgbClr val="FFFFFF"/>
          </a:solidFill>
          <a:ln/>
        </p:spPr>
      </p:sp>
      <p:sp>
        <p:nvSpPr>
          <p:cNvPr id="15" name="Shape 12"/>
          <p:cNvSpPr/>
          <p:nvPr/>
        </p:nvSpPr>
        <p:spPr>
          <a:xfrm>
            <a:off x="24844269" y="3085290"/>
            <a:ext cx="86868" cy="86868"/>
          </a:xfrm>
          <a:prstGeom prst="ellipse">
            <a:avLst/>
          </a:prstGeom>
          <a:solidFill>
            <a:srgbClr val="FFFFFF"/>
          </a:solidFill>
          <a:ln/>
        </p:spPr>
      </p:sp>
      <p:sp>
        <p:nvSpPr>
          <p:cNvPr id="16" name="Shape 13"/>
          <p:cNvSpPr/>
          <p:nvPr/>
        </p:nvSpPr>
        <p:spPr>
          <a:xfrm>
            <a:off x="24508206" y="3129534"/>
            <a:ext cx="86868" cy="86868"/>
          </a:xfrm>
          <a:prstGeom prst="ellipse">
            <a:avLst/>
          </a:prstGeom>
          <a:solidFill>
            <a:srgbClr val="FFFFFF"/>
          </a:solidFill>
          <a:ln/>
        </p:spPr>
      </p:sp>
      <p:sp>
        <p:nvSpPr>
          <p:cNvPr id="17" name="Shape 14"/>
          <p:cNvSpPr/>
          <p:nvPr/>
        </p:nvSpPr>
        <p:spPr>
          <a:xfrm>
            <a:off x="24172143" y="3085290"/>
            <a:ext cx="86868" cy="86868"/>
          </a:xfrm>
          <a:prstGeom prst="ellipse">
            <a:avLst/>
          </a:prstGeom>
          <a:solidFill>
            <a:srgbClr val="FFFFFF"/>
          </a:solidFill>
          <a:ln/>
        </p:spPr>
      </p:sp>
      <p:sp>
        <p:nvSpPr>
          <p:cNvPr id="18" name="Shape 15"/>
          <p:cNvSpPr/>
          <p:nvPr/>
        </p:nvSpPr>
        <p:spPr>
          <a:xfrm>
            <a:off x="23858982" y="2955575"/>
            <a:ext cx="86868" cy="86868"/>
          </a:xfrm>
          <a:prstGeom prst="ellipse">
            <a:avLst/>
          </a:prstGeom>
          <a:solidFill>
            <a:srgbClr val="FFFFFF"/>
          </a:solidFill>
          <a:ln/>
        </p:spPr>
      </p:sp>
      <p:sp>
        <p:nvSpPr>
          <p:cNvPr id="19" name="Shape 16"/>
          <p:cNvSpPr/>
          <p:nvPr/>
        </p:nvSpPr>
        <p:spPr>
          <a:xfrm>
            <a:off x="23590065" y="2749227"/>
            <a:ext cx="86868" cy="86868"/>
          </a:xfrm>
          <a:prstGeom prst="ellipse">
            <a:avLst/>
          </a:prstGeom>
          <a:solidFill>
            <a:srgbClr val="FFFFFF"/>
          </a:solidFill>
          <a:ln/>
        </p:spPr>
      </p:sp>
      <p:sp>
        <p:nvSpPr>
          <p:cNvPr id="20" name="Shape 17"/>
          <p:cNvSpPr/>
          <p:nvPr/>
        </p:nvSpPr>
        <p:spPr>
          <a:xfrm>
            <a:off x="23383717" y="2480310"/>
            <a:ext cx="86868" cy="86868"/>
          </a:xfrm>
          <a:prstGeom prst="ellipse">
            <a:avLst/>
          </a:prstGeom>
          <a:solidFill>
            <a:srgbClr val="FFFFFF"/>
          </a:solidFill>
          <a:ln/>
        </p:spPr>
      </p:sp>
      <p:sp>
        <p:nvSpPr>
          <p:cNvPr id="21" name="Shape 18"/>
          <p:cNvSpPr/>
          <p:nvPr/>
        </p:nvSpPr>
        <p:spPr>
          <a:xfrm>
            <a:off x="23254002" y="2167149"/>
            <a:ext cx="86868" cy="86868"/>
          </a:xfrm>
          <a:prstGeom prst="ellipse">
            <a:avLst/>
          </a:prstGeom>
          <a:solidFill>
            <a:srgbClr val="FFFFFF"/>
          </a:solidFill>
          <a:ln/>
        </p:spPr>
      </p:sp>
      <p:sp>
        <p:nvSpPr>
          <p:cNvPr id="22" name="Shape 19"/>
          <p:cNvSpPr/>
          <p:nvPr/>
        </p:nvSpPr>
        <p:spPr>
          <a:xfrm>
            <a:off x="23209758" y="1831086"/>
            <a:ext cx="86868" cy="86868"/>
          </a:xfrm>
          <a:prstGeom prst="ellipse">
            <a:avLst/>
          </a:prstGeom>
          <a:solidFill>
            <a:srgbClr val="FFFFFF"/>
          </a:solidFill>
          <a:ln/>
        </p:spPr>
      </p:sp>
      <p:sp>
        <p:nvSpPr>
          <p:cNvPr id="23" name="Shape 20"/>
          <p:cNvSpPr/>
          <p:nvPr/>
        </p:nvSpPr>
        <p:spPr>
          <a:xfrm>
            <a:off x="23254002" y="1495023"/>
            <a:ext cx="86868" cy="86868"/>
          </a:xfrm>
          <a:prstGeom prst="ellipse">
            <a:avLst/>
          </a:prstGeom>
          <a:solidFill>
            <a:srgbClr val="FFFFFF"/>
          </a:solidFill>
          <a:ln/>
        </p:spPr>
      </p:sp>
      <p:sp>
        <p:nvSpPr>
          <p:cNvPr id="24" name="Shape 21"/>
          <p:cNvSpPr/>
          <p:nvPr/>
        </p:nvSpPr>
        <p:spPr>
          <a:xfrm>
            <a:off x="23383717" y="1181862"/>
            <a:ext cx="86868" cy="86868"/>
          </a:xfrm>
          <a:prstGeom prst="ellipse">
            <a:avLst/>
          </a:prstGeom>
          <a:solidFill>
            <a:srgbClr val="FFFFFF"/>
          </a:solidFill>
          <a:ln/>
        </p:spPr>
      </p:sp>
      <p:sp>
        <p:nvSpPr>
          <p:cNvPr id="25" name="Shape 22"/>
          <p:cNvSpPr/>
          <p:nvPr/>
        </p:nvSpPr>
        <p:spPr>
          <a:xfrm>
            <a:off x="23590065" y="912945"/>
            <a:ext cx="86868" cy="86868"/>
          </a:xfrm>
          <a:prstGeom prst="ellipse">
            <a:avLst/>
          </a:prstGeom>
          <a:solidFill>
            <a:srgbClr val="FFFFFF"/>
          </a:solidFill>
          <a:ln/>
        </p:spPr>
      </p:sp>
      <p:sp>
        <p:nvSpPr>
          <p:cNvPr id="26" name="Shape 23"/>
          <p:cNvSpPr/>
          <p:nvPr/>
        </p:nvSpPr>
        <p:spPr>
          <a:xfrm>
            <a:off x="23858982" y="706597"/>
            <a:ext cx="86868" cy="86868"/>
          </a:xfrm>
          <a:prstGeom prst="ellipse">
            <a:avLst/>
          </a:prstGeom>
          <a:solidFill>
            <a:srgbClr val="FFFFFF"/>
          </a:solidFill>
          <a:ln/>
        </p:spPr>
      </p:sp>
      <p:sp>
        <p:nvSpPr>
          <p:cNvPr id="27" name="Shape 24"/>
          <p:cNvSpPr/>
          <p:nvPr/>
        </p:nvSpPr>
        <p:spPr>
          <a:xfrm>
            <a:off x="24172143" y="576882"/>
            <a:ext cx="86868" cy="86868"/>
          </a:xfrm>
          <a:prstGeom prst="ellipse">
            <a:avLst/>
          </a:prstGeom>
          <a:solidFill>
            <a:srgbClr val="FFFFFF"/>
          </a:solidFill>
          <a:ln/>
        </p:spPr>
      </p:sp>
      <p:sp>
        <p:nvSpPr>
          <p:cNvPr id="28" name="Shape 25"/>
          <p:cNvSpPr/>
          <p:nvPr/>
        </p:nvSpPr>
        <p:spPr>
          <a:xfrm>
            <a:off x="24508206" y="532638"/>
            <a:ext cx="86868" cy="86868"/>
          </a:xfrm>
          <a:prstGeom prst="ellipse">
            <a:avLst/>
          </a:prstGeom>
          <a:solidFill>
            <a:srgbClr val="FFFFFF"/>
          </a:solidFill>
          <a:ln/>
        </p:spPr>
      </p:sp>
      <p:sp>
        <p:nvSpPr>
          <p:cNvPr id="29" name="Shape 26"/>
          <p:cNvSpPr/>
          <p:nvPr/>
        </p:nvSpPr>
        <p:spPr>
          <a:xfrm>
            <a:off x="24844269" y="576882"/>
            <a:ext cx="86868" cy="86868"/>
          </a:xfrm>
          <a:prstGeom prst="ellipse">
            <a:avLst/>
          </a:prstGeom>
          <a:solidFill>
            <a:srgbClr val="FFFFFF"/>
          </a:solidFill>
          <a:ln/>
        </p:spPr>
      </p:sp>
      <p:sp>
        <p:nvSpPr>
          <p:cNvPr id="30" name="Shape 27"/>
          <p:cNvSpPr/>
          <p:nvPr/>
        </p:nvSpPr>
        <p:spPr>
          <a:xfrm>
            <a:off x="25157430" y="706597"/>
            <a:ext cx="86868" cy="86868"/>
          </a:xfrm>
          <a:prstGeom prst="ellipse">
            <a:avLst/>
          </a:prstGeom>
          <a:solidFill>
            <a:srgbClr val="FFFFFF"/>
          </a:solidFill>
          <a:ln/>
        </p:spPr>
      </p:sp>
      <p:sp>
        <p:nvSpPr>
          <p:cNvPr id="31" name="Shape 28"/>
          <p:cNvSpPr/>
          <p:nvPr/>
        </p:nvSpPr>
        <p:spPr>
          <a:xfrm>
            <a:off x="25426347" y="912945"/>
            <a:ext cx="86868" cy="86868"/>
          </a:xfrm>
          <a:prstGeom prst="ellipse">
            <a:avLst/>
          </a:prstGeom>
          <a:solidFill>
            <a:srgbClr val="FFFFFF"/>
          </a:solidFill>
          <a:ln/>
        </p:spPr>
      </p:sp>
      <p:sp>
        <p:nvSpPr>
          <p:cNvPr id="32" name="Shape 29"/>
          <p:cNvSpPr/>
          <p:nvPr/>
        </p:nvSpPr>
        <p:spPr>
          <a:xfrm>
            <a:off x="25632695" y="1181862"/>
            <a:ext cx="86868" cy="86868"/>
          </a:xfrm>
          <a:prstGeom prst="ellipse">
            <a:avLst/>
          </a:prstGeom>
          <a:solidFill>
            <a:srgbClr val="FFFFFF"/>
          </a:solidFill>
          <a:ln/>
        </p:spPr>
      </p:sp>
      <p:sp>
        <p:nvSpPr>
          <p:cNvPr id="33" name="Shape 30"/>
          <p:cNvSpPr/>
          <p:nvPr/>
        </p:nvSpPr>
        <p:spPr>
          <a:xfrm>
            <a:off x="25762410" y="1495023"/>
            <a:ext cx="86868" cy="86868"/>
          </a:xfrm>
          <a:prstGeom prst="ellipse">
            <a:avLst/>
          </a:prstGeom>
          <a:solidFill>
            <a:srgbClr val="FFFFFF"/>
          </a:solidFill>
          <a:ln/>
        </p:spPr>
      </p:sp>
      <p:sp>
        <p:nvSpPr>
          <p:cNvPr id="34" name="Shape 31"/>
          <p:cNvSpPr/>
          <p:nvPr/>
        </p:nvSpPr>
        <p:spPr>
          <a:xfrm>
            <a:off x="24460200" y="1581912"/>
            <a:ext cx="182880" cy="182880"/>
          </a:xfrm>
          <a:prstGeom prst="ellipse">
            <a:avLst/>
          </a:prstGeom>
          <a:solidFill>
            <a:srgbClr val="1FA6A6"/>
          </a:solidFill>
          <a:ln/>
        </p:spPr>
      </p:sp>
      <p:sp>
        <p:nvSpPr>
          <p:cNvPr id="35" name="Shape 32"/>
          <p:cNvSpPr/>
          <p:nvPr/>
        </p:nvSpPr>
        <p:spPr>
          <a:xfrm>
            <a:off x="24679656" y="1901952"/>
            <a:ext cx="182880" cy="182880"/>
          </a:xfrm>
          <a:prstGeom prst="ellipse">
            <a:avLst/>
          </a:prstGeom>
          <a:solidFill>
            <a:srgbClr val="1FA6A6"/>
          </a:solidFill>
          <a:ln/>
        </p:spPr>
      </p:sp>
      <p:sp>
        <p:nvSpPr>
          <p:cNvPr id="36" name="Shape 33"/>
          <p:cNvSpPr/>
          <p:nvPr/>
        </p:nvSpPr>
        <p:spPr>
          <a:xfrm>
            <a:off x="24240744" y="1911096"/>
            <a:ext cx="182880" cy="182880"/>
          </a:xfrm>
          <a:prstGeom prst="ellipse">
            <a:avLst/>
          </a:prstGeom>
          <a:solidFill>
            <a:srgbClr val="1FA6A6"/>
          </a:solidFill>
          <a:ln/>
        </p:spPr>
      </p:sp>
      <p:sp>
        <p:nvSpPr>
          <p:cNvPr id="37" name="Text 34"/>
          <p:cNvSpPr/>
          <p:nvPr/>
        </p:nvSpPr>
        <p:spPr>
          <a:xfrm>
            <a:off x="4892040" y="457200"/>
            <a:ext cx="17830800" cy="2011680"/>
          </a:xfrm>
          <a:prstGeom prst="rect">
            <a:avLst/>
          </a:prstGeom>
          <a:noFill/>
          <a:ln/>
        </p:spPr>
        <p:txBody>
          <a:bodyPr wrap="square" lIns="0" tIns="0" rIns="0" bIns="0" rtlCol="0" anchor="ctr"/>
          <a:lstStyle/>
          <a:p>
            <a:pPr algn="ctr" indent="0" marL="0">
              <a:lnSpc>
                <a:spcPct val="95000"/>
              </a:lnSpc>
              <a:buNone/>
            </a:pPr>
            <a:r>
              <a:rPr lang="en-US" sz="4100" b="1" dirty="0">
                <a:solidFill>
                  <a:srgbClr val="FFFFFF"/>
                </a:solidFill>
                <a:latin typeface="Cambria" pitchFamily="34" charset="0"/>
                <a:ea typeface="Cambria" pitchFamily="34" charset="-122"/>
                <a:cs typeface="Cambria" pitchFamily="34" charset="-120"/>
              </a:rPr>
              <a:t>Harnessing Liposome Technology for Precision Medicine: Design, Delivery, and Clinical Impact</a:t>
            </a:r>
            <a:endParaRPr lang="en-US" sz="4100" dirty="0"/>
          </a:p>
        </p:txBody>
      </p:sp>
      <p:sp>
        <p:nvSpPr>
          <p:cNvPr id="38" name="Text 35"/>
          <p:cNvSpPr/>
          <p:nvPr/>
        </p:nvSpPr>
        <p:spPr>
          <a:xfrm>
            <a:off x="4892040" y="2523744"/>
            <a:ext cx="17830800" cy="420624"/>
          </a:xfrm>
          <a:prstGeom prst="rect">
            <a:avLst/>
          </a:prstGeom>
          <a:noFill/>
          <a:ln/>
        </p:spPr>
        <p:txBody>
          <a:bodyPr wrap="square" lIns="0" tIns="0" rIns="0" bIns="0" rtlCol="0" anchor="ctr"/>
          <a:lstStyle/>
          <a:p>
            <a:pPr algn="ctr" indent="0" marL="0">
              <a:buNone/>
            </a:pPr>
            <a:r>
              <a:rPr lang="en-US" sz="1800" dirty="0">
                <a:solidFill>
                  <a:srgbClr val="CBD9EE"/>
                </a:solidFill>
                <a:latin typeface="Calibri" pitchFamily="34" charset="0"/>
                <a:ea typeface="Calibri" pitchFamily="34" charset="-122"/>
                <a:cs typeface="Calibri" pitchFamily="34" charset="-120"/>
              </a:rPr>
              <a:t>Department of Pharmaceutics, RR College of Pharmacy, Bengaluru-560090, Karnataka, India</a:t>
            </a:r>
            <a:endParaRPr lang="en-US" sz="1800" dirty="0"/>
          </a:p>
        </p:txBody>
      </p:sp>
      <p:sp>
        <p:nvSpPr>
          <p:cNvPr id="39" name="Shape 36"/>
          <p:cNvSpPr/>
          <p:nvPr/>
        </p:nvSpPr>
        <p:spPr>
          <a:xfrm>
            <a:off x="7680960" y="3017520"/>
            <a:ext cx="12252960" cy="585216"/>
          </a:xfrm>
          <a:prstGeom prst="roundRect">
            <a:avLst>
              <a:gd name="adj" fmla="val 50000"/>
            </a:avLst>
          </a:prstGeom>
          <a:solidFill>
            <a:srgbClr val="22508F"/>
          </a:solidFill>
          <a:ln w="12700">
            <a:solidFill>
              <a:srgbClr val="1FA6A6"/>
            </a:solidFill>
            <a:prstDash val="solid"/>
          </a:ln>
        </p:spPr>
      </p:sp>
      <p:sp>
        <p:nvSpPr>
          <p:cNvPr id="40" name="Text 37"/>
          <p:cNvSpPr/>
          <p:nvPr/>
        </p:nvSpPr>
        <p:spPr>
          <a:xfrm>
            <a:off x="4892040" y="3017520"/>
            <a:ext cx="17830800" cy="585216"/>
          </a:xfrm>
          <a:prstGeom prst="rect">
            <a:avLst/>
          </a:prstGeom>
          <a:noFill/>
          <a:ln/>
        </p:spPr>
        <p:txBody>
          <a:bodyPr wrap="square" lIns="0" tIns="0" rIns="0" bIns="0" rtlCol="0" anchor="ctr"/>
          <a:lstStyle/>
          <a:p>
            <a:pPr algn="ctr" indent="0" marL="0">
              <a:buNone/>
            </a:pPr>
            <a:r>
              <a:rPr lang="en-US" sz="1700" dirty="0">
                <a:solidFill>
                  <a:srgbClr val="9FD9D9"/>
                </a:solidFill>
                <a:latin typeface="Calibri" pitchFamily="34" charset="0"/>
                <a:ea typeface="Calibri" pitchFamily="34" charset="-122"/>
                <a:cs typeface="Calibri" pitchFamily="34" charset="-120"/>
              </a:rPr>
              <a:t>Correspondence e-mail:  </a:t>
            </a:r>
            <a:pPr algn="ctr" indent="0" marL="0">
              <a:buNone/>
            </a:pPr>
            <a:r>
              <a:rPr lang="en-US" sz="1700" b="1" dirty="0">
                <a:solidFill>
                  <a:srgbClr val="FFFFFF"/>
                </a:solidFill>
                <a:latin typeface="Calibri" pitchFamily="34" charset="0"/>
                <a:ea typeface="Calibri" pitchFamily="34" charset="-122"/>
                <a:cs typeface="Calibri" pitchFamily="34" charset="-120"/>
              </a:rPr>
              <a:t>singhrashmi295pharma@gmail.com</a:t>
            </a:r>
            <a:endParaRPr lang="en-US" sz="1700" dirty="0"/>
          </a:p>
        </p:txBody>
      </p:sp>
      <p:sp>
        <p:nvSpPr>
          <p:cNvPr id="41" name="Shape 38"/>
          <p:cNvSpPr/>
          <p:nvPr/>
        </p:nvSpPr>
        <p:spPr>
          <a:xfrm>
            <a:off x="822960" y="4526280"/>
            <a:ext cx="25786080" cy="2194560"/>
          </a:xfrm>
          <a:prstGeom prst="roundRect">
            <a:avLst>
              <a:gd name="adj" fmla="val 4167"/>
            </a:avLst>
          </a:prstGeom>
          <a:solidFill>
            <a:srgbClr val="163A70"/>
          </a:solidFill>
          <a:ln/>
        </p:spPr>
      </p:sp>
      <p:sp>
        <p:nvSpPr>
          <p:cNvPr id="42" name="Shape 39"/>
          <p:cNvSpPr/>
          <p:nvPr/>
        </p:nvSpPr>
        <p:spPr>
          <a:xfrm>
            <a:off x="1106424" y="4873752"/>
            <a:ext cx="438912" cy="438912"/>
          </a:xfrm>
          <a:prstGeom prst="ellipse">
            <a:avLst/>
          </a:prstGeom>
          <a:ln w="25400">
            <a:solidFill>
              <a:srgbClr val="1FA6A6"/>
            </a:solidFill>
            <a:prstDash val="solid"/>
          </a:ln>
        </p:spPr>
      </p:sp>
      <p:sp>
        <p:nvSpPr>
          <p:cNvPr id="43" name="Shape 40"/>
          <p:cNvSpPr/>
          <p:nvPr/>
        </p:nvSpPr>
        <p:spPr>
          <a:xfrm>
            <a:off x="1198596" y="4965924"/>
            <a:ext cx="254569" cy="254569"/>
          </a:xfrm>
          <a:prstGeom prst="ellipse">
            <a:avLst/>
          </a:prstGeom>
          <a:ln w="21590">
            <a:solidFill>
              <a:srgbClr val="1FA6A6"/>
            </a:solidFill>
            <a:prstDash val="solid"/>
          </a:ln>
        </p:spPr>
      </p:sp>
      <p:sp>
        <p:nvSpPr>
          <p:cNvPr id="44" name="Shape 41"/>
          <p:cNvSpPr/>
          <p:nvPr/>
        </p:nvSpPr>
        <p:spPr>
          <a:xfrm>
            <a:off x="1273211" y="5040539"/>
            <a:ext cx="105339" cy="105339"/>
          </a:xfrm>
          <a:prstGeom prst="ellipse">
            <a:avLst/>
          </a:prstGeom>
          <a:solidFill>
            <a:srgbClr val="1FA6A6"/>
          </a:solidFill>
          <a:ln/>
        </p:spPr>
      </p:sp>
      <p:sp>
        <p:nvSpPr>
          <p:cNvPr id="45" name="Text 42"/>
          <p:cNvSpPr/>
          <p:nvPr/>
        </p:nvSpPr>
        <p:spPr>
          <a:xfrm>
            <a:off x="1645920" y="4764024"/>
            <a:ext cx="7315200" cy="658368"/>
          </a:xfrm>
          <a:prstGeom prst="rect">
            <a:avLst/>
          </a:prstGeom>
          <a:noFill/>
          <a:ln/>
        </p:spPr>
        <p:txBody>
          <a:bodyPr wrap="square" lIns="0" tIns="0" rIns="0" bIns="0" rtlCol="0" anchor="ctr"/>
          <a:lstStyle/>
          <a:p>
            <a:pPr indent="0" marL="0">
              <a:buNone/>
            </a:pPr>
            <a:r>
              <a:rPr lang="en-US" sz="2500" b="1" spc="150" kern="0" dirty="0">
                <a:solidFill>
                  <a:srgbClr val="FFFFFF"/>
                </a:solidFill>
                <a:latin typeface="Calibri" pitchFamily="34" charset="0"/>
                <a:ea typeface="Calibri" pitchFamily="34" charset="-122"/>
                <a:cs typeface="Calibri" pitchFamily="34" charset="-120"/>
              </a:rPr>
              <a:t>ABSTRACT</a:t>
            </a:r>
            <a:endParaRPr lang="en-US" sz="2500" dirty="0"/>
          </a:p>
        </p:txBody>
      </p:sp>
      <p:sp>
        <p:nvSpPr>
          <p:cNvPr id="46" name="Text 43"/>
          <p:cNvSpPr/>
          <p:nvPr/>
        </p:nvSpPr>
        <p:spPr>
          <a:xfrm>
            <a:off x="1325880" y="5440680"/>
            <a:ext cx="24780240" cy="1097280"/>
          </a:xfrm>
          <a:prstGeom prst="rect">
            <a:avLst/>
          </a:prstGeom>
          <a:noFill/>
          <a:ln/>
        </p:spPr>
        <p:txBody>
          <a:bodyPr wrap="square" lIns="0" tIns="0" rIns="0" bIns="0" rtlCol="0" anchor="t"/>
          <a:lstStyle/>
          <a:p>
            <a:pPr algn="just" indent="0" marL="0">
              <a:lnSpc>
                <a:spcPct val="105000"/>
              </a:lnSpc>
              <a:buNone/>
            </a:pPr>
            <a:r>
              <a:rPr lang="en-US" sz="2000" dirty="0">
                <a:solidFill>
                  <a:srgbClr val="E3ECF8"/>
                </a:solidFill>
                <a:latin typeface="Calibri" pitchFamily="34" charset="0"/>
                <a:ea typeface="Calibri" pitchFamily="34" charset="-122"/>
                <a:cs typeface="Calibri" pitchFamily="34" charset="-120"/>
              </a:rPr>
              <a:t>Liposomes are biocompatible drug carriers enabling targeted delivery with reduced toxicity. Surface modification enhances their efficiency in cancer therapy and gene delivery. Recent advances include optimized, stimuli-responsive systems under clinical study. These systems show strong potential for improved and precise therapeutic outcomes.</a:t>
            </a:r>
            <a:endParaRPr lang="en-US" sz="2000" dirty="0"/>
          </a:p>
        </p:txBody>
      </p:sp>
      <p:sp>
        <p:nvSpPr>
          <p:cNvPr id="47" name="Shape 44"/>
          <p:cNvSpPr/>
          <p:nvPr/>
        </p:nvSpPr>
        <p:spPr>
          <a:xfrm>
            <a:off x="822960" y="6995160"/>
            <a:ext cx="25786080" cy="960120"/>
          </a:xfrm>
          <a:prstGeom prst="roundRect">
            <a:avLst>
              <a:gd name="adj" fmla="val 9524"/>
            </a:avLst>
          </a:prstGeom>
          <a:solidFill>
            <a:srgbClr val="E9F6F6"/>
          </a:solidFill>
          <a:ln w="9525">
            <a:solidFill>
              <a:srgbClr val="1FA6A6"/>
            </a:solidFill>
            <a:prstDash val="solid"/>
          </a:ln>
        </p:spPr>
      </p:sp>
      <p:sp>
        <p:nvSpPr>
          <p:cNvPr id="48" name="Shape 45"/>
          <p:cNvSpPr/>
          <p:nvPr/>
        </p:nvSpPr>
        <p:spPr>
          <a:xfrm>
            <a:off x="1069848" y="7264908"/>
            <a:ext cx="420624" cy="420624"/>
          </a:xfrm>
          <a:prstGeom prst="ellipse">
            <a:avLst/>
          </a:prstGeom>
          <a:ln w="25400">
            <a:solidFill>
              <a:srgbClr val="137E7E"/>
            </a:solidFill>
            <a:prstDash val="solid"/>
          </a:ln>
        </p:spPr>
      </p:sp>
      <p:sp>
        <p:nvSpPr>
          <p:cNvPr id="49" name="Shape 46"/>
          <p:cNvSpPr/>
          <p:nvPr/>
        </p:nvSpPr>
        <p:spPr>
          <a:xfrm>
            <a:off x="1158179" y="7353239"/>
            <a:ext cx="243962" cy="243962"/>
          </a:xfrm>
          <a:prstGeom prst="ellipse">
            <a:avLst/>
          </a:prstGeom>
          <a:ln w="21590">
            <a:solidFill>
              <a:srgbClr val="137E7E"/>
            </a:solidFill>
            <a:prstDash val="solid"/>
          </a:ln>
        </p:spPr>
      </p:sp>
      <p:sp>
        <p:nvSpPr>
          <p:cNvPr id="50" name="Shape 47"/>
          <p:cNvSpPr/>
          <p:nvPr/>
        </p:nvSpPr>
        <p:spPr>
          <a:xfrm>
            <a:off x="1229685" y="7424745"/>
            <a:ext cx="100950" cy="100950"/>
          </a:xfrm>
          <a:prstGeom prst="ellipse">
            <a:avLst/>
          </a:prstGeom>
          <a:solidFill>
            <a:srgbClr val="137E7E"/>
          </a:solidFill>
          <a:ln/>
        </p:spPr>
      </p:sp>
      <p:sp>
        <p:nvSpPr>
          <p:cNvPr id="51" name="Text 48"/>
          <p:cNvSpPr/>
          <p:nvPr/>
        </p:nvSpPr>
        <p:spPr>
          <a:xfrm>
            <a:off x="1609344" y="6995160"/>
            <a:ext cx="24597360" cy="960120"/>
          </a:xfrm>
          <a:prstGeom prst="rect">
            <a:avLst/>
          </a:prstGeom>
          <a:noFill/>
          <a:ln/>
        </p:spPr>
        <p:txBody>
          <a:bodyPr wrap="square" lIns="0" tIns="0" rIns="0" bIns="0" rtlCol="0" anchor="ctr"/>
          <a:lstStyle/>
          <a:p>
            <a:pPr indent="0" marL="0">
              <a:buNone/>
            </a:pPr>
            <a:r>
              <a:rPr lang="en-US" sz="2200" b="1" spc="140" kern="0" dirty="0">
                <a:solidFill>
                  <a:srgbClr val="137E7E"/>
                </a:solidFill>
                <a:latin typeface="Calibri" pitchFamily="34" charset="0"/>
                <a:ea typeface="Calibri" pitchFamily="34" charset="-122"/>
                <a:cs typeface="Calibri" pitchFamily="34" charset="-120"/>
              </a:rPr>
              <a:t>KEYWORDS      </a:t>
            </a:r>
            <a:pPr indent="0" marL="0">
              <a:buNone/>
            </a:pPr>
            <a:r>
              <a:rPr lang="en-US" sz="2000" b="1" dirty="0">
                <a:solidFill>
                  <a:srgbClr val="1E293B"/>
                </a:solidFill>
                <a:latin typeface="Calibri" pitchFamily="34" charset="0"/>
                <a:ea typeface="Calibri" pitchFamily="34" charset="-122"/>
                <a:cs typeface="Calibri" pitchFamily="34" charset="-120"/>
              </a:rPr>
              <a:t>Antineoplastic agents, Drug delivery systems, Gene therapy, Liposomes, Nanomedicine</a:t>
            </a:r>
            <a:endParaRPr lang="en-US" sz="2200" dirty="0"/>
          </a:p>
        </p:txBody>
      </p:sp>
      <p:sp>
        <p:nvSpPr>
          <p:cNvPr id="52" name="Shape 49"/>
          <p:cNvSpPr/>
          <p:nvPr/>
        </p:nvSpPr>
        <p:spPr>
          <a:xfrm>
            <a:off x="841248" y="8535924"/>
            <a:ext cx="438912" cy="438912"/>
          </a:xfrm>
          <a:prstGeom prst="ellipse">
            <a:avLst/>
          </a:prstGeom>
          <a:ln w="25400">
            <a:solidFill>
              <a:srgbClr val="1FA6A6"/>
            </a:solidFill>
            <a:prstDash val="solid"/>
          </a:ln>
        </p:spPr>
      </p:sp>
      <p:sp>
        <p:nvSpPr>
          <p:cNvPr id="53" name="Shape 50"/>
          <p:cNvSpPr/>
          <p:nvPr/>
        </p:nvSpPr>
        <p:spPr>
          <a:xfrm>
            <a:off x="933420" y="8628096"/>
            <a:ext cx="254569" cy="254569"/>
          </a:xfrm>
          <a:prstGeom prst="ellipse">
            <a:avLst/>
          </a:prstGeom>
          <a:ln w="21590">
            <a:solidFill>
              <a:srgbClr val="1FA6A6"/>
            </a:solidFill>
            <a:prstDash val="solid"/>
          </a:ln>
        </p:spPr>
      </p:sp>
      <p:sp>
        <p:nvSpPr>
          <p:cNvPr id="54" name="Shape 51"/>
          <p:cNvSpPr/>
          <p:nvPr/>
        </p:nvSpPr>
        <p:spPr>
          <a:xfrm>
            <a:off x="1008035" y="8702711"/>
            <a:ext cx="105339" cy="105339"/>
          </a:xfrm>
          <a:prstGeom prst="ellipse">
            <a:avLst/>
          </a:prstGeom>
          <a:solidFill>
            <a:srgbClr val="1FA6A6"/>
          </a:solidFill>
          <a:ln/>
        </p:spPr>
      </p:sp>
      <p:sp>
        <p:nvSpPr>
          <p:cNvPr id="55" name="Text 52"/>
          <p:cNvSpPr/>
          <p:nvPr/>
        </p:nvSpPr>
        <p:spPr>
          <a:xfrm>
            <a:off x="1389888" y="8366760"/>
            <a:ext cx="16471392" cy="777240"/>
          </a:xfrm>
          <a:prstGeom prst="rect">
            <a:avLst/>
          </a:prstGeom>
          <a:noFill/>
          <a:ln/>
        </p:spPr>
        <p:txBody>
          <a:bodyPr wrap="square" lIns="0" tIns="0" rIns="0" bIns="0" rtlCol="0" anchor="ctr"/>
          <a:lstStyle/>
          <a:p>
            <a:pPr indent="0" marL="0">
              <a:buNone/>
            </a:pPr>
            <a:r>
              <a:rPr lang="en-US" sz="2500" b="1" spc="150" kern="0" dirty="0">
                <a:solidFill>
                  <a:srgbClr val="163A70"/>
                </a:solidFill>
                <a:latin typeface="Calibri" pitchFamily="34" charset="0"/>
                <a:ea typeface="Calibri" pitchFamily="34" charset="-122"/>
                <a:cs typeface="Calibri" pitchFamily="34" charset="-120"/>
              </a:rPr>
              <a:t>INTRODUCTION</a:t>
            </a:r>
            <a:endParaRPr lang="en-US" sz="2500" dirty="0"/>
          </a:p>
        </p:txBody>
      </p:sp>
      <p:sp>
        <p:nvSpPr>
          <p:cNvPr id="56" name="Shape 53"/>
          <p:cNvSpPr/>
          <p:nvPr/>
        </p:nvSpPr>
        <p:spPr>
          <a:xfrm>
            <a:off x="822960" y="9144000"/>
            <a:ext cx="17038320" cy="5806440"/>
          </a:xfrm>
          <a:prstGeom prst="roundRect">
            <a:avLst>
              <a:gd name="adj" fmla="val 1575"/>
            </a:avLst>
          </a:prstGeom>
          <a:solidFill>
            <a:srgbClr val="F5F7FA"/>
          </a:solidFill>
          <a:ln w="9525">
            <a:solidFill>
              <a:srgbClr val="D9E1EC"/>
            </a:solidFill>
            <a:prstDash val="solid"/>
          </a:ln>
        </p:spPr>
      </p:sp>
      <p:sp>
        <p:nvSpPr>
          <p:cNvPr id="57" name="Text 54"/>
          <p:cNvSpPr/>
          <p:nvPr/>
        </p:nvSpPr>
        <p:spPr>
          <a:xfrm>
            <a:off x="1207008" y="9418320"/>
            <a:ext cx="16270224" cy="2011680"/>
          </a:xfrm>
          <a:prstGeom prst="rect">
            <a:avLst/>
          </a:prstGeom>
          <a:noFill/>
          <a:ln/>
        </p:spPr>
        <p:txBody>
          <a:bodyPr wrap="square" lIns="0" tIns="0" rIns="0" bIns="0" rtlCol="0" anchor="t"/>
          <a:lstStyle/>
          <a:p>
            <a:pPr algn="just" indent="0" marL="0">
              <a:lnSpc>
                <a:spcPct val="108000"/>
              </a:lnSpc>
              <a:buNone/>
            </a:pPr>
            <a:r>
              <a:rPr lang="en-US" sz="2000" dirty="0">
                <a:solidFill>
                  <a:srgbClr val="1E293B"/>
                </a:solidFill>
                <a:latin typeface="Calibri" pitchFamily="34" charset="0"/>
                <a:ea typeface="Calibri" pitchFamily="34" charset="-122"/>
                <a:cs typeface="Calibri" pitchFamily="34" charset="-120"/>
              </a:rPr>
              <a:t>Liposomes are spherical vesicles composed of phospholipid bilayers, capable of encapsulating both hydrophilic and hydrophobic drugs. They were first described in 1964 as self-assembling colloidal structures formed by amphiphilic lipids in aqueous media. Liposomes enhance therapeutic efficacy by reducing drug toxicity and minimizing side effects on normal tissues. Due to their versatility and biocompatibility, they are widely studied for applications in cancer therapy, gene delivery, and other targeted treatments.</a:t>
            </a:r>
            <a:endParaRPr lang="en-US" sz="2000" dirty="0"/>
          </a:p>
        </p:txBody>
      </p:sp>
      <p:sp>
        <p:nvSpPr>
          <p:cNvPr id="58" name="Shape 55"/>
          <p:cNvSpPr/>
          <p:nvPr/>
        </p:nvSpPr>
        <p:spPr>
          <a:xfrm>
            <a:off x="2986024" y="11832336"/>
            <a:ext cx="1865376" cy="1865376"/>
          </a:xfrm>
          <a:prstGeom prst="ellipse">
            <a:avLst/>
          </a:prstGeom>
          <a:solidFill>
            <a:srgbClr val="FFFFFF"/>
          </a:solidFill>
          <a:ln w="31750">
            <a:solidFill>
              <a:srgbClr val="163A70"/>
            </a:solidFill>
            <a:prstDash val="solid"/>
          </a:ln>
        </p:spPr>
      </p:sp>
      <p:sp>
        <p:nvSpPr>
          <p:cNvPr id="59" name="Shape 56"/>
          <p:cNvSpPr/>
          <p:nvPr/>
        </p:nvSpPr>
        <p:spPr>
          <a:xfrm>
            <a:off x="3340445" y="12186757"/>
            <a:ext cx="1156533" cy="1156533"/>
          </a:xfrm>
          <a:prstGeom prst="ellipse">
            <a:avLst/>
          </a:prstGeom>
          <a:solidFill>
            <a:srgbClr val="E9F6F6"/>
          </a:solidFill>
          <a:ln w="22225">
            <a:solidFill>
              <a:srgbClr val="1FA6A6"/>
            </a:solidFill>
            <a:prstDash val="solid"/>
          </a:ln>
        </p:spPr>
      </p:sp>
      <p:sp>
        <p:nvSpPr>
          <p:cNvPr id="60" name="Shape 57"/>
          <p:cNvSpPr/>
          <p:nvPr/>
        </p:nvSpPr>
        <p:spPr>
          <a:xfrm>
            <a:off x="4796536" y="12710160"/>
            <a:ext cx="109728" cy="109728"/>
          </a:xfrm>
          <a:prstGeom prst="ellipse">
            <a:avLst/>
          </a:prstGeom>
          <a:solidFill>
            <a:srgbClr val="163A70"/>
          </a:solidFill>
          <a:ln/>
        </p:spPr>
      </p:sp>
      <p:sp>
        <p:nvSpPr>
          <p:cNvPr id="61" name="Shape 58"/>
          <p:cNvSpPr/>
          <p:nvPr/>
        </p:nvSpPr>
        <p:spPr>
          <a:xfrm>
            <a:off x="4750887" y="12998376"/>
            <a:ext cx="109728" cy="109728"/>
          </a:xfrm>
          <a:prstGeom prst="ellipse">
            <a:avLst/>
          </a:prstGeom>
          <a:solidFill>
            <a:srgbClr val="163A70"/>
          </a:solidFill>
          <a:ln/>
        </p:spPr>
      </p:sp>
      <p:sp>
        <p:nvSpPr>
          <p:cNvPr id="62" name="Shape 59"/>
          <p:cNvSpPr/>
          <p:nvPr/>
        </p:nvSpPr>
        <p:spPr>
          <a:xfrm>
            <a:off x="4618408" y="13258380"/>
            <a:ext cx="109728" cy="109728"/>
          </a:xfrm>
          <a:prstGeom prst="ellipse">
            <a:avLst/>
          </a:prstGeom>
          <a:solidFill>
            <a:srgbClr val="163A70"/>
          </a:solidFill>
          <a:ln/>
        </p:spPr>
      </p:sp>
      <p:sp>
        <p:nvSpPr>
          <p:cNvPr id="63" name="Shape 60"/>
          <p:cNvSpPr/>
          <p:nvPr/>
        </p:nvSpPr>
        <p:spPr>
          <a:xfrm>
            <a:off x="4412068" y="13464720"/>
            <a:ext cx="109728" cy="109728"/>
          </a:xfrm>
          <a:prstGeom prst="ellipse">
            <a:avLst/>
          </a:prstGeom>
          <a:solidFill>
            <a:srgbClr val="163A70"/>
          </a:solidFill>
          <a:ln/>
        </p:spPr>
      </p:sp>
      <p:sp>
        <p:nvSpPr>
          <p:cNvPr id="64" name="Shape 61"/>
          <p:cNvSpPr/>
          <p:nvPr/>
        </p:nvSpPr>
        <p:spPr>
          <a:xfrm>
            <a:off x="4152064" y="13597199"/>
            <a:ext cx="109728" cy="109728"/>
          </a:xfrm>
          <a:prstGeom prst="ellipse">
            <a:avLst/>
          </a:prstGeom>
          <a:solidFill>
            <a:srgbClr val="163A70"/>
          </a:solidFill>
          <a:ln/>
        </p:spPr>
      </p:sp>
      <p:sp>
        <p:nvSpPr>
          <p:cNvPr id="65" name="Shape 62"/>
          <p:cNvSpPr/>
          <p:nvPr/>
        </p:nvSpPr>
        <p:spPr>
          <a:xfrm>
            <a:off x="3863848" y="13642848"/>
            <a:ext cx="109728" cy="109728"/>
          </a:xfrm>
          <a:prstGeom prst="ellipse">
            <a:avLst/>
          </a:prstGeom>
          <a:solidFill>
            <a:srgbClr val="163A70"/>
          </a:solidFill>
          <a:ln/>
        </p:spPr>
      </p:sp>
      <p:sp>
        <p:nvSpPr>
          <p:cNvPr id="66" name="Shape 63"/>
          <p:cNvSpPr/>
          <p:nvPr/>
        </p:nvSpPr>
        <p:spPr>
          <a:xfrm>
            <a:off x="3575632" y="13597199"/>
            <a:ext cx="109728" cy="109728"/>
          </a:xfrm>
          <a:prstGeom prst="ellipse">
            <a:avLst/>
          </a:prstGeom>
          <a:solidFill>
            <a:srgbClr val="163A70"/>
          </a:solidFill>
          <a:ln/>
        </p:spPr>
      </p:sp>
      <p:sp>
        <p:nvSpPr>
          <p:cNvPr id="67" name="Shape 64"/>
          <p:cNvSpPr/>
          <p:nvPr/>
        </p:nvSpPr>
        <p:spPr>
          <a:xfrm>
            <a:off x="3315628" y="13464720"/>
            <a:ext cx="109728" cy="109728"/>
          </a:xfrm>
          <a:prstGeom prst="ellipse">
            <a:avLst/>
          </a:prstGeom>
          <a:solidFill>
            <a:srgbClr val="163A70"/>
          </a:solidFill>
          <a:ln/>
        </p:spPr>
      </p:sp>
      <p:sp>
        <p:nvSpPr>
          <p:cNvPr id="68" name="Shape 65"/>
          <p:cNvSpPr/>
          <p:nvPr/>
        </p:nvSpPr>
        <p:spPr>
          <a:xfrm>
            <a:off x="3109288" y="13258380"/>
            <a:ext cx="109728" cy="109728"/>
          </a:xfrm>
          <a:prstGeom prst="ellipse">
            <a:avLst/>
          </a:prstGeom>
          <a:solidFill>
            <a:srgbClr val="163A70"/>
          </a:solidFill>
          <a:ln/>
        </p:spPr>
      </p:sp>
      <p:sp>
        <p:nvSpPr>
          <p:cNvPr id="69" name="Shape 66"/>
          <p:cNvSpPr/>
          <p:nvPr/>
        </p:nvSpPr>
        <p:spPr>
          <a:xfrm>
            <a:off x="2976809" y="12998376"/>
            <a:ext cx="109728" cy="109728"/>
          </a:xfrm>
          <a:prstGeom prst="ellipse">
            <a:avLst/>
          </a:prstGeom>
          <a:solidFill>
            <a:srgbClr val="163A70"/>
          </a:solidFill>
          <a:ln/>
        </p:spPr>
      </p:sp>
      <p:sp>
        <p:nvSpPr>
          <p:cNvPr id="70" name="Shape 67"/>
          <p:cNvSpPr/>
          <p:nvPr/>
        </p:nvSpPr>
        <p:spPr>
          <a:xfrm>
            <a:off x="2931160" y="12710160"/>
            <a:ext cx="109728" cy="109728"/>
          </a:xfrm>
          <a:prstGeom prst="ellipse">
            <a:avLst/>
          </a:prstGeom>
          <a:solidFill>
            <a:srgbClr val="163A70"/>
          </a:solidFill>
          <a:ln/>
        </p:spPr>
      </p:sp>
      <p:sp>
        <p:nvSpPr>
          <p:cNvPr id="71" name="Shape 68"/>
          <p:cNvSpPr/>
          <p:nvPr/>
        </p:nvSpPr>
        <p:spPr>
          <a:xfrm>
            <a:off x="2976809" y="12421944"/>
            <a:ext cx="109728" cy="109728"/>
          </a:xfrm>
          <a:prstGeom prst="ellipse">
            <a:avLst/>
          </a:prstGeom>
          <a:solidFill>
            <a:srgbClr val="163A70"/>
          </a:solidFill>
          <a:ln/>
        </p:spPr>
      </p:sp>
      <p:sp>
        <p:nvSpPr>
          <p:cNvPr id="72" name="Shape 69"/>
          <p:cNvSpPr/>
          <p:nvPr/>
        </p:nvSpPr>
        <p:spPr>
          <a:xfrm>
            <a:off x="3109288" y="12161940"/>
            <a:ext cx="109728" cy="109728"/>
          </a:xfrm>
          <a:prstGeom prst="ellipse">
            <a:avLst/>
          </a:prstGeom>
          <a:solidFill>
            <a:srgbClr val="163A70"/>
          </a:solidFill>
          <a:ln/>
        </p:spPr>
      </p:sp>
      <p:sp>
        <p:nvSpPr>
          <p:cNvPr id="73" name="Shape 70"/>
          <p:cNvSpPr/>
          <p:nvPr/>
        </p:nvSpPr>
        <p:spPr>
          <a:xfrm>
            <a:off x="3315628" y="11955600"/>
            <a:ext cx="109728" cy="109728"/>
          </a:xfrm>
          <a:prstGeom prst="ellipse">
            <a:avLst/>
          </a:prstGeom>
          <a:solidFill>
            <a:srgbClr val="163A70"/>
          </a:solidFill>
          <a:ln/>
        </p:spPr>
      </p:sp>
      <p:sp>
        <p:nvSpPr>
          <p:cNvPr id="74" name="Shape 71"/>
          <p:cNvSpPr/>
          <p:nvPr/>
        </p:nvSpPr>
        <p:spPr>
          <a:xfrm>
            <a:off x="3575632" y="11823121"/>
            <a:ext cx="109728" cy="109728"/>
          </a:xfrm>
          <a:prstGeom prst="ellipse">
            <a:avLst/>
          </a:prstGeom>
          <a:solidFill>
            <a:srgbClr val="163A70"/>
          </a:solidFill>
          <a:ln/>
        </p:spPr>
      </p:sp>
      <p:sp>
        <p:nvSpPr>
          <p:cNvPr id="75" name="Shape 72"/>
          <p:cNvSpPr/>
          <p:nvPr/>
        </p:nvSpPr>
        <p:spPr>
          <a:xfrm>
            <a:off x="3863848" y="11777472"/>
            <a:ext cx="109728" cy="109728"/>
          </a:xfrm>
          <a:prstGeom prst="ellipse">
            <a:avLst/>
          </a:prstGeom>
          <a:solidFill>
            <a:srgbClr val="163A70"/>
          </a:solidFill>
          <a:ln/>
        </p:spPr>
      </p:sp>
      <p:sp>
        <p:nvSpPr>
          <p:cNvPr id="76" name="Shape 73"/>
          <p:cNvSpPr/>
          <p:nvPr/>
        </p:nvSpPr>
        <p:spPr>
          <a:xfrm>
            <a:off x="4152064" y="11823121"/>
            <a:ext cx="109728" cy="109728"/>
          </a:xfrm>
          <a:prstGeom prst="ellipse">
            <a:avLst/>
          </a:prstGeom>
          <a:solidFill>
            <a:srgbClr val="163A70"/>
          </a:solidFill>
          <a:ln/>
        </p:spPr>
      </p:sp>
      <p:sp>
        <p:nvSpPr>
          <p:cNvPr id="77" name="Shape 74"/>
          <p:cNvSpPr/>
          <p:nvPr/>
        </p:nvSpPr>
        <p:spPr>
          <a:xfrm>
            <a:off x="4412068" y="11955600"/>
            <a:ext cx="109728" cy="109728"/>
          </a:xfrm>
          <a:prstGeom prst="ellipse">
            <a:avLst/>
          </a:prstGeom>
          <a:solidFill>
            <a:srgbClr val="163A70"/>
          </a:solidFill>
          <a:ln/>
        </p:spPr>
      </p:sp>
      <p:sp>
        <p:nvSpPr>
          <p:cNvPr id="78" name="Shape 75"/>
          <p:cNvSpPr/>
          <p:nvPr/>
        </p:nvSpPr>
        <p:spPr>
          <a:xfrm>
            <a:off x="4618408" y="12161940"/>
            <a:ext cx="109728" cy="109728"/>
          </a:xfrm>
          <a:prstGeom prst="ellipse">
            <a:avLst/>
          </a:prstGeom>
          <a:solidFill>
            <a:srgbClr val="163A70"/>
          </a:solidFill>
          <a:ln/>
        </p:spPr>
      </p:sp>
      <p:sp>
        <p:nvSpPr>
          <p:cNvPr id="79" name="Shape 76"/>
          <p:cNvSpPr/>
          <p:nvPr/>
        </p:nvSpPr>
        <p:spPr>
          <a:xfrm>
            <a:off x="4750887" y="12421944"/>
            <a:ext cx="109728" cy="109728"/>
          </a:xfrm>
          <a:prstGeom prst="ellipse">
            <a:avLst/>
          </a:prstGeom>
          <a:solidFill>
            <a:srgbClr val="163A70"/>
          </a:solidFill>
          <a:ln/>
        </p:spPr>
      </p:sp>
      <p:sp>
        <p:nvSpPr>
          <p:cNvPr id="80" name="Shape 77"/>
          <p:cNvSpPr/>
          <p:nvPr/>
        </p:nvSpPr>
        <p:spPr>
          <a:xfrm>
            <a:off x="3827272" y="12490704"/>
            <a:ext cx="182880" cy="182880"/>
          </a:xfrm>
          <a:prstGeom prst="ellipse">
            <a:avLst/>
          </a:prstGeom>
          <a:solidFill>
            <a:srgbClr val="1FA6A6"/>
          </a:solidFill>
          <a:ln/>
        </p:spPr>
      </p:sp>
      <p:sp>
        <p:nvSpPr>
          <p:cNvPr id="81" name="Shape 78"/>
          <p:cNvSpPr/>
          <p:nvPr/>
        </p:nvSpPr>
        <p:spPr>
          <a:xfrm>
            <a:off x="4019296" y="12801600"/>
            <a:ext cx="182880" cy="182880"/>
          </a:xfrm>
          <a:prstGeom prst="ellipse">
            <a:avLst/>
          </a:prstGeom>
          <a:solidFill>
            <a:srgbClr val="1FA6A6"/>
          </a:solidFill>
          <a:ln/>
        </p:spPr>
      </p:sp>
      <p:sp>
        <p:nvSpPr>
          <p:cNvPr id="82" name="Shape 79"/>
          <p:cNvSpPr/>
          <p:nvPr/>
        </p:nvSpPr>
        <p:spPr>
          <a:xfrm>
            <a:off x="3635248" y="12810744"/>
            <a:ext cx="182880" cy="182880"/>
          </a:xfrm>
          <a:prstGeom prst="ellipse">
            <a:avLst/>
          </a:prstGeom>
          <a:solidFill>
            <a:srgbClr val="1FA6A6"/>
          </a:solidFill>
          <a:ln/>
        </p:spPr>
      </p:sp>
      <p:sp>
        <p:nvSpPr>
          <p:cNvPr id="83" name="Shape 80"/>
          <p:cNvSpPr/>
          <p:nvPr/>
        </p:nvSpPr>
        <p:spPr>
          <a:xfrm>
            <a:off x="8500872" y="11923776"/>
            <a:ext cx="1682496" cy="1682496"/>
          </a:xfrm>
          <a:prstGeom prst="ellipse">
            <a:avLst/>
          </a:prstGeom>
          <a:solidFill>
            <a:srgbClr val="FFFFFF"/>
          </a:solidFill>
          <a:ln w="31750">
            <a:solidFill>
              <a:srgbClr val="163A70"/>
            </a:solidFill>
            <a:prstDash val="solid"/>
          </a:ln>
        </p:spPr>
      </p:sp>
      <p:sp>
        <p:nvSpPr>
          <p:cNvPr id="84" name="Shape 81"/>
          <p:cNvSpPr/>
          <p:nvPr/>
        </p:nvSpPr>
        <p:spPr>
          <a:xfrm>
            <a:off x="8837371" y="12260275"/>
            <a:ext cx="1009498" cy="1009498"/>
          </a:xfrm>
          <a:prstGeom prst="ellipse">
            <a:avLst/>
          </a:prstGeom>
          <a:solidFill>
            <a:srgbClr val="EDF2FA"/>
          </a:solidFill>
          <a:ln w="20320">
            <a:solidFill>
              <a:srgbClr val="4E7BFF"/>
            </a:solidFill>
            <a:prstDash val="solid"/>
          </a:ln>
        </p:spPr>
      </p:sp>
      <p:sp>
        <p:nvSpPr>
          <p:cNvPr id="85" name="Shape 82"/>
          <p:cNvSpPr/>
          <p:nvPr/>
        </p:nvSpPr>
        <p:spPr>
          <a:xfrm>
            <a:off x="10279380" y="12705588"/>
            <a:ext cx="118872" cy="118872"/>
          </a:xfrm>
          <a:prstGeom prst="ellipse">
            <a:avLst/>
          </a:prstGeom>
          <a:solidFill>
            <a:srgbClr val="4E7BFF"/>
          </a:solidFill>
          <a:ln/>
        </p:spPr>
      </p:sp>
      <p:sp>
        <p:nvSpPr>
          <p:cNvPr id="86" name="Shape 83"/>
          <p:cNvSpPr/>
          <p:nvPr/>
        </p:nvSpPr>
        <p:spPr>
          <a:xfrm>
            <a:off x="10219272" y="13046478"/>
            <a:ext cx="118872" cy="118872"/>
          </a:xfrm>
          <a:prstGeom prst="ellipse">
            <a:avLst/>
          </a:prstGeom>
          <a:solidFill>
            <a:srgbClr val="4E7BFF"/>
          </a:solidFill>
          <a:ln/>
        </p:spPr>
      </p:sp>
      <p:sp>
        <p:nvSpPr>
          <p:cNvPr id="87" name="Shape 84"/>
          <p:cNvSpPr/>
          <p:nvPr/>
        </p:nvSpPr>
        <p:spPr>
          <a:xfrm>
            <a:off x="10046197" y="13346252"/>
            <a:ext cx="118872" cy="118872"/>
          </a:xfrm>
          <a:prstGeom prst="ellipse">
            <a:avLst/>
          </a:prstGeom>
          <a:solidFill>
            <a:srgbClr val="4E7BFF"/>
          </a:solidFill>
          <a:ln/>
        </p:spPr>
      </p:sp>
      <p:sp>
        <p:nvSpPr>
          <p:cNvPr id="88" name="Shape 85"/>
          <p:cNvSpPr/>
          <p:nvPr/>
        </p:nvSpPr>
        <p:spPr>
          <a:xfrm>
            <a:off x="9781032" y="13568752"/>
            <a:ext cx="118872" cy="118872"/>
          </a:xfrm>
          <a:prstGeom prst="ellipse">
            <a:avLst/>
          </a:prstGeom>
          <a:solidFill>
            <a:srgbClr val="4E7BFF"/>
          </a:solidFill>
          <a:ln/>
        </p:spPr>
      </p:sp>
      <p:sp>
        <p:nvSpPr>
          <p:cNvPr id="89" name="Shape 86"/>
          <p:cNvSpPr/>
          <p:nvPr/>
        </p:nvSpPr>
        <p:spPr>
          <a:xfrm>
            <a:off x="9455758" y="13687142"/>
            <a:ext cx="118872" cy="118872"/>
          </a:xfrm>
          <a:prstGeom prst="ellipse">
            <a:avLst/>
          </a:prstGeom>
          <a:solidFill>
            <a:srgbClr val="4E7BFF"/>
          </a:solidFill>
          <a:ln/>
        </p:spPr>
      </p:sp>
      <p:sp>
        <p:nvSpPr>
          <p:cNvPr id="90" name="Shape 87"/>
          <p:cNvSpPr/>
          <p:nvPr/>
        </p:nvSpPr>
        <p:spPr>
          <a:xfrm>
            <a:off x="9109610" y="13687142"/>
            <a:ext cx="118872" cy="118872"/>
          </a:xfrm>
          <a:prstGeom prst="ellipse">
            <a:avLst/>
          </a:prstGeom>
          <a:solidFill>
            <a:srgbClr val="4E7BFF"/>
          </a:solidFill>
          <a:ln/>
        </p:spPr>
      </p:sp>
      <p:sp>
        <p:nvSpPr>
          <p:cNvPr id="91" name="Shape 88"/>
          <p:cNvSpPr/>
          <p:nvPr/>
        </p:nvSpPr>
        <p:spPr>
          <a:xfrm>
            <a:off x="8784336" y="13568752"/>
            <a:ext cx="118872" cy="118872"/>
          </a:xfrm>
          <a:prstGeom prst="ellipse">
            <a:avLst/>
          </a:prstGeom>
          <a:solidFill>
            <a:srgbClr val="4E7BFF"/>
          </a:solidFill>
          <a:ln/>
        </p:spPr>
      </p:sp>
      <p:sp>
        <p:nvSpPr>
          <p:cNvPr id="92" name="Shape 89"/>
          <p:cNvSpPr/>
          <p:nvPr/>
        </p:nvSpPr>
        <p:spPr>
          <a:xfrm>
            <a:off x="8519171" y="13346252"/>
            <a:ext cx="118872" cy="118872"/>
          </a:xfrm>
          <a:prstGeom prst="ellipse">
            <a:avLst/>
          </a:prstGeom>
          <a:solidFill>
            <a:srgbClr val="4E7BFF"/>
          </a:solidFill>
          <a:ln/>
        </p:spPr>
      </p:sp>
      <p:sp>
        <p:nvSpPr>
          <p:cNvPr id="93" name="Shape 90"/>
          <p:cNvSpPr/>
          <p:nvPr/>
        </p:nvSpPr>
        <p:spPr>
          <a:xfrm>
            <a:off x="8346096" y="13046478"/>
            <a:ext cx="118872" cy="118872"/>
          </a:xfrm>
          <a:prstGeom prst="ellipse">
            <a:avLst/>
          </a:prstGeom>
          <a:solidFill>
            <a:srgbClr val="4E7BFF"/>
          </a:solidFill>
          <a:ln/>
        </p:spPr>
      </p:sp>
      <p:sp>
        <p:nvSpPr>
          <p:cNvPr id="94" name="Shape 91"/>
          <p:cNvSpPr/>
          <p:nvPr/>
        </p:nvSpPr>
        <p:spPr>
          <a:xfrm>
            <a:off x="8285988" y="12705588"/>
            <a:ext cx="118872" cy="118872"/>
          </a:xfrm>
          <a:prstGeom prst="ellipse">
            <a:avLst/>
          </a:prstGeom>
          <a:solidFill>
            <a:srgbClr val="4E7BFF"/>
          </a:solidFill>
          <a:ln/>
        </p:spPr>
      </p:sp>
      <p:sp>
        <p:nvSpPr>
          <p:cNvPr id="95" name="Shape 92"/>
          <p:cNvSpPr/>
          <p:nvPr/>
        </p:nvSpPr>
        <p:spPr>
          <a:xfrm>
            <a:off x="8346096" y="12364698"/>
            <a:ext cx="118872" cy="118872"/>
          </a:xfrm>
          <a:prstGeom prst="ellipse">
            <a:avLst/>
          </a:prstGeom>
          <a:solidFill>
            <a:srgbClr val="4E7BFF"/>
          </a:solidFill>
          <a:ln/>
        </p:spPr>
      </p:sp>
      <p:sp>
        <p:nvSpPr>
          <p:cNvPr id="96" name="Shape 93"/>
          <p:cNvSpPr/>
          <p:nvPr/>
        </p:nvSpPr>
        <p:spPr>
          <a:xfrm>
            <a:off x="8519171" y="12064924"/>
            <a:ext cx="118872" cy="118872"/>
          </a:xfrm>
          <a:prstGeom prst="ellipse">
            <a:avLst/>
          </a:prstGeom>
          <a:solidFill>
            <a:srgbClr val="4E7BFF"/>
          </a:solidFill>
          <a:ln/>
        </p:spPr>
      </p:sp>
      <p:sp>
        <p:nvSpPr>
          <p:cNvPr id="97" name="Shape 94"/>
          <p:cNvSpPr/>
          <p:nvPr/>
        </p:nvSpPr>
        <p:spPr>
          <a:xfrm>
            <a:off x="8784336" y="11842424"/>
            <a:ext cx="118872" cy="118872"/>
          </a:xfrm>
          <a:prstGeom prst="ellipse">
            <a:avLst/>
          </a:prstGeom>
          <a:solidFill>
            <a:srgbClr val="4E7BFF"/>
          </a:solidFill>
          <a:ln/>
        </p:spPr>
      </p:sp>
      <p:sp>
        <p:nvSpPr>
          <p:cNvPr id="98" name="Shape 95"/>
          <p:cNvSpPr/>
          <p:nvPr/>
        </p:nvSpPr>
        <p:spPr>
          <a:xfrm>
            <a:off x="9109610" y="11724034"/>
            <a:ext cx="118872" cy="118872"/>
          </a:xfrm>
          <a:prstGeom prst="ellipse">
            <a:avLst/>
          </a:prstGeom>
          <a:solidFill>
            <a:srgbClr val="4E7BFF"/>
          </a:solidFill>
          <a:ln/>
        </p:spPr>
      </p:sp>
      <p:sp>
        <p:nvSpPr>
          <p:cNvPr id="99" name="Shape 96"/>
          <p:cNvSpPr/>
          <p:nvPr/>
        </p:nvSpPr>
        <p:spPr>
          <a:xfrm>
            <a:off x="9455758" y="11724034"/>
            <a:ext cx="118872" cy="118872"/>
          </a:xfrm>
          <a:prstGeom prst="ellipse">
            <a:avLst/>
          </a:prstGeom>
          <a:solidFill>
            <a:srgbClr val="4E7BFF"/>
          </a:solidFill>
          <a:ln/>
        </p:spPr>
      </p:sp>
      <p:sp>
        <p:nvSpPr>
          <p:cNvPr id="100" name="Shape 97"/>
          <p:cNvSpPr/>
          <p:nvPr/>
        </p:nvSpPr>
        <p:spPr>
          <a:xfrm>
            <a:off x="9781032" y="11842424"/>
            <a:ext cx="118872" cy="118872"/>
          </a:xfrm>
          <a:prstGeom prst="ellipse">
            <a:avLst/>
          </a:prstGeom>
          <a:solidFill>
            <a:srgbClr val="4E7BFF"/>
          </a:solidFill>
          <a:ln/>
        </p:spPr>
      </p:sp>
      <p:sp>
        <p:nvSpPr>
          <p:cNvPr id="101" name="Shape 98"/>
          <p:cNvSpPr/>
          <p:nvPr/>
        </p:nvSpPr>
        <p:spPr>
          <a:xfrm>
            <a:off x="10046197" y="12064924"/>
            <a:ext cx="118872" cy="118872"/>
          </a:xfrm>
          <a:prstGeom prst="ellipse">
            <a:avLst/>
          </a:prstGeom>
          <a:solidFill>
            <a:srgbClr val="4E7BFF"/>
          </a:solidFill>
          <a:ln/>
        </p:spPr>
      </p:sp>
      <p:sp>
        <p:nvSpPr>
          <p:cNvPr id="102" name="Shape 99"/>
          <p:cNvSpPr/>
          <p:nvPr/>
        </p:nvSpPr>
        <p:spPr>
          <a:xfrm>
            <a:off x="10219272" y="12364698"/>
            <a:ext cx="118872" cy="118872"/>
          </a:xfrm>
          <a:prstGeom prst="ellipse">
            <a:avLst/>
          </a:prstGeom>
          <a:solidFill>
            <a:srgbClr val="4E7BFF"/>
          </a:solidFill>
          <a:ln/>
        </p:spPr>
      </p:sp>
      <p:sp>
        <p:nvSpPr>
          <p:cNvPr id="103" name="Shape 100"/>
          <p:cNvSpPr/>
          <p:nvPr/>
        </p:nvSpPr>
        <p:spPr>
          <a:xfrm>
            <a:off x="9241536" y="12664440"/>
            <a:ext cx="201168" cy="201168"/>
          </a:xfrm>
          <a:prstGeom prst="ellipse">
            <a:avLst/>
          </a:prstGeom>
          <a:solidFill>
            <a:srgbClr val="1FA6A6"/>
          </a:solidFill>
          <a:ln/>
        </p:spPr>
      </p:sp>
      <p:sp>
        <p:nvSpPr>
          <p:cNvPr id="104" name="Shape 101"/>
          <p:cNvSpPr/>
          <p:nvPr/>
        </p:nvSpPr>
        <p:spPr>
          <a:xfrm>
            <a:off x="13613384" y="11612880"/>
            <a:ext cx="2304288" cy="2304288"/>
          </a:xfrm>
          <a:prstGeom prst="ellipse">
            <a:avLst/>
          </a:prstGeom>
          <a:solidFill>
            <a:srgbClr val="E6EDF9"/>
          </a:solidFill>
          <a:ln w="28575">
            <a:solidFill>
              <a:srgbClr val="22508F"/>
            </a:solidFill>
            <a:prstDash val="solid"/>
          </a:ln>
        </p:spPr>
      </p:sp>
      <p:sp>
        <p:nvSpPr>
          <p:cNvPr id="105" name="Shape 102"/>
          <p:cNvSpPr/>
          <p:nvPr/>
        </p:nvSpPr>
        <p:spPr>
          <a:xfrm>
            <a:off x="14344904" y="12344400"/>
            <a:ext cx="841248" cy="841248"/>
          </a:xfrm>
          <a:prstGeom prst="ellipse">
            <a:avLst/>
          </a:prstGeom>
          <a:solidFill>
            <a:srgbClr val="22508F"/>
          </a:solidFill>
          <a:ln/>
        </p:spPr>
      </p:sp>
      <p:sp>
        <p:nvSpPr>
          <p:cNvPr id="106" name="Shape 103"/>
          <p:cNvSpPr/>
          <p:nvPr/>
        </p:nvSpPr>
        <p:spPr>
          <a:xfrm>
            <a:off x="13997432" y="12271248"/>
            <a:ext cx="182880" cy="182880"/>
          </a:xfrm>
          <a:prstGeom prst="ellipse">
            <a:avLst/>
          </a:prstGeom>
          <a:solidFill>
            <a:srgbClr val="1FA6A6"/>
          </a:solidFill>
          <a:ln/>
        </p:spPr>
      </p:sp>
      <p:sp>
        <p:nvSpPr>
          <p:cNvPr id="107" name="Shape 104"/>
          <p:cNvSpPr/>
          <p:nvPr/>
        </p:nvSpPr>
        <p:spPr>
          <a:xfrm>
            <a:off x="15295880" y="12161520"/>
            <a:ext cx="182880" cy="182880"/>
          </a:xfrm>
          <a:prstGeom prst="ellipse">
            <a:avLst/>
          </a:prstGeom>
          <a:solidFill>
            <a:srgbClr val="1FA6A6"/>
          </a:solidFill>
          <a:ln/>
        </p:spPr>
      </p:sp>
      <p:sp>
        <p:nvSpPr>
          <p:cNvPr id="108" name="Shape 105"/>
          <p:cNvSpPr/>
          <p:nvPr/>
        </p:nvSpPr>
        <p:spPr>
          <a:xfrm>
            <a:off x="15350744" y="13094208"/>
            <a:ext cx="182880" cy="182880"/>
          </a:xfrm>
          <a:prstGeom prst="ellipse">
            <a:avLst/>
          </a:prstGeom>
          <a:solidFill>
            <a:srgbClr val="1FA6A6"/>
          </a:solidFill>
          <a:ln/>
        </p:spPr>
      </p:sp>
      <p:sp>
        <p:nvSpPr>
          <p:cNvPr id="109" name="Shape 106"/>
          <p:cNvSpPr/>
          <p:nvPr/>
        </p:nvSpPr>
        <p:spPr>
          <a:xfrm>
            <a:off x="14088872" y="13185648"/>
            <a:ext cx="182880" cy="182880"/>
          </a:xfrm>
          <a:prstGeom prst="ellipse">
            <a:avLst/>
          </a:prstGeom>
          <a:solidFill>
            <a:srgbClr val="1FA6A6"/>
          </a:solidFill>
          <a:ln/>
        </p:spPr>
      </p:sp>
      <p:sp>
        <p:nvSpPr>
          <p:cNvPr id="110" name="Shape 107"/>
          <p:cNvSpPr/>
          <p:nvPr/>
        </p:nvSpPr>
        <p:spPr>
          <a:xfrm>
            <a:off x="13302488" y="12454128"/>
            <a:ext cx="621792" cy="621792"/>
          </a:xfrm>
          <a:prstGeom prst="ellipse">
            <a:avLst/>
          </a:prstGeom>
          <a:solidFill>
            <a:srgbClr val="FFFFFF"/>
          </a:solidFill>
          <a:ln w="25400">
            <a:solidFill>
              <a:srgbClr val="1FA6A6"/>
            </a:solidFill>
            <a:prstDash val="solid"/>
          </a:ln>
        </p:spPr>
      </p:sp>
      <p:sp>
        <p:nvSpPr>
          <p:cNvPr id="111" name="Shape 108"/>
          <p:cNvSpPr/>
          <p:nvPr/>
        </p:nvSpPr>
        <p:spPr>
          <a:xfrm>
            <a:off x="4997704" y="12618720"/>
            <a:ext cx="3356864" cy="292608"/>
          </a:xfrm>
          <a:prstGeom prst="rightArrow">
            <a:avLst/>
          </a:prstGeom>
          <a:solidFill>
            <a:srgbClr val="1FA6A6"/>
          </a:solidFill>
          <a:ln/>
        </p:spPr>
      </p:sp>
      <p:sp>
        <p:nvSpPr>
          <p:cNvPr id="112" name="Shape 109"/>
          <p:cNvSpPr/>
          <p:nvPr/>
        </p:nvSpPr>
        <p:spPr>
          <a:xfrm>
            <a:off x="10329672" y="12618720"/>
            <a:ext cx="2826512" cy="292608"/>
          </a:xfrm>
          <a:prstGeom prst="rightArrow">
            <a:avLst/>
          </a:prstGeom>
          <a:solidFill>
            <a:srgbClr val="1FA6A6"/>
          </a:solidFill>
          <a:ln/>
        </p:spPr>
      </p:sp>
      <p:sp>
        <p:nvSpPr>
          <p:cNvPr id="113" name="Text 110"/>
          <p:cNvSpPr/>
          <p:nvPr/>
        </p:nvSpPr>
        <p:spPr>
          <a:xfrm>
            <a:off x="1298448" y="14026896"/>
            <a:ext cx="5240528" cy="658368"/>
          </a:xfrm>
          <a:prstGeom prst="rect">
            <a:avLst/>
          </a:prstGeom>
          <a:noFill/>
          <a:ln/>
        </p:spPr>
        <p:txBody>
          <a:bodyPr wrap="square" lIns="0" tIns="0" rIns="0" bIns="0" rtlCol="0" anchor="t"/>
          <a:lstStyle/>
          <a:p>
            <a:pPr algn="ctr" indent="0" marL="0">
              <a:lnSpc>
                <a:spcPct val="92000"/>
              </a:lnSpc>
              <a:buNone/>
            </a:pPr>
            <a:r>
              <a:rPr lang="en-US" sz="1500" b="1" dirty="0">
                <a:solidFill>
                  <a:srgbClr val="163A70"/>
                </a:solidFill>
                <a:latin typeface="Calibri" pitchFamily="34" charset="0"/>
                <a:ea typeface="Calibri" pitchFamily="34" charset="-122"/>
                <a:cs typeface="Calibri" pitchFamily="34" charset="-120"/>
              </a:rPr>
              <a:t>Drug encapsulation</a:t>
            </a:r>
            <a:endParaRPr lang="en-US" sz="1500" dirty="0"/>
          </a:p>
        </p:txBody>
      </p:sp>
      <p:sp>
        <p:nvSpPr>
          <p:cNvPr id="114" name="Text 111"/>
          <p:cNvSpPr/>
          <p:nvPr/>
        </p:nvSpPr>
        <p:spPr>
          <a:xfrm>
            <a:off x="6721856" y="14026896"/>
            <a:ext cx="5240528" cy="658368"/>
          </a:xfrm>
          <a:prstGeom prst="rect">
            <a:avLst/>
          </a:prstGeom>
          <a:noFill/>
          <a:ln/>
        </p:spPr>
        <p:txBody>
          <a:bodyPr wrap="square" lIns="0" tIns="0" rIns="0" bIns="0" rtlCol="0" anchor="t"/>
          <a:lstStyle/>
          <a:p>
            <a:pPr algn="ctr" indent="0" marL="0">
              <a:lnSpc>
                <a:spcPct val="92000"/>
              </a:lnSpc>
              <a:buNone/>
            </a:pPr>
            <a:r>
              <a:rPr lang="en-US" sz="1500" b="1" dirty="0">
                <a:solidFill>
                  <a:srgbClr val="163A70"/>
                </a:solidFill>
                <a:latin typeface="Calibri" pitchFamily="34" charset="0"/>
                <a:ea typeface="Calibri" pitchFamily="34" charset="-122"/>
                <a:cs typeface="Calibri" pitchFamily="34" charset="-120"/>
              </a:rPr>
              <a:t>Stealth circulation</a:t>
            </a:r>
            <a:endParaRPr lang="en-US" sz="1500" dirty="0"/>
          </a:p>
          <a:p>
            <a:pPr algn="ctr" indent="0" marL="0">
              <a:lnSpc>
                <a:spcPct val="92000"/>
              </a:lnSpc>
              <a:buNone/>
            </a:pPr>
            <a:r>
              <a:rPr lang="en-US" sz="1500" b="1" dirty="0">
                <a:solidFill>
                  <a:srgbClr val="163A70"/>
                </a:solidFill>
                <a:latin typeface="Calibri" pitchFamily="34" charset="0"/>
                <a:ea typeface="Calibri" pitchFamily="34" charset="-122"/>
                <a:cs typeface="Calibri" pitchFamily="34" charset="-120"/>
              </a:rPr>
              <a:t>(PEGylated surface)</a:t>
            </a:r>
            <a:endParaRPr lang="en-US" sz="1500" dirty="0"/>
          </a:p>
        </p:txBody>
      </p:sp>
      <p:sp>
        <p:nvSpPr>
          <p:cNvPr id="115" name="Text 112"/>
          <p:cNvSpPr/>
          <p:nvPr/>
        </p:nvSpPr>
        <p:spPr>
          <a:xfrm>
            <a:off x="12145264" y="14026896"/>
            <a:ext cx="5240528" cy="658368"/>
          </a:xfrm>
          <a:prstGeom prst="rect">
            <a:avLst/>
          </a:prstGeom>
          <a:noFill/>
          <a:ln/>
        </p:spPr>
        <p:txBody>
          <a:bodyPr wrap="square" lIns="0" tIns="0" rIns="0" bIns="0" rtlCol="0" anchor="t"/>
          <a:lstStyle/>
          <a:p>
            <a:pPr algn="ctr" indent="0" marL="0">
              <a:lnSpc>
                <a:spcPct val="92000"/>
              </a:lnSpc>
              <a:buNone/>
            </a:pPr>
            <a:r>
              <a:rPr lang="en-US" sz="1500" b="1" dirty="0">
                <a:solidFill>
                  <a:srgbClr val="163A70"/>
                </a:solidFill>
                <a:latin typeface="Calibri" pitchFamily="34" charset="0"/>
                <a:ea typeface="Calibri" pitchFamily="34" charset="-122"/>
                <a:cs typeface="Calibri" pitchFamily="34" charset="-120"/>
              </a:rPr>
              <a:t>Receptor-mediated uptake</a:t>
            </a:r>
            <a:endParaRPr lang="en-US" sz="1500" dirty="0"/>
          </a:p>
          <a:p>
            <a:pPr algn="ctr" indent="0" marL="0">
              <a:lnSpc>
                <a:spcPct val="92000"/>
              </a:lnSpc>
              <a:buNone/>
            </a:pPr>
            <a:r>
              <a:rPr lang="en-US" sz="1500" b="1" dirty="0">
                <a:solidFill>
                  <a:srgbClr val="163A70"/>
                </a:solidFill>
                <a:latin typeface="Calibri" pitchFamily="34" charset="0"/>
                <a:ea typeface="Calibri" pitchFamily="34" charset="-122"/>
                <a:cs typeface="Calibri" pitchFamily="34" charset="-120"/>
              </a:rPr>
              <a:t>&amp; intracellular release</a:t>
            </a:r>
            <a:endParaRPr lang="en-US" sz="1500" dirty="0"/>
          </a:p>
        </p:txBody>
      </p:sp>
      <p:sp>
        <p:nvSpPr>
          <p:cNvPr id="116" name="Shape 113"/>
          <p:cNvSpPr/>
          <p:nvPr/>
        </p:nvSpPr>
        <p:spPr>
          <a:xfrm>
            <a:off x="18318480" y="8366760"/>
            <a:ext cx="8290560" cy="6583680"/>
          </a:xfrm>
          <a:prstGeom prst="roundRect">
            <a:avLst>
              <a:gd name="adj" fmla="val 1389"/>
            </a:avLst>
          </a:prstGeom>
          <a:solidFill>
            <a:srgbClr val="FFFFFF"/>
          </a:solidFill>
          <a:ln w="9525">
            <a:solidFill>
              <a:srgbClr val="D9E1EC"/>
            </a:solidFill>
            <a:prstDash val="solid"/>
          </a:ln>
        </p:spPr>
      </p:sp>
      <p:pic>
        <p:nvPicPr>
          <p:cNvPr id="117" name="Image 1" descr="liposome_structure.png">    </p:cNvPr>
          <p:cNvPicPr>
            <a:picLocks noChangeAspect="1"/>
          </p:cNvPicPr>
          <p:nvPr/>
        </p:nvPicPr>
        <p:blipFill>
          <a:blip r:embed="rId2"/>
          <a:stretch>
            <a:fillRect/>
          </a:stretch>
        </p:blipFill>
        <p:spPr>
          <a:xfrm>
            <a:off x="18583768" y="8641080"/>
            <a:ext cx="7759984" cy="5715000"/>
          </a:xfrm>
          <a:prstGeom prst="rect">
            <a:avLst/>
          </a:prstGeom>
        </p:spPr>
      </p:pic>
      <p:sp>
        <p:nvSpPr>
          <p:cNvPr id="118" name="Text 114"/>
          <p:cNvSpPr/>
          <p:nvPr/>
        </p:nvSpPr>
        <p:spPr>
          <a:xfrm>
            <a:off x="18501360" y="14474952"/>
            <a:ext cx="7924800" cy="402336"/>
          </a:xfrm>
          <a:prstGeom prst="rect">
            <a:avLst/>
          </a:prstGeom>
          <a:noFill/>
          <a:ln/>
        </p:spPr>
        <p:txBody>
          <a:bodyPr wrap="square" lIns="0" tIns="0" rIns="0" bIns="0" rtlCol="0" anchor="ctr"/>
          <a:lstStyle/>
          <a:p>
            <a:pPr algn="ctr" indent="0" marL="0">
              <a:buNone/>
            </a:pPr>
            <a:r>
              <a:rPr lang="en-US" sz="1400" i="1" dirty="0">
                <a:solidFill>
                  <a:srgbClr val="5A6B82"/>
                </a:solidFill>
                <a:latin typeface="Calibri" pitchFamily="34" charset="0"/>
                <a:ea typeface="Calibri" pitchFamily="34" charset="-122"/>
                <a:cs typeface="Calibri" pitchFamily="34" charset="-120"/>
              </a:rPr>
              <a:t>Fig. 1  Liposome architecture and drug-loading regions.</a:t>
            </a:r>
            <a:endParaRPr lang="en-US" sz="1400" dirty="0"/>
          </a:p>
        </p:txBody>
      </p:sp>
      <p:sp>
        <p:nvSpPr>
          <p:cNvPr id="119" name="Shape 115"/>
          <p:cNvSpPr/>
          <p:nvPr/>
        </p:nvSpPr>
        <p:spPr>
          <a:xfrm>
            <a:off x="841248" y="15531084"/>
            <a:ext cx="438912" cy="438912"/>
          </a:xfrm>
          <a:prstGeom prst="ellipse">
            <a:avLst/>
          </a:prstGeom>
          <a:ln w="25400">
            <a:solidFill>
              <a:srgbClr val="1FA6A6"/>
            </a:solidFill>
            <a:prstDash val="solid"/>
          </a:ln>
        </p:spPr>
      </p:sp>
      <p:sp>
        <p:nvSpPr>
          <p:cNvPr id="120" name="Shape 116"/>
          <p:cNvSpPr/>
          <p:nvPr/>
        </p:nvSpPr>
        <p:spPr>
          <a:xfrm>
            <a:off x="933420" y="15623256"/>
            <a:ext cx="254569" cy="254569"/>
          </a:xfrm>
          <a:prstGeom prst="ellipse">
            <a:avLst/>
          </a:prstGeom>
          <a:ln w="21590">
            <a:solidFill>
              <a:srgbClr val="1FA6A6"/>
            </a:solidFill>
            <a:prstDash val="solid"/>
          </a:ln>
        </p:spPr>
      </p:sp>
      <p:sp>
        <p:nvSpPr>
          <p:cNvPr id="121" name="Shape 117"/>
          <p:cNvSpPr/>
          <p:nvPr/>
        </p:nvSpPr>
        <p:spPr>
          <a:xfrm>
            <a:off x="1008035" y="15697871"/>
            <a:ext cx="105339" cy="105339"/>
          </a:xfrm>
          <a:prstGeom prst="ellipse">
            <a:avLst/>
          </a:prstGeom>
          <a:solidFill>
            <a:srgbClr val="1FA6A6"/>
          </a:solidFill>
          <a:ln/>
        </p:spPr>
      </p:sp>
      <p:sp>
        <p:nvSpPr>
          <p:cNvPr id="122" name="Text 118"/>
          <p:cNvSpPr/>
          <p:nvPr/>
        </p:nvSpPr>
        <p:spPr>
          <a:xfrm>
            <a:off x="1389888" y="15361920"/>
            <a:ext cx="25219152" cy="777240"/>
          </a:xfrm>
          <a:prstGeom prst="rect">
            <a:avLst/>
          </a:prstGeom>
          <a:noFill/>
          <a:ln/>
        </p:spPr>
        <p:txBody>
          <a:bodyPr wrap="square" lIns="0" tIns="0" rIns="0" bIns="0" rtlCol="0" anchor="ctr"/>
          <a:lstStyle/>
          <a:p>
            <a:pPr indent="0" marL="0">
              <a:buNone/>
            </a:pPr>
            <a:r>
              <a:rPr lang="en-US" sz="2500" b="1" spc="150" kern="0" dirty="0">
                <a:solidFill>
                  <a:srgbClr val="163A70"/>
                </a:solidFill>
                <a:latin typeface="Calibri" pitchFamily="34" charset="0"/>
                <a:ea typeface="Calibri" pitchFamily="34" charset="-122"/>
                <a:cs typeface="Calibri" pitchFamily="34" charset="-120"/>
              </a:rPr>
              <a:t>METHODOLOGY</a:t>
            </a:r>
            <a:endParaRPr lang="en-US" sz="2500" dirty="0"/>
          </a:p>
        </p:txBody>
      </p:sp>
      <p:sp>
        <p:nvSpPr>
          <p:cNvPr id="123" name="Shape 119"/>
          <p:cNvSpPr/>
          <p:nvPr/>
        </p:nvSpPr>
        <p:spPr>
          <a:xfrm>
            <a:off x="822960" y="16139160"/>
            <a:ext cx="3825240" cy="2377440"/>
          </a:xfrm>
          <a:prstGeom prst="roundRect">
            <a:avLst>
              <a:gd name="adj" fmla="val 3846"/>
            </a:avLst>
          </a:prstGeom>
          <a:solidFill>
            <a:srgbClr val="FFFFFF"/>
          </a:solidFill>
          <a:ln w="9525">
            <a:solidFill>
              <a:srgbClr val="D9E1EC"/>
            </a:solidFill>
            <a:prstDash val="solid"/>
          </a:ln>
        </p:spPr>
      </p:sp>
      <p:sp>
        <p:nvSpPr>
          <p:cNvPr id="124" name="Shape 120"/>
          <p:cNvSpPr/>
          <p:nvPr/>
        </p:nvSpPr>
        <p:spPr>
          <a:xfrm>
            <a:off x="2415540" y="16376904"/>
            <a:ext cx="640080" cy="640080"/>
          </a:xfrm>
          <a:prstGeom prst="ellipse">
            <a:avLst/>
          </a:prstGeom>
          <a:solidFill>
            <a:srgbClr val="1FA6A6"/>
          </a:solidFill>
          <a:ln/>
        </p:spPr>
      </p:sp>
      <p:sp>
        <p:nvSpPr>
          <p:cNvPr id="125" name="Text 121"/>
          <p:cNvSpPr/>
          <p:nvPr/>
        </p:nvSpPr>
        <p:spPr>
          <a:xfrm>
            <a:off x="2415540" y="16376904"/>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1</a:t>
            </a:r>
            <a:endParaRPr lang="en-US" sz="2100" dirty="0"/>
          </a:p>
        </p:txBody>
      </p:sp>
      <p:sp>
        <p:nvSpPr>
          <p:cNvPr id="126" name="Text 122"/>
          <p:cNvSpPr/>
          <p:nvPr/>
        </p:nvSpPr>
        <p:spPr>
          <a:xfrm>
            <a:off x="1005840" y="17108424"/>
            <a:ext cx="3459480" cy="1280160"/>
          </a:xfrm>
          <a:prstGeom prst="rect">
            <a:avLst/>
          </a:prstGeom>
          <a:noFill/>
          <a:ln/>
        </p:spPr>
        <p:txBody>
          <a:bodyPr wrap="square" lIns="0" tIns="0" rIns="0" bIns="0" rtlCol="0" anchor="t"/>
          <a:lstStyle/>
          <a:p>
            <a:pPr algn="ctr" indent="0" marL="0">
              <a:lnSpc>
                <a:spcPct val="96000"/>
              </a:lnSpc>
              <a:buNone/>
            </a:pPr>
            <a:r>
              <a:rPr lang="en-US" sz="1800" b="1" dirty="0">
                <a:solidFill>
                  <a:srgbClr val="163A70"/>
                </a:solidFill>
                <a:latin typeface="Calibri" pitchFamily="34" charset="0"/>
                <a:ea typeface="Calibri" pitchFamily="34" charset="-122"/>
                <a:cs typeface="Calibri" pitchFamily="34" charset="-120"/>
              </a:rPr>
              <a:t>Literature Review</a:t>
            </a:r>
            <a:endParaRPr lang="en-US" sz="1800" dirty="0"/>
          </a:p>
        </p:txBody>
      </p:sp>
      <p:sp>
        <p:nvSpPr>
          <p:cNvPr id="127" name="Shape 123"/>
          <p:cNvSpPr/>
          <p:nvPr/>
        </p:nvSpPr>
        <p:spPr>
          <a:xfrm>
            <a:off x="4739640" y="17163288"/>
            <a:ext cx="384048" cy="329184"/>
          </a:xfrm>
          <a:prstGeom prst="rightArrow">
            <a:avLst/>
          </a:prstGeom>
          <a:solidFill>
            <a:srgbClr val="1FA6A6"/>
          </a:solidFill>
          <a:ln/>
        </p:spPr>
      </p:sp>
      <p:sp>
        <p:nvSpPr>
          <p:cNvPr id="128" name="Shape 124"/>
          <p:cNvSpPr/>
          <p:nvPr/>
        </p:nvSpPr>
        <p:spPr>
          <a:xfrm>
            <a:off x="5215128" y="16139160"/>
            <a:ext cx="3825240" cy="2377440"/>
          </a:xfrm>
          <a:prstGeom prst="roundRect">
            <a:avLst>
              <a:gd name="adj" fmla="val 3846"/>
            </a:avLst>
          </a:prstGeom>
          <a:solidFill>
            <a:srgbClr val="FFFFFF"/>
          </a:solidFill>
          <a:ln w="9525">
            <a:solidFill>
              <a:srgbClr val="D9E1EC"/>
            </a:solidFill>
            <a:prstDash val="solid"/>
          </a:ln>
        </p:spPr>
      </p:sp>
      <p:sp>
        <p:nvSpPr>
          <p:cNvPr id="129" name="Shape 125"/>
          <p:cNvSpPr/>
          <p:nvPr/>
        </p:nvSpPr>
        <p:spPr>
          <a:xfrm>
            <a:off x="6807708" y="16376904"/>
            <a:ext cx="640080" cy="640080"/>
          </a:xfrm>
          <a:prstGeom prst="ellipse">
            <a:avLst/>
          </a:prstGeom>
          <a:solidFill>
            <a:srgbClr val="163A70"/>
          </a:solidFill>
          <a:ln/>
        </p:spPr>
      </p:sp>
      <p:sp>
        <p:nvSpPr>
          <p:cNvPr id="130" name="Text 126"/>
          <p:cNvSpPr/>
          <p:nvPr/>
        </p:nvSpPr>
        <p:spPr>
          <a:xfrm>
            <a:off x="6807708" y="16376904"/>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2</a:t>
            </a:r>
            <a:endParaRPr lang="en-US" sz="2100" dirty="0"/>
          </a:p>
        </p:txBody>
      </p:sp>
      <p:sp>
        <p:nvSpPr>
          <p:cNvPr id="131" name="Text 127"/>
          <p:cNvSpPr/>
          <p:nvPr/>
        </p:nvSpPr>
        <p:spPr>
          <a:xfrm>
            <a:off x="5398008" y="17108424"/>
            <a:ext cx="3459480" cy="1280160"/>
          </a:xfrm>
          <a:prstGeom prst="rect">
            <a:avLst/>
          </a:prstGeom>
          <a:noFill/>
          <a:ln/>
        </p:spPr>
        <p:txBody>
          <a:bodyPr wrap="square" lIns="0" tIns="0" rIns="0" bIns="0" rtlCol="0" anchor="t"/>
          <a:lstStyle/>
          <a:p>
            <a:pPr algn="ctr" indent="0" marL="0">
              <a:lnSpc>
                <a:spcPct val="96000"/>
              </a:lnSpc>
              <a:buNone/>
            </a:pPr>
            <a:r>
              <a:rPr lang="en-US" sz="1800" b="1" dirty="0">
                <a:solidFill>
                  <a:srgbClr val="163A70"/>
                </a:solidFill>
                <a:latin typeface="Calibri" pitchFamily="34" charset="0"/>
                <a:ea typeface="Calibri" pitchFamily="34" charset="-122"/>
                <a:cs typeface="Calibri" pitchFamily="34" charset="-120"/>
              </a:rPr>
              <a:t>Preparation Methods</a:t>
            </a:r>
            <a:endParaRPr lang="en-US" sz="1800" dirty="0"/>
          </a:p>
        </p:txBody>
      </p:sp>
      <p:sp>
        <p:nvSpPr>
          <p:cNvPr id="132" name="Shape 128"/>
          <p:cNvSpPr/>
          <p:nvPr/>
        </p:nvSpPr>
        <p:spPr>
          <a:xfrm>
            <a:off x="9131808" y="17163288"/>
            <a:ext cx="384048" cy="329184"/>
          </a:xfrm>
          <a:prstGeom prst="rightArrow">
            <a:avLst/>
          </a:prstGeom>
          <a:solidFill>
            <a:srgbClr val="1FA6A6"/>
          </a:solidFill>
          <a:ln/>
        </p:spPr>
      </p:sp>
      <p:sp>
        <p:nvSpPr>
          <p:cNvPr id="133" name="Shape 129"/>
          <p:cNvSpPr/>
          <p:nvPr/>
        </p:nvSpPr>
        <p:spPr>
          <a:xfrm>
            <a:off x="9607296" y="16139160"/>
            <a:ext cx="3825240" cy="2377440"/>
          </a:xfrm>
          <a:prstGeom prst="roundRect">
            <a:avLst>
              <a:gd name="adj" fmla="val 3846"/>
            </a:avLst>
          </a:prstGeom>
          <a:solidFill>
            <a:srgbClr val="FFFFFF"/>
          </a:solidFill>
          <a:ln w="9525">
            <a:solidFill>
              <a:srgbClr val="D9E1EC"/>
            </a:solidFill>
            <a:prstDash val="solid"/>
          </a:ln>
        </p:spPr>
      </p:sp>
      <p:sp>
        <p:nvSpPr>
          <p:cNvPr id="134" name="Shape 130"/>
          <p:cNvSpPr/>
          <p:nvPr/>
        </p:nvSpPr>
        <p:spPr>
          <a:xfrm>
            <a:off x="11199876" y="16376904"/>
            <a:ext cx="640080" cy="640080"/>
          </a:xfrm>
          <a:prstGeom prst="ellipse">
            <a:avLst/>
          </a:prstGeom>
          <a:solidFill>
            <a:srgbClr val="1FA6A6"/>
          </a:solidFill>
          <a:ln/>
        </p:spPr>
      </p:sp>
      <p:sp>
        <p:nvSpPr>
          <p:cNvPr id="135" name="Text 131"/>
          <p:cNvSpPr/>
          <p:nvPr/>
        </p:nvSpPr>
        <p:spPr>
          <a:xfrm>
            <a:off x="11199876" y="16376904"/>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3</a:t>
            </a:r>
            <a:endParaRPr lang="en-US" sz="2100" dirty="0"/>
          </a:p>
        </p:txBody>
      </p:sp>
      <p:sp>
        <p:nvSpPr>
          <p:cNvPr id="136" name="Text 132"/>
          <p:cNvSpPr/>
          <p:nvPr/>
        </p:nvSpPr>
        <p:spPr>
          <a:xfrm>
            <a:off x="9790176" y="17108424"/>
            <a:ext cx="3459480" cy="1280160"/>
          </a:xfrm>
          <a:prstGeom prst="rect">
            <a:avLst/>
          </a:prstGeom>
          <a:noFill/>
          <a:ln/>
        </p:spPr>
        <p:txBody>
          <a:bodyPr wrap="square" lIns="0" tIns="0" rIns="0" bIns="0" rtlCol="0" anchor="t"/>
          <a:lstStyle/>
          <a:p>
            <a:pPr algn="ctr" indent="0" marL="0">
              <a:lnSpc>
                <a:spcPct val="96000"/>
              </a:lnSpc>
              <a:buNone/>
            </a:pPr>
            <a:r>
              <a:rPr lang="en-US" sz="1800" b="1" dirty="0">
                <a:solidFill>
                  <a:srgbClr val="163A70"/>
                </a:solidFill>
                <a:latin typeface="Calibri" pitchFamily="34" charset="0"/>
                <a:ea typeface="Calibri" pitchFamily="34" charset="-122"/>
                <a:cs typeface="Calibri" pitchFamily="34" charset="-120"/>
              </a:rPr>
              <a:t>Optimization</a:t>
            </a:r>
            <a:endParaRPr lang="en-US" sz="1800" dirty="0"/>
          </a:p>
        </p:txBody>
      </p:sp>
      <p:sp>
        <p:nvSpPr>
          <p:cNvPr id="137" name="Shape 133"/>
          <p:cNvSpPr/>
          <p:nvPr/>
        </p:nvSpPr>
        <p:spPr>
          <a:xfrm>
            <a:off x="13523976" y="17163288"/>
            <a:ext cx="384048" cy="329184"/>
          </a:xfrm>
          <a:prstGeom prst="rightArrow">
            <a:avLst/>
          </a:prstGeom>
          <a:solidFill>
            <a:srgbClr val="1FA6A6"/>
          </a:solidFill>
          <a:ln/>
        </p:spPr>
      </p:sp>
      <p:sp>
        <p:nvSpPr>
          <p:cNvPr id="138" name="Shape 134"/>
          <p:cNvSpPr/>
          <p:nvPr/>
        </p:nvSpPr>
        <p:spPr>
          <a:xfrm>
            <a:off x="13999464" y="16139160"/>
            <a:ext cx="3825240" cy="2377440"/>
          </a:xfrm>
          <a:prstGeom prst="roundRect">
            <a:avLst>
              <a:gd name="adj" fmla="val 3846"/>
            </a:avLst>
          </a:prstGeom>
          <a:solidFill>
            <a:srgbClr val="FFFFFF"/>
          </a:solidFill>
          <a:ln w="9525">
            <a:solidFill>
              <a:srgbClr val="D9E1EC"/>
            </a:solidFill>
            <a:prstDash val="solid"/>
          </a:ln>
        </p:spPr>
      </p:sp>
      <p:sp>
        <p:nvSpPr>
          <p:cNvPr id="139" name="Shape 135"/>
          <p:cNvSpPr/>
          <p:nvPr/>
        </p:nvSpPr>
        <p:spPr>
          <a:xfrm>
            <a:off x="15592044" y="16376904"/>
            <a:ext cx="640080" cy="640080"/>
          </a:xfrm>
          <a:prstGeom prst="ellipse">
            <a:avLst/>
          </a:prstGeom>
          <a:solidFill>
            <a:srgbClr val="163A70"/>
          </a:solidFill>
          <a:ln/>
        </p:spPr>
      </p:sp>
      <p:sp>
        <p:nvSpPr>
          <p:cNvPr id="140" name="Text 136"/>
          <p:cNvSpPr/>
          <p:nvPr/>
        </p:nvSpPr>
        <p:spPr>
          <a:xfrm>
            <a:off x="15592044" y="16376904"/>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4</a:t>
            </a:r>
            <a:endParaRPr lang="en-US" sz="2100" dirty="0"/>
          </a:p>
        </p:txBody>
      </p:sp>
      <p:sp>
        <p:nvSpPr>
          <p:cNvPr id="141" name="Text 137"/>
          <p:cNvSpPr/>
          <p:nvPr/>
        </p:nvSpPr>
        <p:spPr>
          <a:xfrm>
            <a:off x="14182344" y="17108424"/>
            <a:ext cx="3459480" cy="1280160"/>
          </a:xfrm>
          <a:prstGeom prst="rect">
            <a:avLst/>
          </a:prstGeom>
          <a:noFill/>
          <a:ln/>
        </p:spPr>
        <p:txBody>
          <a:bodyPr wrap="square" lIns="0" tIns="0" rIns="0" bIns="0" rtlCol="0" anchor="t"/>
          <a:lstStyle/>
          <a:p>
            <a:pPr algn="ctr" indent="0" marL="0">
              <a:lnSpc>
                <a:spcPct val="96000"/>
              </a:lnSpc>
              <a:buNone/>
            </a:pPr>
            <a:r>
              <a:rPr lang="en-US" sz="1800" b="1" dirty="0">
                <a:solidFill>
                  <a:srgbClr val="163A70"/>
                </a:solidFill>
                <a:latin typeface="Calibri" pitchFamily="34" charset="0"/>
                <a:ea typeface="Calibri" pitchFamily="34" charset="-122"/>
                <a:cs typeface="Calibri" pitchFamily="34" charset="-120"/>
              </a:rPr>
              <a:t>Evaluation of Advanced Liposomes</a:t>
            </a:r>
            <a:endParaRPr lang="en-US" sz="1800" dirty="0"/>
          </a:p>
        </p:txBody>
      </p:sp>
      <p:sp>
        <p:nvSpPr>
          <p:cNvPr id="142" name="Shape 138"/>
          <p:cNvSpPr/>
          <p:nvPr/>
        </p:nvSpPr>
        <p:spPr>
          <a:xfrm>
            <a:off x="17916144" y="17163288"/>
            <a:ext cx="384048" cy="329184"/>
          </a:xfrm>
          <a:prstGeom prst="rightArrow">
            <a:avLst/>
          </a:prstGeom>
          <a:solidFill>
            <a:srgbClr val="1FA6A6"/>
          </a:solidFill>
          <a:ln/>
        </p:spPr>
      </p:sp>
      <p:sp>
        <p:nvSpPr>
          <p:cNvPr id="143" name="Shape 139"/>
          <p:cNvSpPr/>
          <p:nvPr/>
        </p:nvSpPr>
        <p:spPr>
          <a:xfrm>
            <a:off x="18391632" y="16139160"/>
            <a:ext cx="3825240" cy="2377440"/>
          </a:xfrm>
          <a:prstGeom prst="roundRect">
            <a:avLst>
              <a:gd name="adj" fmla="val 3846"/>
            </a:avLst>
          </a:prstGeom>
          <a:solidFill>
            <a:srgbClr val="FFFFFF"/>
          </a:solidFill>
          <a:ln w="9525">
            <a:solidFill>
              <a:srgbClr val="D9E1EC"/>
            </a:solidFill>
            <a:prstDash val="solid"/>
          </a:ln>
        </p:spPr>
      </p:sp>
      <p:sp>
        <p:nvSpPr>
          <p:cNvPr id="144" name="Shape 140"/>
          <p:cNvSpPr/>
          <p:nvPr/>
        </p:nvSpPr>
        <p:spPr>
          <a:xfrm>
            <a:off x="19984212" y="16376904"/>
            <a:ext cx="640080" cy="640080"/>
          </a:xfrm>
          <a:prstGeom prst="ellipse">
            <a:avLst/>
          </a:prstGeom>
          <a:solidFill>
            <a:srgbClr val="1FA6A6"/>
          </a:solidFill>
          <a:ln/>
        </p:spPr>
      </p:sp>
      <p:sp>
        <p:nvSpPr>
          <p:cNvPr id="145" name="Text 141"/>
          <p:cNvSpPr/>
          <p:nvPr/>
        </p:nvSpPr>
        <p:spPr>
          <a:xfrm>
            <a:off x="19984212" y="16376904"/>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5</a:t>
            </a:r>
            <a:endParaRPr lang="en-US" sz="2100" dirty="0"/>
          </a:p>
        </p:txBody>
      </p:sp>
      <p:sp>
        <p:nvSpPr>
          <p:cNvPr id="146" name="Text 142"/>
          <p:cNvSpPr/>
          <p:nvPr/>
        </p:nvSpPr>
        <p:spPr>
          <a:xfrm>
            <a:off x="18574512" y="17108424"/>
            <a:ext cx="3459480" cy="1280160"/>
          </a:xfrm>
          <a:prstGeom prst="rect">
            <a:avLst/>
          </a:prstGeom>
          <a:noFill/>
          <a:ln/>
        </p:spPr>
        <p:txBody>
          <a:bodyPr wrap="square" lIns="0" tIns="0" rIns="0" bIns="0" rtlCol="0" anchor="t"/>
          <a:lstStyle/>
          <a:p>
            <a:pPr algn="ctr" indent="0" marL="0">
              <a:lnSpc>
                <a:spcPct val="96000"/>
              </a:lnSpc>
              <a:buNone/>
            </a:pPr>
            <a:r>
              <a:rPr lang="en-US" sz="1800" b="1" dirty="0">
                <a:solidFill>
                  <a:srgbClr val="163A70"/>
                </a:solidFill>
                <a:latin typeface="Calibri" pitchFamily="34" charset="0"/>
                <a:ea typeface="Calibri" pitchFamily="34" charset="-122"/>
                <a:cs typeface="Calibri" pitchFamily="34" charset="-120"/>
              </a:rPr>
              <a:t>Clinical Applications</a:t>
            </a:r>
            <a:endParaRPr lang="en-US" sz="1800" dirty="0"/>
          </a:p>
        </p:txBody>
      </p:sp>
      <p:sp>
        <p:nvSpPr>
          <p:cNvPr id="147" name="Shape 143"/>
          <p:cNvSpPr/>
          <p:nvPr/>
        </p:nvSpPr>
        <p:spPr>
          <a:xfrm>
            <a:off x="22308312" y="17163288"/>
            <a:ext cx="384048" cy="329184"/>
          </a:xfrm>
          <a:prstGeom prst="rightArrow">
            <a:avLst/>
          </a:prstGeom>
          <a:solidFill>
            <a:srgbClr val="1FA6A6"/>
          </a:solidFill>
          <a:ln/>
        </p:spPr>
      </p:sp>
      <p:sp>
        <p:nvSpPr>
          <p:cNvPr id="148" name="Shape 144"/>
          <p:cNvSpPr/>
          <p:nvPr/>
        </p:nvSpPr>
        <p:spPr>
          <a:xfrm>
            <a:off x="22783800" y="16139160"/>
            <a:ext cx="3825240" cy="2377440"/>
          </a:xfrm>
          <a:prstGeom prst="roundRect">
            <a:avLst>
              <a:gd name="adj" fmla="val 3846"/>
            </a:avLst>
          </a:prstGeom>
          <a:solidFill>
            <a:srgbClr val="163A70"/>
          </a:solidFill>
          <a:ln w="12700">
            <a:solidFill>
              <a:srgbClr val="163A70"/>
            </a:solidFill>
            <a:prstDash val="solid"/>
          </a:ln>
        </p:spPr>
      </p:sp>
      <p:sp>
        <p:nvSpPr>
          <p:cNvPr id="149" name="Shape 145"/>
          <p:cNvSpPr/>
          <p:nvPr/>
        </p:nvSpPr>
        <p:spPr>
          <a:xfrm>
            <a:off x="24376380" y="16376904"/>
            <a:ext cx="640080" cy="640080"/>
          </a:xfrm>
          <a:prstGeom prst="ellipse">
            <a:avLst/>
          </a:prstGeom>
          <a:solidFill>
            <a:srgbClr val="1FA6A6"/>
          </a:solidFill>
          <a:ln/>
        </p:spPr>
      </p:sp>
      <p:sp>
        <p:nvSpPr>
          <p:cNvPr id="150" name="Text 146"/>
          <p:cNvSpPr/>
          <p:nvPr/>
        </p:nvSpPr>
        <p:spPr>
          <a:xfrm>
            <a:off x="24376380" y="16376904"/>
            <a:ext cx="640080" cy="640080"/>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6</a:t>
            </a:r>
            <a:endParaRPr lang="en-US" sz="2100" dirty="0"/>
          </a:p>
        </p:txBody>
      </p:sp>
      <p:sp>
        <p:nvSpPr>
          <p:cNvPr id="151" name="Text 147"/>
          <p:cNvSpPr/>
          <p:nvPr/>
        </p:nvSpPr>
        <p:spPr>
          <a:xfrm>
            <a:off x="22966680" y="17108424"/>
            <a:ext cx="3459480" cy="1280160"/>
          </a:xfrm>
          <a:prstGeom prst="rect">
            <a:avLst/>
          </a:prstGeom>
          <a:noFill/>
          <a:ln/>
        </p:spPr>
        <p:txBody>
          <a:bodyPr wrap="square" lIns="0" tIns="0" rIns="0" bIns="0" rtlCol="0" anchor="t"/>
          <a:lstStyle/>
          <a:p>
            <a:pPr algn="ctr" indent="0" marL="0">
              <a:lnSpc>
                <a:spcPct val="96000"/>
              </a:lnSpc>
              <a:buNone/>
            </a:pPr>
            <a:r>
              <a:rPr lang="en-US" sz="1800" b="1" dirty="0">
                <a:solidFill>
                  <a:srgbClr val="FFFFFF"/>
                </a:solidFill>
                <a:latin typeface="Calibri" pitchFamily="34" charset="0"/>
                <a:ea typeface="Calibri" pitchFamily="34" charset="-122"/>
                <a:cs typeface="Calibri" pitchFamily="34" charset="-120"/>
              </a:rPr>
              <a:t>Future Perspective</a:t>
            </a:r>
            <a:endParaRPr lang="en-US" sz="1800" dirty="0"/>
          </a:p>
        </p:txBody>
      </p:sp>
      <p:sp>
        <p:nvSpPr>
          <p:cNvPr id="152" name="Shape 148"/>
          <p:cNvSpPr/>
          <p:nvPr/>
        </p:nvSpPr>
        <p:spPr>
          <a:xfrm>
            <a:off x="841248" y="19097244"/>
            <a:ext cx="438912" cy="438912"/>
          </a:xfrm>
          <a:prstGeom prst="ellipse">
            <a:avLst/>
          </a:prstGeom>
          <a:ln w="25400">
            <a:solidFill>
              <a:srgbClr val="1FA6A6"/>
            </a:solidFill>
            <a:prstDash val="solid"/>
          </a:ln>
        </p:spPr>
      </p:sp>
      <p:sp>
        <p:nvSpPr>
          <p:cNvPr id="153" name="Shape 149"/>
          <p:cNvSpPr/>
          <p:nvPr/>
        </p:nvSpPr>
        <p:spPr>
          <a:xfrm>
            <a:off x="933420" y="19189416"/>
            <a:ext cx="254569" cy="254569"/>
          </a:xfrm>
          <a:prstGeom prst="ellipse">
            <a:avLst/>
          </a:prstGeom>
          <a:ln w="21590">
            <a:solidFill>
              <a:srgbClr val="1FA6A6"/>
            </a:solidFill>
            <a:prstDash val="solid"/>
          </a:ln>
        </p:spPr>
      </p:sp>
      <p:sp>
        <p:nvSpPr>
          <p:cNvPr id="154" name="Shape 150"/>
          <p:cNvSpPr/>
          <p:nvPr/>
        </p:nvSpPr>
        <p:spPr>
          <a:xfrm>
            <a:off x="1008035" y="19264031"/>
            <a:ext cx="105339" cy="105339"/>
          </a:xfrm>
          <a:prstGeom prst="ellipse">
            <a:avLst/>
          </a:prstGeom>
          <a:solidFill>
            <a:srgbClr val="1FA6A6"/>
          </a:solidFill>
          <a:ln/>
        </p:spPr>
      </p:sp>
      <p:sp>
        <p:nvSpPr>
          <p:cNvPr id="155" name="Text 151"/>
          <p:cNvSpPr/>
          <p:nvPr/>
        </p:nvSpPr>
        <p:spPr>
          <a:xfrm>
            <a:off x="1389888" y="18928080"/>
            <a:ext cx="25219152" cy="777240"/>
          </a:xfrm>
          <a:prstGeom prst="rect">
            <a:avLst/>
          </a:prstGeom>
          <a:noFill/>
          <a:ln/>
        </p:spPr>
        <p:txBody>
          <a:bodyPr wrap="square" lIns="0" tIns="0" rIns="0" bIns="0" rtlCol="0" anchor="ctr"/>
          <a:lstStyle/>
          <a:p>
            <a:pPr indent="0" marL="0">
              <a:buNone/>
            </a:pPr>
            <a:r>
              <a:rPr lang="en-US" sz="2500" b="1" spc="150" kern="0" dirty="0">
                <a:solidFill>
                  <a:srgbClr val="163A70"/>
                </a:solidFill>
                <a:latin typeface="Calibri" pitchFamily="34" charset="0"/>
                <a:ea typeface="Calibri" pitchFamily="34" charset="-122"/>
                <a:cs typeface="Calibri" pitchFamily="34" charset="-120"/>
              </a:rPr>
              <a:t>APPLICATIONS</a:t>
            </a:r>
            <a:endParaRPr lang="en-US" sz="2500" dirty="0"/>
          </a:p>
        </p:txBody>
      </p:sp>
      <p:sp>
        <p:nvSpPr>
          <p:cNvPr id="156" name="Shape 152"/>
          <p:cNvSpPr/>
          <p:nvPr/>
        </p:nvSpPr>
        <p:spPr>
          <a:xfrm>
            <a:off x="822960" y="19705320"/>
            <a:ext cx="8290560" cy="2542032"/>
          </a:xfrm>
          <a:prstGeom prst="roundRect">
            <a:avLst>
              <a:gd name="adj" fmla="val 3597"/>
            </a:avLst>
          </a:prstGeom>
          <a:solidFill>
            <a:srgbClr val="FFFFFF"/>
          </a:solidFill>
          <a:ln w="9525">
            <a:solidFill>
              <a:srgbClr val="D9E1EC"/>
            </a:solidFill>
            <a:prstDash val="solid"/>
          </a:ln>
        </p:spPr>
      </p:sp>
      <p:sp>
        <p:nvSpPr>
          <p:cNvPr id="157" name="Shape 153"/>
          <p:cNvSpPr/>
          <p:nvPr/>
        </p:nvSpPr>
        <p:spPr>
          <a:xfrm>
            <a:off x="822960" y="19705320"/>
            <a:ext cx="8290560" cy="749808"/>
          </a:xfrm>
          <a:prstGeom prst="roundRect">
            <a:avLst>
              <a:gd name="adj" fmla="val 12195"/>
            </a:avLst>
          </a:prstGeom>
          <a:solidFill>
            <a:srgbClr val="163A70"/>
          </a:solidFill>
          <a:ln/>
        </p:spPr>
      </p:sp>
      <p:sp>
        <p:nvSpPr>
          <p:cNvPr id="158" name="Text 154"/>
          <p:cNvSpPr/>
          <p:nvPr/>
        </p:nvSpPr>
        <p:spPr>
          <a:xfrm>
            <a:off x="1005840" y="19705320"/>
            <a:ext cx="7924800" cy="74980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Therapy</a:t>
            </a:r>
            <a:endParaRPr lang="en-US" sz="2100" dirty="0"/>
          </a:p>
        </p:txBody>
      </p:sp>
      <p:sp>
        <p:nvSpPr>
          <p:cNvPr id="159" name="Text 155"/>
          <p:cNvSpPr/>
          <p:nvPr/>
        </p:nvSpPr>
        <p:spPr>
          <a:xfrm>
            <a:off x="1207008" y="20601432"/>
            <a:ext cx="7650480" cy="1499616"/>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Antiviral Drug Delivery</a:t>
            </a:r>
            <a:endParaRPr lang="en-US" sz="1800" dirty="0"/>
          </a:p>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Cancer Therapy</a:t>
            </a:r>
            <a:endParaRPr lang="en-US" sz="1800" dirty="0"/>
          </a:p>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Gene Therapy</a:t>
            </a:r>
            <a:endParaRPr lang="en-US" sz="1800" dirty="0"/>
          </a:p>
        </p:txBody>
      </p:sp>
      <p:sp>
        <p:nvSpPr>
          <p:cNvPr id="160" name="Shape 156"/>
          <p:cNvSpPr/>
          <p:nvPr/>
        </p:nvSpPr>
        <p:spPr>
          <a:xfrm>
            <a:off x="9570720" y="19705320"/>
            <a:ext cx="8290560" cy="2542032"/>
          </a:xfrm>
          <a:prstGeom prst="roundRect">
            <a:avLst>
              <a:gd name="adj" fmla="val 3597"/>
            </a:avLst>
          </a:prstGeom>
          <a:solidFill>
            <a:srgbClr val="FFFFFF"/>
          </a:solidFill>
          <a:ln w="9525">
            <a:solidFill>
              <a:srgbClr val="D9E1EC"/>
            </a:solidFill>
            <a:prstDash val="solid"/>
          </a:ln>
        </p:spPr>
      </p:sp>
      <p:sp>
        <p:nvSpPr>
          <p:cNvPr id="161" name="Shape 157"/>
          <p:cNvSpPr/>
          <p:nvPr/>
        </p:nvSpPr>
        <p:spPr>
          <a:xfrm>
            <a:off x="9570720" y="19705320"/>
            <a:ext cx="8290560" cy="749808"/>
          </a:xfrm>
          <a:prstGeom prst="roundRect">
            <a:avLst>
              <a:gd name="adj" fmla="val 12195"/>
            </a:avLst>
          </a:prstGeom>
          <a:solidFill>
            <a:srgbClr val="137E7E"/>
          </a:solidFill>
          <a:ln/>
        </p:spPr>
      </p:sp>
      <p:sp>
        <p:nvSpPr>
          <p:cNvPr id="162" name="Text 158"/>
          <p:cNvSpPr/>
          <p:nvPr/>
        </p:nvSpPr>
        <p:spPr>
          <a:xfrm>
            <a:off x="9753600" y="19705320"/>
            <a:ext cx="7924800" cy="74980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Reduced Toxicity</a:t>
            </a:r>
            <a:endParaRPr lang="en-US" sz="2100" dirty="0"/>
          </a:p>
        </p:txBody>
      </p:sp>
      <p:sp>
        <p:nvSpPr>
          <p:cNvPr id="163" name="Text 159"/>
          <p:cNvSpPr/>
          <p:nvPr/>
        </p:nvSpPr>
        <p:spPr>
          <a:xfrm>
            <a:off x="9954768" y="20601432"/>
            <a:ext cx="7650480" cy="1499616"/>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Minimize Exposure</a:t>
            </a:r>
            <a:endParaRPr lang="en-US" sz="1800" dirty="0"/>
          </a:p>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Reduced Side Effects</a:t>
            </a:r>
            <a:endParaRPr lang="en-US" sz="1800" dirty="0"/>
          </a:p>
        </p:txBody>
      </p:sp>
      <p:sp>
        <p:nvSpPr>
          <p:cNvPr id="164" name="Shape 160"/>
          <p:cNvSpPr/>
          <p:nvPr/>
        </p:nvSpPr>
        <p:spPr>
          <a:xfrm>
            <a:off x="18318480" y="19705320"/>
            <a:ext cx="8290560" cy="2542032"/>
          </a:xfrm>
          <a:prstGeom prst="roundRect">
            <a:avLst>
              <a:gd name="adj" fmla="val 3597"/>
            </a:avLst>
          </a:prstGeom>
          <a:solidFill>
            <a:srgbClr val="FFFFFF"/>
          </a:solidFill>
          <a:ln w="9525">
            <a:solidFill>
              <a:srgbClr val="D9E1EC"/>
            </a:solidFill>
            <a:prstDash val="solid"/>
          </a:ln>
        </p:spPr>
      </p:sp>
      <p:sp>
        <p:nvSpPr>
          <p:cNvPr id="165" name="Shape 161"/>
          <p:cNvSpPr/>
          <p:nvPr/>
        </p:nvSpPr>
        <p:spPr>
          <a:xfrm>
            <a:off x="18318480" y="19705320"/>
            <a:ext cx="8290560" cy="749808"/>
          </a:xfrm>
          <a:prstGeom prst="roundRect">
            <a:avLst>
              <a:gd name="adj" fmla="val 12195"/>
            </a:avLst>
          </a:prstGeom>
          <a:solidFill>
            <a:srgbClr val="4E7BFF"/>
          </a:solidFill>
          <a:ln/>
        </p:spPr>
      </p:sp>
      <p:sp>
        <p:nvSpPr>
          <p:cNvPr id="166" name="Text 162"/>
          <p:cNvSpPr/>
          <p:nvPr/>
        </p:nvSpPr>
        <p:spPr>
          <a:xfrm>
            <a:off x="18501360" y="19705320"/>
            <a:ext cx="7924800" cy="749808"/>
          </a:xfrm>
          <a:prstGeom prst="rect">
            <a:avLst/>
          </a:prstGeom>
          <a:noFill/>
          <a:ln/>
        </p:spPr>
        <p:txBody>
          <a:bodyPr wrap="square" lIns="0" tIns="0" rIns="0" bIns="0" rtlCol="0" anchor="ctr"/>
          <a:lstStyle/>
          <a:p>
            <a:pPr algn="ctr" indent="0" marL="0">
              <a:buNone/>
            </a:pPr>
            <a:r>
              <a:rPr lang="en-US" sz="2100" b="1" dirty="0">
                <a:solidFill>
                  <a:srgbClr val="FFFFFF"/>
                </a:solidFill>
                <a:latin typeface="Calibri" pitchFamily="34" charset="0"/>
                <a:ea typeface="Calibri" pitchFamily="34" charset="-122"/>
                <a:cs typeface="Calibri" pitchFamily="34" charset="-120"/>
              </a:rPr>
              <a:t>Improved Stability</a:t>
            </a:r>
            <a:endParaRPr lang="en-US" sz="2100" dirty="0"/>
          </a:p>
        </p:txBody>
      </p:sp>
      <p:sp>
        <p:nvSpPr>
          <p:cNvPr id="167" name="Text 163"/>
          <p:cNvSpPr/>
          <p:nvPr/>
        </p:nvSpPr>
        <p:spPr>
          <a:xfrm>
            <a:off x="18702528" y="20601432"/>
            <a:ext cx="7650480" cy="1499616"/>
          </a:xfrm>
          <a:prstGeom prst="rect">
            <a:avLst/>
          </a:prstGeom>
          <a:noFill/>
          <a:ln/>
        </p:spPr>
        <p:txBody>
          <a:bodyPr wrap="square" lIns="0" tIns="0" rIns="0" bIns="0" rtlCol="0" anchor="t"/>
          <a:lstStyle/>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Enhanced Bioavailability</a:t>
            </a:r>
            <a:endParaRPr lang="en-US" sz="1800" dirty="0"/>
          </a:p>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Controlled Release</a:t>
            </a:r>
            <a:endParaRPr lang="en-US" sz="1800" dirty="0"/>
          </a:p>
          <a:p>
            <a:pPr marL="342900" indent="-342900">
              <a:spcAft>
                <a:spcPts val="900"/>
              </a:spcAft>
              <a:buSzPct val="100000"/>
              <a:buChar char="▪"/>
            </a:pPr>
            <a:r>
              <a:rPr lang="en-US" sz="1800" dirty="0">
                <a:solidFill>
                  <a:srgbClr val="1E293B"/>
                </a:solidFill>
                <a:latin typeface="Calibri" pitchFamily="34" charset="0"/>
                <a:ea typeface="Calibri" pitchFamily="34" charset="-122"/>
                <a:cs typeface="Calibri" pitchFamily="34" charset="-120"/>
              </a:rPr>
              <a:t>Reduced Enzymatic Degradation</a:t>
            </a:r>
            <a:endParaRPr lang="en-US" sz="1800" dirty="0"/>
          </a:p>
        </p:txBody>
      </p:sp>
      <p:sp>
        <p:nvSpPr>
          <p:cNvPr id="168" name="Shape 164"/>
          <p:cNvSpPr/>
          <p:nvPr/>
        </p:nvSpPr>
        <p:spPr>
          <a:xfrm>
            <a:off x="822960" y="22631400"/>
            <a:ext cx="12664440" cy="11658600"/>
          </a:xfrm>
          <a:prstGeom prst="roundRect">
            <a:avLst>
              <a:gd name="adj" fmla="val 784"/>
            </a:avLst>
          </a:prstGeom>
          <a:solidFill>
            <a:srgbClr val="FFFFFF"/>
          </a:solidFill>
          <a:ln w="9525">
            <a:solidFill>
              <a:srgbClr val="D9E1EC"/>
            </a:solidFill>
            <a:prstDash val="solid"/>
          </a:ln>
        </p:spPr>
      </p:sp>
      <p:pic>
        <p:nvPicPr>
          <p:cNvPr id="169" name="Image 2" descr="prep_wheel.png">    </p:cNvPr>
          <p:cNvPicPr>
            <a:picLocks noChangeAspect="1"/>
          </p:cNvPicPr>
          <p:nvPr/>
        </p:nvPicPr>
        <p:blipFill>
          <a:blip r:embed="rId3"/>
          <a:stretch>
            <a:fillRect/>
          </a:stretch>
        </p:blipFill>
        <p:spPr>
          <a:xfrm>
            <a:off x="1760220" y="22905720"/>
            <a:ext cx="10789920" cy="10789920"/>
          </a:xfrm>
          <a:prstGeom prst="rect">
            <a:avLst/>
          </a:prstGeom>
        </p:spPr>
      </p:pic>
      <p:sp>
        <p:nvSpPr>
          <p:cNvPr id="170" name="Text 165"/>
          <p:cNvSpPr/>
          <p:nvPr/>
        </p:nvSpPr>
        <p:spPr>
          <a:xfrm>
            <a:off x="1005840" y="33814512"/>
            <a:ext cx="12298680" cy="402336"/>
          </a:xfrm>
          <a:prstGeom prst="rect">
            <a:avLst/>
          </a:prstGeom>
          <a:noFill/>
          <a:ln/>
        </p:spPr>
        <p:txBody>
          <a:bodyPr wrap="square" lIns="0" tIns="0" rIns="0" bIns="0" rtlCol="0" anchor="ctr"/>
          <a:lstStyle/>
          <a:p>
            <a:pPr algn="ctr" indent="0" marL="0">
              <a:buNone/>
            </a:pPr>
            <a:r>
              <a:rPr lang="en-US" sz="1400" i="1" dirty="0">
                <a:solidFill>
                  <a:srgbClr val="5A6B82"/>
                </a:solidFill>
                <a:latin typeface="Calibri" pitchFamily="34" charset="0"/>
                <a:ea typeface="Calibri" pitchFamily="34" charset="-122"/>
                <a:cs typeface="Calibri" pitchFamily="34" charset="-120"/>
              </a:rPr>
              <a:t>Fig. 2  Conventional, specialized and novel liposome preparation methods.</a:t>
            </a:r>
            <a:endParaRPr lang="en-US" sz="1400" dirty="0"/>
          </a:p>
        </p:txBody>
      </p:sp>
      <p:sp>
        <p:nvSpPr>
          <p:cNvPr id="171" name="Shape 166"/>
          <p:cNvSpPr/>
          <p:nvPr/>
        </p:nvSpPr>
        <p:spPr>
          <a:xfrm>
            <a:off x="13962888" y="22800564"/>
            <a:ext cx="438912" cy="438912"/>
          </a:xfrm>
          <a:prstGeom prst="ellipse">
            <a:avLst/>
          </a:prstGeom>
          <a:ln w="25400">
            <a:solidFill>
              <a:srgbClr val="1FA6A6"/>
            </a:solidFill>
            <a:prstDash val="solid"/>
          </a:ln>
        </p:spPr>
      </p:sp>
      <p:sp>
        <p:nvSpPr>
          <p:cNvPr id="172" name="Shape 167"/>
          <p:cNvSpPr/>
          <p:nvPr/>
        </p:nvSpPr>
        <p:spPr>
          <a:xfrm>
            <a:off x="14055060" y="22892736"/>
            <a:ext cx="254569" cy="254569"/>
          </a:xfrm>
          <a:prstGeom prst="ellipse">
            <a:avLst/>
          </a:prstGeom>
          <a:ln w="21590">
            <a:solidFill>
              <a:srgbClr val="1FA6A6"/>
            </a:solidFill>
            <a:prstDash val="solid"/>
          </a:ln>
        </p:spPr>
      </p:sp>
      <p:sp>
        <p:nvSpPr>
          <p:cNvPr id="173" name="Shape 168"/>
          <p:cNvSpPr/>
          <p:nvPr/>
        </p:nvSpPr>
        <p:spPr>
          <a:xfrm>
            <a:off x="14129675" y="22967351"/>
            <a:ext cx="105339" cy="105339"/>
          </a:xfrm>
          <a:prstGeom prst="ellipse">
            <a:avLst/>
          </a:prstGeom>
          <a:solidFill>
            <a:srgbClr val="1FA6A6"/>
          </a:solidFill>
          <a:ln/>
        </p:spPr>
      </p:sp>
      <p:sp>
        <p:nvSpPr>
          <p:cNvPr id="174" name="Text 169"/>
          <p:cNvSpPr/>
          <p:nvPr/>
        </p:nvSpPr>
        <p:spPr>
          <a:xfrm>
            <a:off x="14511528" y="22631400"/>
            <a:ext cx="12097512" cy="777240"/>
          </a:xfrm>
          <a:prstGeom prst="rect">
            <a:avLst/>
          </a:prstGeom>
          <a:noFill/>
          <a:ln/>
        </p:spPr>
        <p:txBody>
          <a:bodyPr wrap="square" lIns="0" tIns="0" rIns="0" bIns="0" rtlCol="0" anchor="ctr"/>
          <a:lstStyle/>
          <a:p>
            <a:pPr indent="0" marL="0">
              <a:buNone/>
            </a:pPr>
            <a:r>
              <a:rPr lang="en-US" sz="2500" b="1" spc="150" kern="0" dirty="0">
                <a:solidFill>
                  <a:srgbClr val="163A70"/>
                </a:solidFill>
                <a:latin typeface="Calibri" pitchFamily="34" charset="0"/>
                <a:ea typeface="Calibri" pitchFamily="34" charset="-122"/>
                <a:cs typeface="Calibri" pitchFamily="34" charset="-120"/>
              </a:rPr>
              <a:t>PROS  vs  CONS</a:t>
            </a:r>
            <a:endParaRPr lang="en-US" sz="2500" dirty="0"/>
          </a:p>
        </p:txBody>
      </p:sp>
      <p:sp>
        <p:nvSpPr>
          <p:cNvPr id="175" name="Shape 170"/>
          <p:cNvSpPr/>
          <p:nvPr/>
        </p:nvSpPr>
        <p:spPr>
          <a:xfrm>
            <a:off x="13944600" y="23408640"/>
            <a:ext cx="6195060" cy="4160520"/>
          </a:xfrm>
          <a:prstGeom prst="roundRect">
            <a:avLst>
              <a:gd name="adj" fmla="val 2198"/>
            </a:avLst>
          </a:prstGeom>
          <a:solidFill>
            <a:srgbClr val="E9F6F6"/>
          </a:solidFill>
          <a:ln w="9525">
            <a:solidFill>
              <a:srgbClr val="BFE3E3"/>
            </a:solidFill>
            <a:prstDash val="solid"/>
          </a:ln>
        </p:spPr>
      </p:sp>
      <p:sp>
        <p:nvSpPr>
          <p:cNvPr id="176" name="Shape 171"/>
          <p:cNvSpPr/>
          <p:nvPr/>
        </p:nvSpPr>
        <p:spPr>
          <a:xfrm>
            <a:off x="13944600" y="23408640"/>
            <a:ext cx="6195060" cy="640080"/>
          </a:xfrm>
          <a:prstGeom prst="roundRect">
            <a:avLst>
              <a:gd name="adj" fmla="val 14286"/>
            </a:avLst>
          </a:prstGeom>
          <a:solidFill>
            <a:srgbClr val="137E7E"/>
          </a:solidFill>
          <a:ln/>
        </p:spPr>
      </p:sp>
      <p:sp>
        <p:nvSpPr>
          <p:cNvPr id="177" name="Text 172"/>
          <p:cNvSpPr/>
          <p:nvPr/>
        </p:nvSpPr>
        <p:spPr>
          <a:xfrm>
            <a:off x="13944600" y="23408640"/>
            <a:ext cx="6195060" cy="640080"/>
          </a:xfrm>
          <a:prstGeom prst="rect">
            <a:avLst/>
          </a:prstGeom>
          <a:noFill/>
          <a:ln/>
        </p:spPr>
        <p:txBody>
          <a:bodyPr wrap="square" lIns="0" tIns="0" rIns="0" bIns="0" rtlCol="0" anchor="ctr"/>
          <a:lstStyle/>
          <a:p>
            <a:pPr algn="ctr" indent="0" marL="0">
              <a:buNone/>
            </a:pPr>
            <a:r>
              <a:rPr lang="en-US" sz="2000" b="1" spc="140" kern="0" dirty="0">
                <a:solidFill>
                  <a:srgbClr val="FFFFFF"/>
                </a:solidFill>
                <a:latin typeface="Calibri" pitchFamily="34" charset="0"/>
                <a:ea typeface="Calibri" pitchFamily="34" charset="-122"/>
                <a:cs typeface="Calibri" pitchFamily="34" charset="-120"/>
              </a:rPr>
              <a:t>PROS</a:t>
            </a:r>
            <a:endParaRPr lang="en-US" sz="2000" dirty="0"/>
          </a:p>
        </p:txBody>
      </p:sp>
      <p:sp>
        <p:nvSpPr>
          <p:cNvPr id="178" name="Text 173"/>
          <p:cNvSpPr/>
          <p:nvPr/>
        </p:nvSpPr>
        <p:spPr>
          <a:xfrm>
            <a:off x="14182344" y="24176736"/>
            <a:ext cx="5774436" cy="3246120"/>
          </a:xfrm>
          <a:prstGeom prst="rect">
            <a:avLst/>
          </a:prstGeom>
          <a:noFill/>
          <a:ln/>
        </p:spPr>
        <p:txBody>
          <a:bodyPr wrap="square" lIns="0" tIns="0" rIns="0" bIns="0" rtlCol="0" anchor="t"/>
          <a:lstStyle/>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Targeted Drug Delivery</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Enhanced Drug Solubility</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Drug Protection</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Controlled Release</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Versatile Platform</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Reduced Toxicity</a:t>
            </a:r>
            <a:endParaRPr lang="en-US" sz="1700" dirty="0"/>
          </a:p>
        </p:txBody>
      </p:sp>
      <p:sp>
        <p:nvSpPr>
          <p:cNvPr id="179" name="Shape 174"/>
          <p:cNvSpPr/>
          <p:nvPr/>
        </p:nvSpPr>
        <p:spPr>
          <a:xfrm>
            <a:off x="20413980" y="23408640"/>
            <a:ext cx="6195060" cy="4160520"/>
          </a:xfrm>
          <a:prstGeom prst="roundRect">
            <a:avLst>
              <a:gd name="adj" fmla="val 2198"/>
            </a:avLst>
          </a:prstGeom>
          <a:solidFill>
            <a:srgbClr val="EDF2FA"/>
          </a:solidFill>
          <a:ln w="9525">
            <a:solidFill>
              <a:srgbClr val="D9E1EC"/>
            </a:solidFill>
            <a:prstDash val="solid"/>
          </a:ln>
        </p:spPr>
      </p:sp>
      <p:sp>
        <p:nvSpPr>
          <p:cNvPr id="180" name="Shape 175"/>
          <p:cNvSpPr/>
          <p:nvPr/>
        </p:nvSpPr>
        <p:spPr>
          <a:xfrm>
            <a:off x="20413980" y="23408640"/>
            <a:ext cx="6195060" cy="640080"/>
          </a:xfrm>
          <a:prstGeom prst="roundRect">
            <a:avLst>
              <a:gd name="adj" fmla="val 14286"/>
            </a:avLst>
          </a:prstGeom>
          <a:solidFill>
            <a:srgbClr val="163A70"/>
          </a:solidFill>
          <a:ln/>
        </p:spPr>
      </p:sp>
      <p:sp>
        <p:nvSpPr>
          <p:cNvPr id="181" name="Text 176"/>
          <p:cNvSpPr/>
          <p:nvPr/>
        </p:nvSpPr>
        <p:spPr>
          <a:xfrm>
            <a:off x="20413980" y="23408640"/>
            <a:ext cx="6195060" cy="640080"/>
          </a:xfrm>
          <a:prstGeom prst="rect">
            <a:avLst/>
          </a:prstGeom>
          <a:noFill/>
          <a:ln/>
        </p:spPr>
        <p:txBody>
          <a:bodyPr wrap="square" lIns="0" tIns="0" rIns="0" bIns="0" rtlCol="0" anchor="ctr"/>
          <a:lstStyle/>
          <a:p>
            <a:pPr algn="ctr" indent="0" marL="0">
              <a:buNone/>
            </a:pPr>
            <a:r>
              <a:rPr lang="en-US" sz="2000" b="1" spc="140" kern="0" dirty="0">
                <a:solidFill>
                  <a:srgbClr val="FFFFFF"/>
                </a:solidFill>
                <a:latin typeface="Calibri" pitchFamily="34" charset="0"/>
                <a:ea typeface="Calibri" pitchFamily="34" charset="-122"/>
                <a:cs typeface="Calibri" pitchFamily="34" charset="-120"/>
              </a:rPr>
              <a:t>CONS</a:t>
            </a:r>
            <a:endParaRPr lang="en-US" sz="2000" dirty="0"/>
          </a:p>
        </p:txBody>
      </p:sp>
      <p:sp>
        <p:nvSpPr>
          <p:cNvPr id="182" name="Text 177"/>
          <p:cNvSpPr/>
          <p:nvPr/>
        </p:nvSpPr>
        <p:spPr>
          <a:xfrm>
            <a:off x="20651724" y="24176736"/>
            <a:ext cx="5774436" cy="3246120"/>
          </a:xfrm>
          <a:prstGeom prst="rect">
            <a:avLst/>
          </a:prstGeom>
          <a:noFill/>
          <a:ln/>
        </p:spPr>
        <p:txBody>
          <a:bodyPr wrap="square" lIns="0" tIns="0" rIns="0" bIns="0" rtlCol="0" anchor="t"/>
          <a:lstStyle/>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Physical Instability</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Drug Leakage</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Chemical Instability</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High Production Cost</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Scale-Up Difficulties</a:t>
            </a:r>
            <a:endParaRPr lang="en-US" sz="1700" dirty="0"/>
          </a:p>
          <a:p>
            <a:pPr marL="342900" indent="-342900">
              <a:spcAft>
                <a:spcPts val="1100"/>
              </a:spcAft>
              <a:buSzPct val="100000"/>
              <a:buChar char="✖"/>
            </a:pPr>
            <a:r>
              <a:rPr lang="en-US" sz="1700" dirty="0">
                <a:solidFill>
                  <a:srgbClr val="1E293B"/>
                </a:solidFill>
                <a:latin typeface="Calibri" pitchFamily="34" charset="0"/>
                <a:ea typeface="Calibri" pitchFamily="34" charset="-122"/>
                <a:cs typeface="Calibri" pitchFamily="34" charset="-120"/>
              </a:rPr>
              <a:t>Storage Limitations</a:t>
            </a:r>
            <a:endParaRPr lang="en-US" sz="1700" dirty="0"/>
          </a:p>
        </p:txBody>
      </p:sp>
      <p:sp>
        <p:nvSpPr>
          <p:cNvPr id="183" name="Shape 178"/>
          <p:cNvSpPr/>
          <p:nvPr/>
        </p:nvSpPr>
        <p:spPr>
          <a:xfrm>
            <a:off x="13962888" y="28149804"/>
            <a:ext cx="438912" cy="438912"/>
          </a:xfrm>
          <a:prstGeom prst="ellipse">
            <a:avLst/>
          </a:prstGeom>
          <a:ln w="25400">
            <a:solidFill>
              <a:srgbClr val="1FA6A6"/>
            </a:solidFill>
            <a:prstDash val="solid"/>
          </a:ln>
        </p:spPr>
      </p:sp>
      <p:sp>
        <p:nvSpPr>
          <p:cNvPr id="184" name="Shape 179"/>
          <p:cNvSpPr/>
          <p:nvPr/>
        </p:nvSpPr>
        <p:spPr>
          <a:xfrm>
            <a:off x="14055060" y="28241976"/>
            <a:ext cx="254569" cy="254569"/>
          </a:xfrm>
          <a:prstGeom prst="ellipse">
            <a:avLst/>
          </a:prstGeom>
          <a:ln w="21590">
            <a:solidFill>
              <a:srgbClr val="1FA6A6"/>
            </a:solidFill>
            <a:prstDash val="solid"/>
          </a:ln>
        </p:spPr>
      </p:sp>
      <p:sp>
        <p:nvSpPr>
          <p:cNvPr id="185" name="Shape 180"/>
          <p:cNvSpPr/>
          <p:nvPr/>
        </p:nvSpPr>
        <p:spPr>
          <a:xfrm>
            <a:off x="14129675" y="28316591"/>
            <a:ext cx="105339" cy="105339"/>
          </a:xfrm>
          <a:prstGeom prst="ellipse">
            <a:avLst/>
          </a:prstGeom>
          <a:solidFill>
            <a:srgbClr val="1FA6A6"/>
          </a:solidFill>
          <a:ln/>
        </p:spPr>
      </p:sp>
      <p:sp>
        <p:nvSpPr>
          <p:cNvPr id="186" name="Text 181"/>
          <p:cNvSpPr/>
          <p:nvPr/>
        </p:nvSpPr>
        <p:spPr>
          <a:xfrm>
            <a:off x="14511528" y="27980640"/>
            <a:ext cx="12097512" cy="777240"/>
          </a:xfrm>
          <a:prstGeom prst="rect">
            <a:avLst/>
          </a:prstGeom>
          <a:noFill/>
          <a:ln/>
        </p:spPr>
        <p:txBody>
          <a:bodyPr wrap="square" lIns="0" tIns="0" rIns="0" bIns="0" rtlCol="0" anchor="ctr"/>
          <a:lstStyle/>
          <a:p>
            <a:pPr indent="0" marL="0">
              <a:buNone/>
            </a:pPr>
            <a:r>
              <a:rPr lang="en-US" sz="2500" b="1" spc="150" kern="0" dirty="0">
                <a:solidFill>
                  <a:srgbClr val="163A70"/>
                </a:solidFill>
                <a:latin typeface="Calibri" pitchFamily="34" charset="0"/>
                <a:ea typeface="Calibri" pitchFamily="34" charset="-122"/>
                <a:cs typeface="Calibri" pitchFamily="34" charset="-120"/>
              </a:rPr>
              <a:t>ANALYTICAL TECHNIQUES</a:t>
            </a:r>
            <a:endParaRPr lang="en-US" sz="2500" dirty="0"/>
          </a:p>
        </p:txBody>
      </p:sp>
      <p:sp>
        <p:nvSpPr>
          <p:cNvPr id="187" name="Text 182"/>
          <p:cNvSpPr/>
          <p:nvPr/>
        </p:nvSpPr>
        <p:spPr>
          <a:xfrm>
            <a:off x="13944600" y="28757880"/>
            <a:ext cx="12664440" cy="457200"/>
          </a:xfrm>
          <a:prstGeom prst="rect">
            <a:avLst/>
          </a:prstGeom>
          <a:noFill/>
          <a:ln/>
        </p:spPr>
        <p:txBody>
          <a:bodyPr wrap="square" lIns="0" tIns="0" rIns="0" bIns="0" rtlCol="0" anchor="ctr"/>
          <a:lstStyle/>
          <a:p>
            <a:pPr indent="0" marL="0">
              <a:buNone/>
            </a:pPr>
            <a:r>
              <a:rPr lang="en-US" sz="1500" b="1" i="1" dirty="0">
                <a:solidFill>
                  <a:srgbClr val="5A6B82"/>
                </a:solidFill>
                <a:latin typeface="Calibri" pitchFamily="34" charset="0"/>
                <a:ea typeface="Calibri" pitchFamily="34" charset="-122"/>
                <a:cs typeface="Calibri" pitchFamily="34" charset="-120"/>
              </a:rPr>
              <a:t>Table 1: Different analytic techniques are used for the assessment of liposomes.</a:t>
            </a:r>
            <a:endParaRPr lang="en-US" sz="15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3944600" y="29215080"/>
          <a:ext cx="12664440" cy="914400"/>
        </p:xfrm>
        <a:graphic>
          <a:graphicData uri="http://schemas.openxmlformats.org/drawingml/2006/table">
            <a:tbl>
              <a:tblPr/>
              <a:tblGrid>
                <a:gridCol w="3977640"/>
                <a:gridCol w="8686800"/>
              </a:tblGrid>
              <a:tr h="6309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Evaluation Test</a:t>
                      </a:r>
                      <a:endParaRPr lang="en-US" sz="16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163A7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Analytical Techniques</a:t>
                      </a:r>
                      <a:endParaRPr lang="en-US" sz="16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163A70"/>
                    </a:solidFill>
                  </a:tcPr>
                </a:tc>
              </a:tr>
              <a:tr h="630936">
                <a:tc>
                  <a:txBody>
                    <a:bodyPr/>
                    <a:lstStyle/>
                    <a:p>
                      <a:pPr indent="0" marL="0">
                        <a:buNone/>
                      </a:pPr>
                      <a:r>
                        <a:rPr lang="en-US" sz="1500" b="1" dirty="0">
                          <a:solidFill>
                            <a:srgbClr val="163A70"/>
                          </a:solidFill>
                          <a:latin typeface="Calibri" pitchFamily="34" charset="0"/>
                          <a:ea typeface="Calibri" pitchFamily="34" charset="-122"/>
                          <a:cs typeface="Calibri" pitchFamily="34" charset="-120"/>
                        </a:rPr>
                        <a:t>Particle Shape</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Calibri" pitchFamily="34" charset="0"/>
                          <a:ea typeface="Calibri" pitchFamily="34" charset="-122"/>
                          <a:cs typeface="Calibri" pitchFamily="34" charset="-120"/>
                        </a:rPr>
                        <a:t>TEM (Transmission Electron Microscopy), AFM, Cryo-TEM</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r>
              <a:tr h="630936">
                <a:tc>
                  <a:txBody>
                    <a:bodyPr/>
                    <a:lstStyle/>
                    <a:p>
                      <a:pPr indent="0" marL="0">
                        <a:buNone/>
                      </a:pPr>
                      <a:r>
                        <a:rPr lang="en-US" sz="1500" b="1" dirty="0">
                          <a:solidFill>
                            <a:srgbClr val="163A70"/>
                          </a:solidFill>
                          <a:latin typeface="Calibri" pitchFamily="34" charset="0"/>
                          <a:ea typeface="Calibri" pitchFamily="34" charset="-122"/>
                          <a:cs typeface="Calibri" pitchFamily="34" charset="-120"/>
                        </a:rPr>
                        <a:t>Particle Size</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5F7FA"/>
                    </a:solidFill>
                  </a:tcPr>
                </a:tc>
                <a:tc>
                  <a:txBody>
                    <a:bodyPr/>
                    <a:lstStyle/>
                    <a:p>
                      <a:pPr indent="0" marL="0">
                        <a:buNone/>
                      </a:pPr>
                      <a:r>
                        <a:rPr lang="en-US" sz="1500" dirty="0">
                          <a:solidFill>
                            <a:srgbClr val="1E293B"/>
                          </a:solidFill>
                          <a:latin typeface="Calibri" pitchFamily="34" charset="0"/>
                          <a:ea typeface="Calibri" pitchFamily="34" charset="-122"/>
                          <a:cs typeface="Calibri" pitchFamily="34" charset="-120"/>
                        </a:rPr>
                        <a:t>AFM, TEM</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5F7FA"/>
                    </a:solidFill>
                  </a:tcPr>
                </a:tc>
              </a:tr>
              <a:tr h="630936">
                <a:tc>
                  <a:txBody>
                    <a:bodyPr/>
                    <a:lstStyle/>
                    <a:p>
                      <a:pPr indent="0" marL="0">
                        <a:buNone/>
                      </a:pPr>
                      <a:r>
                        <a:rPr lang="en-US" sz="1500" b="1" dirty="0">
                          <a:solidFill>
                            <a:srgbClr val="163A70"/>
                          </a:solidFill>
                          <a:latin typeface="Calibri" pitchFamily="34" charset="0"/>
                          <a:ea typeface="Calibri" pitchFamily="34" charset="-122"/>
                          <a:cs typeface="Calibri" pitchFamily="34" charset="-120"/>
                        </a:rPr>
                        <a:t>Zeta Potential</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Calibri" pitchFamily="34" charset="0"/>
                          <a:ea typeface="Calibri" pitchFamily="34" charset="-122"/>
                          <a:cs typeface="Calibri" pitchFamily="34" charset="-120"/>
                        </a:rPr>
                        <a:t>Laser Doppler Electrophoresis (LDE), Capillary Electrophoresis</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r>
              <a:tr h="630936">
                <a:tc>
                  <a:txBody>
                    <a:bodyPr/>
                    <a:lstStyle/>
                    <a:p>
                      <a:pPr indent="0" marL="0">
                        <a:buNone/>
                      </a:pPr>
                      <a:r>
                        <a:rPr lang="en-US" sz="1500" b="1" dirty="0">
                          <a:solidFill>
                            <a:srgbClr val="163A70"/>
                          </a:solidFill>
                          <a:latin typeface="Calibri" pitchFamily="34" charset="0"/>
                          <a:ea typeface="Calibri" pitchFamily="34" charset="-122"/>
                          <a:cs typeface="Calibri" pitchFamily="34" charset="-120"/>
                        </a:rPr>
                        <a:t>Lamellarity</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5F7FA"/>
                    </a:solidFill>
                  </a:tcPr>
                </a:tc>
                <a:tc>
                  <a:txBody>
                    <a:bodyPr/>
                    <a:lstStyle/>
                    <a:p>
                      <a:pPr indent="0" marL="0">
                        <a:buNone/>
                      </a:pPr>
                      <a:r>
                        <a:rPr lang="en-US" sz="1500" dirty="0">
                          <a:solidFill>
                            <a:srgbClr val="1E293B"/>
                          </a:solidFill>
                          <a:latin typeface="Calibri" pitchFamily="34" charset="0"/>
                          <a:ea typeface="Calibri" pitchFamily="34" charset="-122"/>
                          <a:cs typeface="Calibri" pitchFamily="34" charset="-120"/>
                        </a:rPr>
                        <a:t>Cryo-TEM</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5F7FA"/>
                    </a:solidFill>
                  </a:tcPr>
                </a:tc>
              </a:tr>
              <a:tr h="630936">
                <a:tc>
                  <a:txBody>
                    <a:bodyPr/>
                    <a:lstStyle/>
                    <a:p>
                      <a:pPr indent="0" marL="0">
                        <a:buNone/>
                      </a:pPr>
                      <a:r>
                        <a:rPr lang="en-US" sz="1500" b="1" dirty="0">
                          <a:solidFill>
                            <a:srgbClr val="163A70"/>
                          </a:solidFill>
                          <a:latin typeface="Calibri" pitchFamily="34" charset="0"/>
                          <a:ea typeface="Calibri" pitchFamily="34" charset="-122"/>
                          <a:cs typeface="Calibri" pitchFamily="34" charset="-120"/>
                        </a:rPr>
                        <a:t>Phase Behavior</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Calibri" pitchFamily="34" charset="0"/>
                          <a:ea typeface="Calibri" pitchFamily="34" charset="-122"/>
                          <a:cs typeface="Calibri" pitchFamily="34" charset="-120"/>
                        </a:rPr>
                        <a:t>DSC, TGA, Fluorescence Probe Polarization, NMR, FTIR, XRD</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r>
              <a:tr h="630936">
                <a:tc>
                  <a:txBody>
                    <a:bodyPr/>
                    <a:lstStyle/>
                    <a:p>
                      <a:pPr indent="0" marL="0">
                        <a:buNone/>
                      </a:pPr>
                      <a:r>
                        <a:rPr lang="en-US" sz="1500" b="1" dirty="0">
                          <a:solidFill>
                            <a:srgbClr val="163A70"/>
                          </a:solidFill>
                          <a:latin typeface="Calibri" pitchFamily="34" charset="0"/>
                          <a:ea typeface="Calibri" pitchFamily="34" charset="-122"/>
                          <a:cs typeface="Calibri" pitchFamily="34" charset="-120"/>
                        </a:rPr>
                        <a:t>Entrapment Efficiency</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5F7FA"/>
                    </a:solidFill>
                  </a:tcPr>
                </a:tc>
                <a:tc>
                  <a:txBody>
                    <a:bodyPr/>
                    <a:lstStyle/>
                    <a:p>
                      <a:pPr indent="0" marL="0">
                        <a:buNone/>
                      </a:pPr>
                      <a:r>
                        <a:rPr lang="en-US" sz="1500" dirty="0">
                          <a:solidFill>
                            <a:srgbClr val="1E293B"/>
                          </a:solidFill>
                          <a:latin typeface="Calibri" pitchFamily="34" charset="0"/>
                          <a:ea typeface="Calibri" pitchFamily="34" charset="-122"/>
                          <a:cs typeface="Calibri" pitchFamily="34" charset="-120"/>
                        </a:rPr>
                        <a:t>HPLC, UPLC, LC-MS</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5F7FA"/>
                    </a:solidFill>
                  </a:tcPr>
                </a:tc>
              </a:tr>
              <a:tr h="630936">
                <a:tc>
                  <a:txBody>
                    <a:bodyPr/>
                    <a:lstStyle/>
                    <a:p>
                      <a:pPr indent="0" marL="0">
                        <a:buNone/>
                      </a:pPr>
                      <a:r>
                        <a:rPr lang="en-US" sz="1500" b="1" dirty="0">
                          <a:solidFill>
                            <a:srgbClr val="163A70"/>
                          </a:solidFill>
                          <a:latin typeface="Calibri" pitchFamily="34" charset="0"/>
                          <a:ea typeface="Calibri" pitchFamily="34" charset="-122"/>
                          <a:cs typeface="Calibri" pitchFamily="34" charset="-120"/>
                        </a:rPr>
                        <a:t>In vivo Release</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c>
                  <a:txBody>
                    <a:bodyPr/>
                    <a:lstStyle/>
                    <a:p>
                      <a:pPr indent="0" marL="0">
                        <a:buNone/>
                      </a:pPr>
                      <a:r>
                        <a:rPr lang="en-US" sz="1500" dirty="0">
                          <a:solidFill>
                            <a:srgbClr val="1E293B"/>
                          </a:solidFill>
                          <a:latin typeface="Calibri" pitchFamily="34" charset="0"/>
                          <a:ea typeface="Calibri" pitchFamily="34" charset="-122"/>
                          <a:cs typeface="Calibri" pitchFamily="34" charset="-120"/>
                        </a:rPr>
                        <a:t>HPLC, UPLC</a:t>
                      </a:r>
                      <a:endParaRPr lang="en-US" sz="1500" dirty="0">
                        <a:latin typeface="Calibri" charset="0"/>
                        <a:ea typeface="Calibri" charset="0"/>
                        <a:cs typeface="Calibri" charset="0"/>
                      </a:endParaRPr>
                    </a:p>
                  </a:txBody>
                  <a:tcPr marL="76200" marR="76200" marT="50800" marB="50800" anchor="ctr">
                    <a:lnL w="9525" cap="flat" cmpd="sng" algn="ctr">
                      <a:solidFill>
                        <a:srgbClr val="D9E1EC"/>
                      </a:solidFill>
                      <a:prstDash val="solid"/>
                      <a:round/>
                      <a:headEnd type="none" w="med" len="med"/>
                      <a:tailEnd type="none" w="med" len="med"/>
                    </a:lnL>
                    <a:lnR w="9525" cap="flat" cmpd="sng" algn="ctr">
                      <a:solidFill>
                        <a:srgbClr val="D9E1EC"/>
                      </a:solidFill>
                      <a:prstDash val="solid"/>
                      <a:round/>
                      <a:headEnd type="none" w="med" len="med"/>
                      <a:tailEnd type="none" w="med" len="med"/>
                    </a:lnR>
                    <a:lnT w="9525" cap="flat" cmpd="sng" algn="ctr">
                      <a:solidFill>
                        <a:srgbClr val="D9E1EC"/>
                      </a:solidFill>
                      <a:prstDash val="solid"/>
                      <a:round/>
                      <a:headEnd type="none" w="med" len="med"/>
                      <a:tailEnd type="none" w="med" len="med"/>
                    </a:lnT>
                    <a:lnB w="9525" cap="flat" cmpd="sng" algn="ctr">
                      <a:solidFill>
                        <a:srgbClr val="D9E1EC"/>
                      </a:solidFill>
                      <a:prstDash val="solid"/>
                      <a:round/>
                      <a:headEnd type="none" w="med" len="med"/>
                      <a:tailEnd type="none" w="med" len="med"/>
                    </a:lnB>
                    <a:solidFill>
                      <a:srgbClr val="FFFFFF"/>
                    </a:solidFill>
                  </a:tcPr>
                </a:tc>
              </a:tr>
            </a:tbl>
          </a:graphicData>
        </a:graphic>
      </p:graphicFrame>
      <p:sp>
        <p:nvSpPr>
          <p:cNvPr id="189" name="Shape 183"/>
          <p:cNvSpPr/>
          <p:nvPr/>
        </p:nvSpPr>
        <p:spPr>
          <a:xfrm>
            <a:off x="841248" y="34870644"/>
            <a:ext cx="438912" cy="438912"/>
          </a:xfrm>
          <a:prstGeom prst="ellipse">
            <a:avLst/>
          </a:prstGeom>
          <a:ln w="25400">
            <a:solidFill>
              <a:srgbClr val="1FA6A6"/>
            </a:solidFill>
            <a:prstDash val="solid"/>
          </a:ln>
        </p:spPr>
      </p:sp>
      <p:sp>
        <p:nvSpPr>
          <p:cNvPr id="190" name="Shape 184"/>
          <p:cNvSpPr/>
          <p:nvPr/>
        </p:nvSpPr>
        <p:spPr>
          <a:xfrm>
            <a:off x="933420" y="34962816"/>
            <a:ext cx="254569" cy="254569"/>
          </a:xfrm>
          <a:prstGeom prst="ellipse">
            <a:avLst/>
          </a:prstGeom>
          <a:ln w="21590">
            <a:solidFill>
              <a:srgbClr val="1FA6A6"/>
            </a:solidFill>
            <a:prstDash val="solid"/>
          </a:ln>
        </p:spPr>
      </p:sp>
      <p:sp>
        <p:nvSpPr>
          <p:cNvPr id="191" name="Shape 185"/>
          <p:cNvSpPr/>
          <p:nvPr/>
        </p:nvSpPr>
        <p:spPr>
          <a:xfrm>
            <a:off x="1008035" y="35037431"/>
            <a:ext cx="105339" cy="105339"/>
          </a:xfrm>
          <a:prstGeom prst="ellipse">
            <a:avLst/>
          </a:prstGeom>
          <a:solidFill>
            <a:srgbClr val="1FA6A6"/>
          </a:solidFill>
          <a:ln/>
        </p:spPr>
      </p:sp>
      <p:sp>
        <p:nvSpPr>
          <p:cNvPr id="192" name="Text 186"/>
          <p:cNvSpPr/>
          <p:nvPr/>
        </p:nvSpPr>
        <p:spPr>
          <a:xfrm>
            <a:off x="1389888" y="34701480"/>
            <a:ext cx="16471392" cy="777240"/>
          </a:xfrm>
          <a:prstGeom prst="rect">
            <a:avLst/>
          </a:prstGeom>
          <a:noFill/>
          <a:ln/>
        </p:spPr>
        <p:txBody>
          <a:bodyPr wrap="square" lIns="0" tIns="0" rIns="0" bIns="0" rtlCol="0" anchor="ctr"/>
          <a:lstStyle/>
          <a:p>
            <a:pPr indent="0" marL="0">
              <a:buNone/>
            </a:pPr>
            <a:r>
              <a:rPr lang="en-US" sz="2500" b="1" spc="150" kern="0" dirty="0">
                <a:solidFill>
                  <a:srgbClr val="163A70"/>
                </a:solidFill>
                <a:latin typeface="Calibri" pitchFamily="34" charset="0"/>
                <a:ea typeface="Calibri" pitchFamily="34" charset="-122"/>
                <a:cs typeface="Calibri" pitchFamily="34" charset="-120"/>
              </a:rPr>
              <a:t>RESULTS</a:t>
            </a:r>
            <a:endParaRPr lang="en-US" sz="2500" dirty="0"/>
          </a:p>
        </p:txBody>
      </p:sp>
      <p:sp>
        <p:nvSpPr>
          <p:cNvPr id="193" name="Shape 187"/>
          <p:cNvSpPr/>
          <p:nvPr/>
        </p:nvSpPr>
        <p:spPr>
          <a:xfrm>
            <a:off x="822960" y="35478720"/>
            <a:ext cx="17038320" cy="4297680"/>
          </a:xfrm>
          <a:prstGeom prst="roundRect">
            <a:avLst>
              <a:gd name="adj" fmla="val 2128"/>
            </a:avLst>
          </a:prstGeom>
          <a:solidFill>
            <a:srgbClr val="F5F7FA"/>
          </a:solidFill>
          <a:ln w="9525">
            <a:solidFill>
              <a:srgbClr val="D9E1EC"/>
            </a:solidFill>
            <a:prstDash val="solid"/>
          </a:ln>
        </p:spPr>
      </p:sp>
      <p:sp>
        <p:nvSpPr>
          <p:cNvPr id="194" name="Text 188"/>
          <p:cNvSpPr/>
          <p:nvPr/>
        </p:nvSpPr>
        <p:spPr>
          <a:xfrm>
            <a:off x="1207008" y="35716464"/>
            <a:ext cx="16270224" cy="1143000"/>
          </a:xfrm>
          <a:prstGeom prst="rect">
            <a:avLst/>
          </a:prstGeom>
          <a:noFill/>
          <a:ln/>
        </p:spPr>
        <p:txBody>
          <a:bodyPr wrap="square" lIns="0" tIns="0" rIns="0" bIns="0" rtlCol="0" anchor="t"/>
          <a:lstStyle/>
          <a:p>
            <a:pPr indent="0" marL="0">
              <a:lnSpc>
                <a:spcPct val="105000"/>
              </a:lnSpc>
              <a:buNone/>
            </a:pPr>
            <a:r>
              <a:rPr lang="en-US" sz="2000" dirty="0">
                <a:solidFill>
                  <a:srgbClr val="1E293B"/>
                </a:solidFill>
                <a:latin typeface="Calibri" pitchFamily="34" charset="0"/>
                <a:ea typeface="Calibri" pitchFamily="34" charset="-122"/>
                <a:cs typeface="Calibri" pitchFamily="34" charset="-120"/>
              </a:rPr>
              <a:t>Liposomes technology is an evolving and versatile drug-delivery platform, with continued advances in targeting, surface modification, stimuli-responsive delivery, and formulation optimization supporting its future role in precision medicine.</a:t>
            </a:r>
            <a:endParaRPr lang="en-US" sz="2000" dirty="0"/>
          </a:p>
        </p:txBody>
      </p:sp>
      <p:sp>
        <p:nvSpPr>
          <p:cNvPr id="195" name="Shape 189"/>
          <p:cNvSpPr/>
          <p:nvPr/>
        </p:nvSpPr>
        <p:spPr>
          <a:xfrm>
            <a:off x="1207008" y="36960048"/>
            <a:ext cx="3093110" cy="2560320"/>
          </a:xfrm>
          <a:prstGeom prst="roundRect">
            <a:avLst>
              <a:gd name="adj" fmla="val 2857"/>
            </a:avLst>
          </a:prstGeom>
          <a:solidFill>
            <a:srgbClr val="FFFFFF"/>
          </a:solidFill>
          <a:ln w="9525">
            <a:solidFill>
              <a:srgbClr val="D9E1EC"/>
            </a:solidFill>
            <a:prstDash val="solid"/>
          </a:ln>
        </p:spPr>
      </p:sp>
      <p:sp>
        <p:nvSpPr>
          <p:cNvPr id="196" name="Shape 190"/>
          <p:cNvSpPr/>
          <p:nvPr/>
        </p:nvSpPr>
        <p:spPr>
          <a:xfrm>
            <a:off x="2506675" y="37563552"/>
            <a:ext cx="493776" cy="493776"/>
          </a:xfrm>
          <a:prstGeom prst="ellipse">
            <a:avLst/>
          </a:prstGeom>
          <a:solidFill>
            <a:srgbClr val="1FA6A6"/>
          </a:solidFill>
          <a:ln/>
        </p:spPr>
      </p:sp>
      <p:sp>
        <p:nvSpPr>
          <p:cNvPr id="197" name="Text 191"/>
          <p:cNvSpPr/>
          <p:nvPr/>
        </p:nvSpPr>
        <p:spPr>
          <a:xfrm>
            <a:off x="2506675" y="375635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98" name="Text 192"/>
          <p:cNvSpPr/>
          <p:nvPr/>
        </p:nvSpPr>
        <p:spPr>
          <a:xfrm>
            <a:off x="1298448" y="38203632"/>
            <a:ext cx="2910230" cy="713232"/>
          </a:xfrm>
          <a:prstGeom prst="rect">
            <a:avLst/>
          </a:prstGeom>
          <a:noFill/>
          <a:ln/>
        </p:spPr>
        <p:txBody>
          <a:bodyPr wrap="square" lIns="0" tIns="0" rIns="0" bIns="0" rtlCol="0" anchor="t"/>
          <a:lstStyle/>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Precision</a:t>
            </a:r>
            <a:endParaRPr lang="en-US" sz="1600" dirty="0"/>
          </a:p>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medicine benefits</a:t>
            </a:r>
            <a:endParaRPr lang="en-US" sz="1600" dirty="0"/>
          </a:p>
        </p:txBody>
      </p:sp>
      <p:sp>
        <p:nvSpPr>
          <p:cNvPr id="199" name="Shape 193"/>
          <p:cNvSpPr/>
          <p:nvPr/>
        </p:nvSpPr>
        <p:spPr>
          <a:xfrm>
            <a:off x="4501286" y="36960048"/>
            <a:ext cx="3093110" cy="2560320"/>
          </a:xfrm>
          <a:prstGeom prst="roundRect">
            <a:avLst>
              <a:gd name="adj" fmla="val 2857"/>
            </a:avLst>
          </a:prstGeom>
          <a:solidFill>
            <a:srgbClr val="FFFFFF"/>
          </a:solidFill>
          <a:ln w="9525">
            <a:solidFill>
              <a:srgbClr val="D9E1EC"/>
            </a:solidFill>
            <a:prstDash val="solid"/>
          </a:ln>
        </p:spPr>
      </p:sp>
      <p:sp>
        <p:nvSpPr>
          <p:cNvPr id="200" name="Shape 194"/>
          <p:cNvSpPr/>
          <p:nvPr/>
        </p:nvSpPr>
        <p:spPr>
          <a:xfrm>
            <a:off x="5800954" y="37563552"/>
            <a:ext cx="493776" cy="493776"/>
          </a:xfrm>
          <a:prstGeom prst="ellipse">
            <a:avLst/>
          </a:prstGeom>
          <a:solidFill>
            <a:srgbClr val="163A70"/>
          </a:solidFill>
          <a:ln/>
        </p:spPr>
      </p:sp>
      <p:sp>
        <p:nvSpPr>
          <p:cNvPr id="201" name="Text 195"/>
          <p:cNvSpPr/>
          <p:nvPr/>
        </p:nvSpPr>
        <p:spPr>
          <a:xfrm>
            <a:off x="5800954" y="375635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202" name="Text 196"/>
          <p:cNvSpPr/>
          <p:nvPr/>
        </p:nvSpPr>
        <p:spPr>
          <a:xfrm>
            <a:off x="4592726" y="38203632"/>
            <a:ext cx="2910230" cy="713232"/>
          </a:xfrm>
          <a:prstGeom prst="rect">
            <a:avLst/>
          </a:prstGeom>
          <a:noFill/>
          <a:ln/>
        </p:spPr>
        <p:txBody>
          <a:bodyPr wrap="square" lIns="0" tIns="0" rIns="0" bIns="0" rtlCol="0" anchor="t"/>
          <a:lstStyle/>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Enhanced</a:t>
            </a:r>
            <a:endParaRPr lang="en-US" sz="1600" dirty="0"/>
          </a:p>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targeting</a:t>
            </a:r>
            <a:endParaRPr lang="en-US" sz="1600" dirty="0"/>
          </a:p>
        </p:txBody>
      </p:sp>
      <p:sp>
        <p:nvSpPr>
          <p:cNvPr id="203" name="Shape 197"/>
          <p:cNvSpPr/>
          <p:nvPr/>
        </p:nvSpPr>
        <p:spPr>
          <a:xfrm>
            <a:off x="7795565" y="36960048"/>
            <a:ext cx="3093110" cy="2560320"/>
          </a:xfrm>
          <a:prstGeom prst="roundRect">
            <a:avLst>
              <a:gd name="adj" fmla="val 2857"/>
            </a:avLst>
          </a:prstGeom>
          <a:solidFill>
            <a:srgbClr val="FFFFFF"/>
          </a:solidFill>
          <a:ln w="9525">
            <a:solidFill>
              <a:srgbClr val="D9E1EC"/>
            </a:solidFill>
            <a:prstDash val="solid"/>
          </a:ln>
        </p:spPr>
      </p:sp>
      <p:sp>
        <p:nvSpPr>
          <p:cNvPr id="204" name="Shape 198"/>
          <p:cNvSpPr/>
          <p:nvPr/>
        </p:nvSpPr>
        <p:spPr>
          <a:xfrm>
            <a:off x="9095232" y="37563552"/>
            <a:ext cx="493776" cy="493776"/>
          </a:xfrm>
          <a:prstGeom prst="ellipse">
            <a:avLst/>
          </a:prstGeom>
          <a:solidFill>
            <a:srgbClr val="4E7BFF"/>
          </a:solidFill>
          <a:ln/>
        </p:spPr>
      </p:sp>
      <p:sp>
        <p:nvSpPr>
          <p:cNvPr id="205" name="Text 199"/>
          <p:cNvSpPr/>
          <p:nvPr/>
        </p:nvSpPr>
        <p:spPr>
          <a:xfrm>
            <a:off x="9095232" y="375635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06" name="Text 200"/>
          <p:cNvSpPr/>
          <p:nvPr/>
        </p:nvSpPr>
        <p:spPr>
          <a:xfrm>
            <a:off x="7887005" y="38203632"/>
            <a:ext cx="2910230" cy="713232"/>
          </a:xfrm>
          <a:prstGeom prst="rect">
            <a:avLst/>
          </a:prstGeom>
          <a:noFill/>
          <a:ln/>
        </p:spPr>
        <p:txBody>
          <a:bodyPr wrap="square" lIns="0" tIns="0" rIns="0" bIns="0" rtlCol="0" anchor="t"/>
          <a:lstStyle/>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Surface modification</a:t>
            </a:r>
            <a:endParaRPr lang="en-US" sz="1600" dirty="0"/>
          </a:p>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advantages</a:t>
            </a:r>
            <a:endParaRPr lang="en-US" sz="1600" dirty="0"/>
          </a:p>
        </p:txBody>
      </p:sp>
      <p:sp>
        <p:nvSpPr>
          <p:cNvPr id="207" name="Shape 201"/>
          <p:cNvSpPr/>
          <p:nvPr/>
        </p:nvSpPr>
        <p:spPr>
          <a:xfrm>
            <a:off x="11089843" y="36960048"/>
            <a:ext cx="3093110" cy="2560320"/>
          </a:xfrm>
          <a:prstGeom prst="roundRect">
            <a:avLst>
              <a:gd name="adj" fmla="val 2857"/>
            </a:avLst>
          </a:prstGeom>
          <a:solidFill>
            <a:srgbClr val="FFFFFF"/>
          </a:solidFill>
          <a:ln w="9525">
            <a:solidFill>
              <a:srgbClr val="D9E1EC"/>
            </a:solidFill>
            <a:prstDash val="solid"/>
          </a:ln>
        </p:spPr>
      </p:sp>
      <p:sp>
        <p:nvSpPr>
          <p:cNvPr id="208" name="Shape 202"/>
          <p:cNvSpPr/>
          <p:nvPr/>
        </p:nvSpPr>
        <p:spPr>
          <a:xfrm>
            <a:off x="12389510" y="37563552"/>
            <a:ext cx="493776" cy="493776"/>
          </a:xfrm>
          <a:prstGeom prst="ellipse">
            <a:avLst/>
          </a:prstGeom>
          <a:solidFill>
            <a:srgbClr val="137E7E"/>
          </a:solidFill>
          <a:ln/>
        </p:spPr>
      </p:sp>
      <p:sp>
        <p:nvSpPr>
          <p:cNvPr id="209" name="Text 203"/>
          <p:cNvSpPr/>
          <p:nvPr/>
        </p:nvSpPr>
        <p:spPr>
          <a:xfrm>
            <a:off x="12389510" y="375635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10" name="Text 204"/>
          <p:cNvSpPr/>
          <p:nvPr/>
        </p:nvSpPr>
        <p:spPr>
          <a:xfrm>
            <a:off x="11181283" y="38203632"/>
            <a:ext cx="2910230" cy="713232"/>
          </a:xfrm>
          <a:prstGeom prst="rect">
            <a:avLst/>
          </a:prstGeom>
          <a:noFill/>
          <a:ln/>
        </p:spPr>
        <p:txBody>
          <a:bodyPr wrap="square" lIns="0" tIns="0" rIns="0" bIns="0" rtlCol="0" anchor="t"/>
          <a:lstStyle/>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Stimuli-responsive</a:t>
            </a:r>
            <a:endParaRPr lang="en-US" sz="1600" dirty="0"/>
          </a:p>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delivery</a:t>
            </a:r>
            <a:endParaRPr lang="en-US" sz="1600" dirty="0"/>
          </a:p>
        </p:txBody>
      </p:sp>
      <p:sp>
        <p:nvSpPr>
          <p:cNvPr id="211" name="Shape 205"/>
          <p:cNvSpPr/>
          <p:nvPr/>
        </p:nvSpPr>
        <p:spPr>
          <a:xfrm>
            <a:off x="14384122" y="36960048"/>
            <a:ext cx="3093110" cy="2560320"/>
          </a:xfrm>
          <a:prstGeom prst="roundRect">
            <a:avLst>
              <a:gd name="adj" fmla="val 2857"/>
            </a:avLst>
          </a:prstGeom>
          <a:solidFill>
            <a:srgbClr val="FFFFFF"/>
          </a:solidFill>
          <a:ln w="9525">
            <a:solidFill>
              <a:srgbClr val="D9E1EC"/>
            </a:solidFill>
            <a:prstDash val="solid"/>
          </a:ln>
        </p:spPr>
      </p:sp>
      <p:sp>
        <p:nvSpPr>
          <p:cNvPr id="212" name="Shape 206"/>
          <p:cNvSpPr/>
          <p:nvPr/>
        </p:nvSpPr>
        <p:spPr>
          <a:xfrm>
            <a:off x="15683789" y="37563552"/>
            <a:ext cx="493776" cy="493776"/>
          </a:xfrm>
          <a:prstGeom prst="ellipse">
            <a:avLst/>
          </a:prstGeom>
          <a:solidFill>
            <a:srgbClr val="22508F"/>
          </a:solidFill>
          <a:ln/>
        </p:spPr>
      </p:sp>
      <p:sp>
        <p:nvSpPr>
          <p:cNvPr id="213" name="Text 207"/>
          <p:cNvSpPr/>
          <p:nvPr/>
        </p:nvSpPr>
        <p:spPr>
          <a:xfrm>
            <a:off x="15683789" y="3756355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214" name="Text 208"/>
          <p:cNvSpPr/>
          <p:nvPr/>
        </p:nvSpPr>
        <p:spPr>
          <a:xfrm>
            <a:off x="14475562" y="38203632"/>
            <a:ext cx="2910230" cy="713232"/>
          </a:xfrm>
          <a:prstGeom prst="rect">
            <a:avLst/>
          </a:prstGeom>
          <a:noFill/>
          <a:ln/>
        </p:spPr>
        <p:txBody>
          <a:bodyPr wrap="square" lIns="0" tIns="0" rIns="0" bIns="0" rtlCol="0" anchor="t"/>
          <a:lstStyle/>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Clinical</a:t>
            </a:r>
            <a:endParaRPr lang="en-US" sz="1600" dirty="0"/>
          </a:p>
          <a:p>
            <a:pPr algn="ctr" indent="0" marL="0">
              <a:lnSpc>
                <a:spcPct val="95000"/>
              </a:lnSpc>
              <a:buNone/>
            </a:pPr>
            <a:r>
              <a:rPr lang="en-US" sz="1600" b="1" dirty="0">
                <a:solidFill>
                  <a:srgbClr val="163A70"/>
                </a:solidFill>
                <a:latin typeface="Calibri" pitchFamily="34" charset="0"/>
                <a:ea typeface="Calibri" pitchFamily="34" charset="-122"/>
                <a:cs typeface="Calibri" pitchFamily="34" charset="-120"/>
              </a:rPr>
              <a:t>impact</a:t>
            </a:r>
            <a:endParaRPr lang="en-US" sz="1600" dirty="0"/>
          </a:p>
        </p:txBody>
      </p:sp>
      <p:sp>
        <p:nvSpPr>
          <p:cNvPr id="215" name="Shape 209"/>
          <p:cNvSpPr/>
          <p:nvPr/>
        </p:nvSpPr>
        <p:spPr>
          <a:xfrm>
            <a:off x="18318480" y="34701480"/>
            <a:ext cx="8290560" cy="5074920"/>
          </a:xfrm>
          <a:prstGeom prst="roundRect">
            <a:avLst>
              <a:gd name="adj" fmla="val 1802"/>
            </a:avLst>
          </a:prstGeom>
          <a:solidFill>
            <a:srgbClr val="FFFFFF"/>
          </a:solidFill>
          <a:ln w="9525">
            <a:solidFill>
              <a:srgbClr val="D9E1EC"/>
            </a:solidFill>
            <a:prstDash val="solid"/>
          </a:ln>
        </p:spPr>
      </p:sp>
      <p:pic>
        <p:nvPicPr>
          <p:cNvPr id="216" name="Image 3" descr="lds.png">    </p:cNvPr>
          <p:cNvPicPr>
            <a:picLocks noChangeAspect="1"/>
          </p:cNvPicPr>
          <p:nvPr/>
        </p:nvPicPr>
        <p:blipFill>
          <a:blip r:embed="rId4"/>
          <a:stretch>
            <a:fillRect/>
          </a:stretch>
        </p:blipFill>
        <p:spPr>
          <a:xfrm>
            <a:off x="19090832" y="34975800"/>
            <a:ext cx="6745857" cy="4206240"/>
          </a:xfrm>
          <a:prstGeom prst="rect">
            <a:avLst/>
          </a:prstGeom>
        </p:spPr>
      </p:pic>
      <p:sp>
        <p:nvSpPr>
          <p:cNvPr id="217" name="Text 210"/>
          <p:cNvSpPr/>
          <p:nvPr/>
        </p:nvSpPr>
        <p:spPr>
          <a:xfrm>
            <a:off x="18501360" y="39300912"/>
            <a:ext cx="7924800" cy="402336"/>
          </a:xfrm>
          <a:prstGeom prst="rect">
            <a:avLst/>
          </a:prstGeom>
          <a:noFill/>
          <a:ln/>
        </p:spPr>
        <p:txBody>
          <a:bodyPr wrap="square" lIns="0" tIns="0" rIns="0" bIns="0" rtlCol="0" anchor="ctr"/>
          <a:lstStyle/>
          <a:p>
            <a:pPr algn="ctr" indent="0" marL="0">
              <a:buNone/>
            </a:pPr>
            <a:r>
              <a:rPr lang="en-US" sz="1400" i="1" dirty="0">
                <a:solidFill>
                  <a:srgbClr val="5A6B82"/>
                </a:solidFill>
                <a:latin typeface="Calibri" pitchFamily="34" charset="0"/>
                <a:ea typeface="Calibri" pitchFamily="34" charset="-122"/>
                <a:cs typeface="Calibri" pitchFamily="34" charset="-120"/>
              </a:rPr>
              <a:t>Fig. 3  Drug loading strategies, modes of action and surface engineering.</a:t>
            </a:r>
            <a:endParaRPr lang="en-US" sz="1400" dirty="0"/>
          </a:p>
        </p:txBody>
      </p:sp>
      <p:sp>
        <p:nvSpPr>
          <p:cNvPr id="218" name="Shape 211"/>
          <p:cNvSpPr/>
          <p:nvPr/>
        </p:nvSpPr>
        <p:spPr>
          <a:xfrm>
            <a:off x="822960" y="40187880"/>
            <a:ext cx="25786080" cy="1737360"/>
          </a:xfrm>
          <a:prstGeom prst="roundRect">
            <a:avLst>
              <a:gd name="adj" fmla="val 5263"/>
            </a:avLst>
          </a:prstGeom>
          <a:solidFill>
            <a:srgbClr val="163A70"/>
          </a:solidFill>
          <a:ln/>
        </p:spPr>
      </p:sp>
      <p:sp>
        <p:nvSpPr>
          <p:cNvPr id="219" name="Shape 212"/>
          <p:cNvSpPr/>
          <p:nvPr/>
        </p:nvSpPr>
        <p:spPr>
          <a:xfrm>
            <a:off x="1106424" y="40517064"/>
            <a:ext cx="438912" cy="438912"/>
          </a:xfrm>
          <a:prstGeom prst="ellipse">
            <a:avLst/>
          </a:prstGeom>
          <a:ln w="25400">
            <a:solidFill>
              <a:srgbClr val="1FA6A6"/>
            </a:solidFill>
            <a:prstDash val="solid"/>
          </a:ln>
        </p:spPr>
      </p:sp>
      <p:sp>
        <p:nvSpPr>
          <p:cNvPr id="220" name="Shape 213"/>
          <p:cNvSpPr/>
          <p:nvPr/>
        </p:nvSpPr>
        <p:spPr>
          <a:xfrm>
            <a:off x="1198596" y="40609236"/>
            <a:ext cx="254569" cy="254569"/>
          </a:xfrm>
          <a:prstGeom prst="ellipse">
            <a:avLst/>
          </a:prstGeom>
          <a:ln w="21590">
            <a:solidFill>
              <a:srgbClr val="1FA6A6"/>
            </a:solidFill>
            <a:prstDash val="solid"/>
          </a:ln>
        </p:spPr>
      </p:sp>
      <p:sp>
        <p:nvSpPr>
          <p:cNvPr id="221" name="Shape 214"/>
          <p:cNvSpPr/>
          <p:nvPr/>
        </p:nvSpPr>
        <p:spPr>
          <a:xfrm>
            <a:off x="1273211" y="40683851"/>
            <a:ext cx="105339" cy="105339"/>
          </a:xfrm>
          <a:prstGeom prst="ellipse">
            <a:avLst/>
          </a:prstGeom>
          <a:solidFill>
            <a:srgbClr val="1FA6A6"/>
          </a:solidFill>
          <a:ln/>
        </p:spPr>
      </p:sp>
      <p:sp>
        <p:nvSpPr>
          <p:cNvPr id="222" name="Text 215"/>
          <p:cNvSpPr/>
          <p:nvPr/>
        </p:nvSpPr>
        <p:spPr>
          <a:xfrm>
            <a:off x="1645920" y="40407336"/>
            <a:ext cx="5120640" cy="658368"/>
          </a:xfrm>
          <a:prstGeom prst="rect">
            <a:avLst/>
          </a:prstGeom>
          <a:noFill/>
          <a:ln/>
        </p:spPr>
        <p:txBody>
          <a:bodyPr wrap="square" lIns="0" tIns="0" rIns="0" bIns="0" rtlCol="0" anchor="ctr"/>
          <a:lstStyle/>
          <a:p>
            <a:pPr indent="0" marL="0">
              <a:buNone/>
            </a:pPr>
            <a:r>
              <a:rPr lang="en-US" sz="2400" b="1" spc="150" kern="0" dirty="0">
                <a:solidFill>
                  <a:srgbClr val="FFFFFF"/>
                </a:solidFill>
                <a:latin typeface="Calibri" pitchFamily="34" charset="0"/>
                <a:ea typeface="Calibri" pitchFamily="34" charset="-122"/>
                <a:cs typeface="Calibri" pitchFamily="34" charset="-120"/>
              </a:rPr>
              <a:t>CONCLUSION</a:t>
            </a:r>
            <a:endParaRPr lang="en-US" sz="2400" dirty="0"/>
          </a:p>
        </p:txBody>
      </p:sp>
      <p:sp>
        <p:nvSpPr>
          <p:cNvPr id="223" name="Text 216"/>
          <p:cNvSpPr/>
          <p:nvPr/>
        </p:nvSpPr>
        <p:spPr>
          <a:xfrm>
            <a:off x="6949440" y="40352472"/>
            <a:ext cx="19110960" cy="1408176"/>
          </a:xfrm>
          <a:prstGeom prst="rect">
            <a:avLst/>
          </a:prstGeom>
          <a:noFill/>
          <a:ln/>
        </p:spPr>
        <p:txBody>
          <a:bodyPr wrap="square" lIns="0" tIns="0" rIns="0" bIns="0" rtlCol="0" anchor="ctr"/>
          <a:lstStyle/>
          <a:p>
            <a:pPr algn="just" indent="0" marL="0">
              <a:lnSpc>
                <a:spcPct val="104000"/>
              </a:lnSpc>
              <a:buNone/>
            </a:pPr>
            <a:r>
              <a:rPr lang="en-US" sz="1900" dirty="0">
                <a:solidFill>
                  <a:srgbClr val="E3ECF8"/>
                </a:solidFill>
                <a:latin typeface="Calibri" pitchFamily="34" charset="0"/>
                <a:ea typeface="Calibri" pitchFamily="34" charset="-122"/>
                <a:cs typeface="Calibri" pitchFamily="34" charset="-120"/>
              </a:rPr>
              <a:t>Liposomes demonstrated strong potential in cancer therapy, gene delivery, and antiviral applications. liposome technology is an evolving and versatile drug-delivery platform, with continued advances in targeting, surface modification, stimuli-responsive delivery, and formulation optimization supporting its future role in precision medicine.</a:t>
            </a:r>
            <a:endParaRPr lang="en-US" sz="1900" dirty="0"/>
          </a:p>
        </p:txBody>
      </p:sp>
      <p:sp>
        <p:nvSpPr>
          <p:cNvPr id="224" name="Shape 217"/>
          <p:cNvSpPr/>
          <p:nvPr/>
        </p:nvSpPr>
        <p:spPr>
          <a:xfrm>
            <a:off x="822960" y="42199560"/>
            <a:ext cx="8290560" cy="1234440"/>
          </a:xfrm>
          <a:prstGeom prst="roundRect">
            <a:avLst>
              <a:gd name="adj" fmla="val 5926"/>
            </a:avLst>
          </a:prstGeom>
          <a:solidFill>
            <a:srgbClr val="F5F7FA"/>
          </a:solidFill>
          <a:ln w="9525">
            <a:solidFill>
              <a:srgbClr val="D9E1EC"/>
            </a:solidFill>
            <a:prstDash val="solid"/>
          </a:ln>
        </p:spPr>
      </p:sp>
      <p:sp>
        <p:nvSpPr>
          <p:cNvPr id="225" name="Text 218"/>
          <p:cNvSpPr/>
          <p:nvPr/>
        </p:nvSpPr>
        <p:spPr>
          <a:xfrm>
            <a:off x="1060704" y="42291000"/>
            <a:ext cx="7815072" cy="1051560"/>
          </a:xfrm>
          <a:prstGeom prst="rect">
            <a:avLst/>
          </a:prstGeom>
          <a:noFill/>
          <a:ln/>
        </p:spPr>
        <p:txBody>
          <a:bodyPr wrap="square" lIns="0" tIns="0" rIns="0" bIns="0" rtlCol="0" anchor="ctr"/>
          <a:lstStyle/>
          <a:p>
            <a:pPr indent="0" marL="0">
              <a:lnSpc>
                <a:spcPct val="100000"/>
              </a:lnSpc>
              <a:buNone/>
            </a:pPr>
            <a:r>
              <a:rPr lang="en-US" sz="1400" b="1" dirty="0">
                <a:solidFill>
                  <a:srgbClr val="163A70"/>
                </a:solidFill>
                <a:latin typeface="Calibri" pitchFamily="34" charset="0"/>
                <a:ea typeface="Calibri" pitchFamily="34" charset="-122"/>
                <a:cs typeface="Calibri" pitchFamily="34" charset="-120"/>
              </a:rPr>
              <a:t>Acknowledgements:  </a:t>
            </a:r>
            <a:pPr indent="0" marL="0">
              <a:lnSpc>
                <a:spcPct val="100000"/>
              </a:lnSpc>
              <a:buNone/>
            </a:pPr>
            <a:r>
              <a:rPr lang="en-US" sz="1400" dirty="0">
                <a:solidFill>
                  <a:srgbClr val="1E293B"/>
                </a:solidFill>
                <a:latin typeface="Calibri" pitchFamily="34" charset="0"/>
                <a:ea typeface="Calibri" pitchFamily="34" charset="-122"/>
                <a:cs typeface="Calibri" pitchFamily="34" charset="-120"/>
              </a:rPr>
              <a:t>The authors are thankful to the college staff and management for the encouragement and support.</a:t>
            </a:r>
            <a:endParaRPr lang="en-US" sz="1400" dirty="0"/>
          </a:p>
        </p:txBody>
      </p:sp>
      <p:sp>
        <p:nvSpPr>
          <p:cNvPr id="226" name="Shape 219"/>
          <p:cNvSpPr/>
          <p:nvPr/>
        </p:nvSpPr>
        <p:spPr>
          <a:xfrm>
            <a:off x="9570720" y="42199560"/>
            <a:ext cx="17038320" cy="1234440"/>
          </a:xfrm>
          <a:prstGeom prst="roundRect">
            <a:avLst>
              <a:gd name="adj" fmla="val 5926"/>
            </a:avLst>
          </a:prstGeom>
          <a:solidFill>
            <a:srgbClr val="F5F7FA"/>
          </a:solidFill>
          <a:ln w="9525">
            <a:solidFill>
              <a:srgbClr val="D9E1EC"/>
            </a:solidFill>
            <a:prstDash val="solid"/>
          </a:ln>
        </p:spPr>
      </p:sp>
      <p:sp>
        <p:nvSpPr>
          <p:cNvPr id="227" name="Text 220"/>
          <p:cNvSpPr/>
          <p:nvPr/>
        </p:nvSpPr>
        <p:spPr>
          <a:xfrm>
            <a:off x="9808464" y="42272712"/>
            <a:ext cx="16562832" cy="1088136"/>
          </a:xfrm>
          <a:prstGeom prst="rect">
            <a:avLst/>
          </a:prstGeom>
          <a:noFill/>
          <a:ln/>
        </p:spPr>
        <p:txBody>
          <a:bodyPr wrap="square" lIns="0" tIns="0" rIns="0" bIns="0" rtlCol="0" anchor="ctr"/>
          <a:lstStyle/>
          <a:p>
            <a:pPr indent="0" marL="0">
              <a:lnSpc>
                <a:spcPct val="100000"/>
              </a:lnSpc>
              <a:buNone/>
            </a:pPr>
            <a:r>
              <a:rPr lang="en-US" sz="1400" b="1" dirty="0">
                <a:solidFill>
                  <a:srgbClr val="163A70"/>
                </a:solidFill>
                <a:latin typeface="Calibri" pitchFamily="34" charset="0"/>
                <a:ea typeface="Calibri" pitchFamily="34" charset="-122"/>
                <a:cs typeface="Calibri" pitchFamily="34" charset="-120"/>
              </a:rPr>
              <a:t>References:  </a:t>
            </a:r>
            <a:pPr indent="0" marL="0">
              <a:lnSpc>
                <a:spcPct val="100000"/>
              </a:lnSpc>
              <a:buNone/>
            </a:pPr>
            <a:r>
              <a:rPr lang="en-US" sz="1400" dirty="0">
                <a:solidFill>
                  <a:srgbClr val="1E293B"/>
                </a:solidFill>
                <a:latin typeface="Calibri" pitchFamily="34" charset="0"/>
                <a:ea typeface="Calibri" pitchFamily="34" charset="-122"/>
                <a:cs typeface="Calibri" pitchFamily="34" charset="-120"/>
              </a:rPr>
              <a:t>1. Nsairat H, et al. Heliyon. 2022;8.  2. Ricci A, et al. Antioxidants. 2024;13:1516.  3. Hamad I, et al. Pharmaceutics. 2024;16:400.  4. Huang Z, et al. J Liposome Res. 2024;34:715–727.  5. Paramshetti S, et al. Life Sci. 2024;342:122616.  6. Pal R, et al. J Adv Med Med Res. 2023;35:7–15.  7. Singh H, et al. J Drug Deliv Sci Technol. 2024;94:105526.  8. Jain A, et al. Chem Phys Lipids. 2019;222:115–119.  9. Hadjou H, et al. ACS Appl Mater Interfaces. 2022;14:48530–48540.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Harnessing Liposome Technology for Precision Medicine</dc:title>
  <dc:subject>PptxGenJS Presentation</dc:subject>
  <dc:creator>Department of Pharmaceutics, RR College of Pharmacy</dc:creator>
  <cp:lastModifiedBy>Department of Pharmaceutics, RR College of Pharmacy</cp:lastModifiedBy>
  <cp:revision>1</cp:revision>
  <dcterms:created xsi:type="dcterms:W3CDTF">2026-08-12T05:59:50Z</dcterms:created>
  <dcterms:modified xsi:type="dcterms:W3CDTF">2026-08-12T05:59:50Z</dcterms:modified>
</cp:coreProperties>
</file>