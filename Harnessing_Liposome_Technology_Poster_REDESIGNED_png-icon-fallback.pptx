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Lst>
  <p:notesMasterIdLst>
    <p:notesMasterId r:id="rId3"/>
  </p:notesMasterIdLst>
  <p:sldSz cx="27432000" cy="43891200"/>
  <p:notesSz cx="43891200" cy="2743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notesMaster" Target="notesMasters/notesMaster1.xml"/><Relationship Id="rId4" Type="http://schemas.openxmlformats.org/officeDocument/2006/relationships/presProps" Target="presProps.xml"/><Relationship Id="rId5" Type="http://schemas.openxmlformats.org/officeDocument/2006/relationships/viewProps" Target="viewProps.xml"/><Relationship Id="rId6" Type="http://schemas.openxmlformats.org/officeDocument/2006/relationships/theme" Target="theme/theme1.xml"/><Relationship Id="rId7"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image" Target="../media/image-1-2.png"/><Relationship Id="rId3" Type="http://schemas.openxmlformats.org/officeDocument/2006/relationships/image" Target="../media/image-1-3.png"/><Relationship Id="rId4" Type="http://schemas.openxmlformats.org/officeDocument/2006/relationships/image" Target="../media/image-1-4.png"/><Relationship Id="rId5" Type="http://schemas.openxmlformats.org/officeDocument/2006/relationships/image" Target="../media/image-1-5.png"/><Relationship Id="rId6" Type="http://schemas.openxmlformats.org/officeDocument/2006/relationships/image" Target="../media/image-1-6.png"/><Relationship Id="rId7" Type="http://schemas.openxmlformats.org/officeDocument/2006/relationships/image" Target="../media/image-1-7.png"/><Relationship Id="rId8" Type="http://schemas.openxmlformats.org/officeDocument/2006/relationships/image" Target="../media/image-1-8.png"/><Relationship Id="rId9" Type="http://schemas.openxmlformats.org/officeDocument/2006/relationships/image" Target="../media/image-1-9.png"/><Relationship Id="rId10" Type="http://schemas.openxmlformats.org/officeDocument/2006/relationships/image" Target="../media/image-1-10.png"/><Relationship Id="rId11" Type="http://schemas.openxmlformats.org/officeDocument/2006/relationships/image" Target="../media/image-1-11.png"/><Relationship Id="rId12" Type="http://schemas.openxmlformats.org/officeDocument/2006/relationships/image" Target="../media/image-1-12.png"/><Relationship Id="rId13" Type="http://schemas.openxmlformats.org/officeDocument/2006/relationships/image" Target="../media/image-1-13.png"/><Relationship Id="rId14" Type="http://schemas.openxmlformats.org/officeDocument/2006/relationships/image" Target="../media/image-1-14.png"/><Relationship Id="rId15" Type="http://schemas.openxmlformats.org/officeDocument/2006/relationships/image" Target="../media/image-1-15.png"/><Relationship Id="rId16" Type="http://schemas.openxmlformats.org/officeDocument/2006/relationships/image" Target="../media/image-1-16.png"/><Relationship Id="rId17" Type="http://schemas.openxmlformats.org/officeDocument/2006/relationships/image" Target="../media/image-1-17.png"/><Relationship Id="rId18" Type="http://schemas.openxmlformats.org/officeDocument/2006/relationships/image" Target="../media/image-1-18.png"/><Relationship Id="rId19" Type="http://schemas.openxmlformats.org/officeDocument/2006/relationships/image" Target="../media/image-1-19.png"/><Relationship Id="rId20" Type="http://schemas.openxmlformats.org/officeDocument/2006/relationships/image" Target="../media/image-1-20.png"/><Relationship Id="rId21" Type="http://schemas.openxmlformats.org/officeDocument/2006/relationships/image" Target="../media/image-1-21.png"/><Relationship Id="rId22" Type="http://schemas.openxmlformats.org/officeDocument/2006/relationships/image" Target="../media/image-1-22.png"/><Relationship Id="rId23" Type="http://schemas.openxmlformats.org/officeDocument/2006/relationships/image" Target="../media/image-1-23.png"/><Relationship Id="rId24" Type="http://schemas.openxmlformats.org/officeDocument/2006/relationships/image" Target="../media/image-1-24.png"/><Relationship Id="rId25" Type="http://schemas.openxmlformats.org/officeDocument/2006/relationships/image" Target="../media/image-1-25.png"/><Relationship Id="rId26" Type="http://schemas.openxmlformats.org/officeDocument/2006/relationships/image" Target="../media/image-1-26.png"/><Relationship Id="rId27" Type="http://schemas.openxmlformats.org/officeDocument/2006/relationships/image" Target="../media/image-1-27.png"/><Relationship Id="rId28" Type="http://schemas.openxmlformats.org/officeDocument/2006/relationships/image" Target="../media/image-1-27.png"/><Relationship Id="rId29" Type="http://schemas.openxmlformats.org/officeDocument/2006/relationships/image" Target="../media/image-1-27.png"/><Relationship Id="rId30" Type="http://schemas.openxmlformats.org/officeDocument/2006/relationships/image" Target="../media/image-1-27.png"/><Relationship Id="rId31" Type="http://schemas.openxmlformats.org/officeDocument/2006/relationships/image" Target="../media/image-1-27.png"/><Relationship Id="rId32" Type="http://schemas.openxmlformats.org/officeDocument/2006/relationships/image" Target="../media/image-1-27.png"/><Relationship Id="rId33" Type="http://schemas.openxmlformats.org/officeDocument/2006/relationships/image" Target="../media/image-1-33.png"/><Relationship Id="rId34" Type="http://schemas.openxmlformats.org/officeDocument/2006/relationships/image" Target="../media/image-1-33.png"/><Relationship Id="rId35" Type="http://schemas.openxmlformats.org/officeDocument/2006/relationships/image" Target="../media/image-1-33.png"/><Relationship Id="rId36" Type="http://schemas.openxmlformats.org/officeDocument/2006/relationships/image" Target="../media/image-1-33.png"/><Relationship Id="rId37" Type="http://schemas.openxmlformats.org/officeDocument/2006/relationships/image" Target="../media/image-1-33.png"/><Relationship Id="rId38" Type="http://schemas.openxmlformats.org/officeDocument/2006/relationships/image" Target="../media/image-1-33.png"/><Relationship Id="rId39" Type="http://schemas.openxmlformats.org/officeDocument/2006/relationships/slideLayout" Target="../slideLayouts/slideLayout1.xml"/><Relationship Id="rId40" Type="http://schemas.openxmlformats.org/officeDocument/2006/relationships/notesSlide" Target="../notesSlides/notesSlide1.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FFFFFF"/>
        </a:solidFill>
      </p:bgPr>
    </p:bg>
    <p:spTree>
      <p:nvGrpSpPr>
        <p:cNvPr id="1" name=""/>
        <p:cNvGrpSpPr/>
        <p:nvPr/>
      </p:nvGrpSpPr>
      <p:grpSpPr>
        <a:xfrm>
          <a:off x="0" y="0"/>
          <a:ext cx="0" cy="0"/>
          <a:chOff x="0" y="0"/>
          <a:chExt cx="0" cy="0"/>
        </a:xfrm>
      </p:grpSpPr>
      <p:sp>
        <p:nvSpPr>
          <p:cNvPr id="2" name="Shape 0"/>
          <p:cNvSpPr/>
          <p:nvPr/>
        </p:nvSpPr>
        <p:spPr>
          <a:xfrm>
            <a:off x="0" y="0"/>
            <a:ext cx="27432000" cy="4114800"/>
          </a:xfrm>
          <a:prstGeom prst="rect">
            <a:avLst/>
          </a:prstGeom>
          <a:solidFill>
            <a:srgbClr val="163A70"/>
          </a:solidFill>
          <a:ln w="12700">
            <a:solidFill>
              <a:srgbClr val="163A70"/>
            </a:solidFill>
            <a:prstDash val="solid"/>
          </a:ln>
        </p:spPr>
      </p:sp>
      <p:sp>
        <p:nvSpPr>
          <p:cNvPr id="3" name="Shape 1"/>
          <p:cNvSpPr/>
          <p:nvPr/>
        </p:nvSpPr>
        <p:spPr>
          <a:xfrm>
            <a:off x="777240" y="457200"/>
            <a:ext cx="3063240" cy="3063240"/>
          </a:xfrm>
          <a:prstGeom prst="roundRect">
            <a:avLst>
              <a:gd name="adj" fmla="val 4776"/>
            </a:avLst>
          </a:prstGeom>
          <a:solidFill>
            <a:srgbClr val="FFFFFF"/>
          </a:solidFill>
          <a:ln w="12700">
            <a:solidFill>
              <a:srgbClr val="FFFFFF"/>
            </a:solidFill>
            <a:prstDash val="solid"/>
          </a:ln>
        </p:spPr>
      </p:sp>
      <p:pic>
        <p:nvPicPr>
          <p:cNvPr id="4" name="Image 0" descr="assets/logo.png">    </p:cNvPr>
          <p:cNvPicPr>
            <a:picLocks noChangeAspect="1"/>
          </p:cNvPicPr>
          <p:nvPr/>
        </p:nvPicPr>
        <p:blipFill>
          <a:blip r:embed="rId1"/>
          <a:stretch>
            <a:fillRect/>
          </a:stretch>
        </p:blipFill>
        <p:spPr>
          <a:xfrm>
            <a:off x="1015217" y="640080"/>
            <a:ext cx="2587286" cy="2697480"/>
          </a:xfrm>
          <a:prstGeom prst="rect">
            <a:avLst/>
          </a:prstGeom>
        </p:spPr>
      </p:pic>
      <p:sp>
        <p:nvSpPr>
          <p:cNvPr id="5" name="Text 2"/>
          <p:cNvSpPr/>
          <p:nvPr/>
        </p:nvSpPr>
        <p:spPr>
          <a:xfrm>
            <a:off x="777240" y="3566160"/>
            <a:ext cx="3063240" cy="384048"/>
          </a:xfrm>
          <a:prstGeom prst="rect">
            <a:avLst/>
          </a:prstGeom>
          <a:noFill/>
          <a:ln/>
        </p:spPr>
        <p:txBody>
          <a:bodyPr wrap="square" lIns="0" tIns="0" rIns="0" bIns="0" rtlCol="0" anchor="ctr"/>
          <a:lstStyle/>
          <a:p>
            <a:pPr algn="ctr" indent="0" marL="0">
              <a:buNone/>
            </a:pPr>
            <a:r>
              <a:rPr lang="en-US" sz="1500" i="1" spc="100" kern="0" dirty="0">
                <a:solidFill>
                  <a:srgbClr val="C9DCF2"/>
                </a:solidFill>
                <a:latin typeface="Calibri" pitchFamily="34" charset="0"/>
                <a:ea typeface="Calibri" pitchFamily="34" charset="-122"/>
                <a:cs typeface="Calibri" pitchFamily="34" charset="-120"/>
              </a:rPr>
              <a:t>Since 1993</a:t>
            </a:r>
            <a:endParaRPr lang="en-US" sz="1500" dirty="0"/>
          </a:p>
        </p:txBody>
      </p:sp>
      <p:sp>
        <p:nvSpPr>
          <p:cNvPr id="6" name="Text 3"/>
          <p:cNvSpPr/>
          <p:nvPr/>
        </p:nvSpPr>
        <p:spPr>
          <a:xfrm>
            <a:off x="4160520" y="566928"/>
            <a:ext cx="18745200" cy="1783080"/>
          </a:xfrm>
          <a:prstGeom prst="rect">
            <a:avLst/>
          </a:prstGeom>
          <a:noFill/>
          <a:ln/>
        </p:spPr>
        <p:txBody>
          <a:bodyPr wrap="square" lIns="0" tIns="0" rIns="0" bIns="0" rtlCol="0" anchor="ctr"/>
          <a:lstStyle/>
          <a:p>
            <a:pPr algn="ctr" indent="0" marL="0">
              <a:lnSpc>
                <a:spcPct val="100000"/>
              </a:lnSpc>
              <a:buNone/>
            </a:pPr>
            <a:r>
              <a:rPr lang="en-US" sz="5700" b="1" dirty="0">
                <a:solidFill>
                  <a:srgbClr val="FFFFFF"/>
                </a:solidFill>
                <a:latin typeface="Cambria" pitchFamily="34" charset="0"/>
                <a:ea typeface="Cambria" pitchFamily="34" charset="-122"/>
                <a:cs typeface="Cambria" pitchFamily="34" charset="-120"/>
              </a:rPr>
              <a:t>Harnessing Liposome Technology for Precision Medicine: Design, Delivery, and Clinical Impact</a:t>
            </a:r>
            <a:endParaRPr lang="en-US" sz="5700" dirty="0"/>
          </a:p>
        </p:txBody>
      </p:sp>
      <p:sp>
        <p:nvSpPr>
          <p:cNvPr id="7" name="Text 4"/>
          <p:cNvSpPr/>
          <p:nvPr/>
        </p:nvSpPr>
        <p:spPr>
          <a:xfrm>
            <a:off x="4160520" y="2578608"/>
            <a:ext cx="18745200" cy="457200"/>
          </a:xfrm>
          <a:prstGeom prst="rect">
            <a:avLst/>
          </a:prstGeom>
          <a:noFill/>
          <a:ln/>
        </p:spPr>
        <p:txBody>
          <a:bodyPr wrap="square" lIns="0" tIns="0" rIns="0" bIns="0" rtlCol="0" anchor="ctr"/>
          <a:lstStyle/>
          <a:p>
            <a:pPr algn="ctr" indent="0" marL="0">
              <a:buNone/>
            </a:pPr>
            <a:r>
              <a:rPr lang="en-US" sz="2500" dirty="0">
                <a:solidFill>
                  <a:srgbClr val="C9DCF2"/>
                </a:solidFill>
                <a:latin typeface="Calibri" pitchFamily="34" charset="0"/>
                <a:ea typeface="Calibri" pitchFamily="34" charset="-122"/>
                <a:cs typeface="Calibri" pitchFamily="34" charset="-120"/>
              </a:rPr>
              <a:t>Department of Pharmaceutics, RR College of Pharmacy, Bengaluru-560090, Karnataka, India</a:t>
            </a:r>
            <a:endParaRPr lang="en-US" sz="2500" dirty="0"/>
          </a:p>
        </p:txBody>
      </p:sp>
      <p:sp>
        <p:nvSpPr>
          <p:cNvPr id="8" name="Text 5"/>
          <p:cNvSpPr/>
          <p:nvPr/>
        </p:nvSpPr>
        <p:spPr>
          <a:xfrm>
            <a:off x="4160520" y="3035808"/>
            <a:ext cx="18745200" cy="457200"/>
          </a:xfrm>
          <a:prstGeom prst="rect">
            <a:avLst/>
          </a:prstGeom>
          <a:noFill/>
          <a:ln/>
        </p:spPr>
        <p:txBody>
          <a:bodyPr wrap="square" lIns="0" tIns="0" rIns="0" bIns="0" rtlCol="0" anchor="ctr"/>
          <a:lstStyle/>
          <a:p>
            <a:pPr algn="ctr" indent="0" marL="0">
              <a:buNone/>
            </a:pPr>
            <a:r>
              <a:rPr lang="en-US" sz="2500" dirty="0">
                <a:solidFill>
                  <a:srgbClr val="C9DCF2"/>
                </a:solidFill>
                <a:latin typeface="Calibri" pitchFamily="34" charset="0"/>
                <a:ea typeface="Calibri" pitchFamily="34" charset="-122"/>
                <a:cs typeface="Calibri" pitchFamily="34" charset="-120"/>
              </a:rPr>
              <a:t>Correspondence e-mail: </a:t>
            </a:r>
            <a:pPr algn="ctr" indent="0" marL="0">
              <a:buNone/>
            </a:pPr>
            <a:r>
              <a:rPr lang="en-US" sz="2500" b="1" dirty="0">
                <a:solidFill>
                  <a:srgbClr val="7FE0DC"/>
                </a:solidFill>
                <a:latin typeface="Calibri" pitchFamily="34" charset="0"/>
                <a:ea typeface="Calibri" pitchFamily="34" charset="-122"/>
                <a:cs typeface="Calibri" pitchFamily="34" charset="-120"/>
              </a:rPr>
              <a:t>singhrashmi295pharma@gmail.com</a:t>
            </a:r>
            <a:endParaRPr lang="en-US" sz="2500" dirty="0"/>
          </a:p>
        </p:txBody>
      </p:sp>
      <p:sp>
        <p:nvSpPr>
          <p:cNvPr id="9" name="Shape 6"/>
          <p:cNvSpPr/>
          <p:nvPr/>
        </p:nvSpPr>
        <p:spPr>
          <a:xfrm>
            <a:off x="23253192" y="484632"/>
            <a:ext cx="3145536" cy="3145536"/>
          </a:xfrm>
          <a:prstGeom prst="ellipse">
            <a:avLst/>
          </a:prstGeom>
          <a:solidFill>
            <a:srgbClr val="1C4482"/>
          </a:solidFill>
          <a:ln w="12700">
            <a:solidFill>
              <a:srgbClr val="1C4482"/>
            </a:solidFill>
            <a:prstDash val="solid"/>
          </a:ln>
        </p:spPr>
      </p:sp>
      <p:sp>
        <p:nvSpPr>
          <p:cNvPr id="10" name="Shape 7"/>
          <p:cNvSpPr/>
          <p:nvPr/>
        </p:nvSpPr>
        <p:spPr>
          <a:xfrm>
            <a:off x="23454360" y="685800"/>
            <a:ext cx="2743200" cy="2743200"/>
          </a:xfrm>
          <a:prstGeom prst="ellipse">
            <a:avLst/>
          </a:prstGeom>
          <a:solidFill>
            <a:srgbClr val="163A70"/>
          </a:solidFill>
          <a:ln w="22225">
            <a:solidFill>
              <a:srgbClr val="3E6FA8"/>
            </a:solidFill>
            <a:prstDash val="solid"/>
          </a:ln>
        </p:spPr>
      </p:sp>
      <p:sp>
        <p:nvSpPr>
          <p:cNvPr id="11" name="Shape 8"/>
          <p:cNvSpPr/>
          <p:nvPr/>
        </p:nvSpPr>
        <p:spPr>
          <a:xfrm>
            <a:off x="23957280" y="1188720"/>
            <a:ext cx="1737360" cy="1737360"/>
          </a:xfrm>
          <a:prstGeom prst="ellipse">
            <a:avLst/>
          </a:prstGeom>
          <a:solidFill>
            <a:srgbClr val="14335F"/>
          </a:solidFill>
          <a:ln w="22225">
            <a:solidFill>
              <a:srgbClr val="3E6FA8"/>
            </a:solidFill>
            <a:prstDash val="solid"/>
          </a:ln>
        </p:spPr>
      </p:sp>
      <p:sp>
        <p:nvSpPr>
          <p:cNvPr id="12" name="Shape 9"/>
          <p:cNvSpPr/>
          <p:nvPr/>
        </p:nvSpPr>
        <p:spPr>
          <a:xfrm>
            <a:off x="26094690" y="2004822"/>
            <a:ext cx="105156" cy="105156"/>
          </a:xfrm>
          <a:prstGeom prst="ellipse">
            <a:avLst/>
          </a:prstGeom>
          <a:solidFill>
            <a:srgbClr val="5B8AC4"/>
          </a:solidFill>
          <a:ln w="12700">
            <a:solidFill>
              <a:srgbClr val="5B8AC4"/>
            </a:solidFill>
            <a:prstDash val="solid"/>
          </a:ln>
        </p:spPr>
      </p:sp>
      <p:sp>
        <p:nvSpPr>
          <p:cNvPr id="13" name="Shape 10"/>
          <p:cNvSpPr/>
          <p:nvPr/>
        </p:nvSpPr>
        <p:spPr>
          <a:xfrm>
            <a:off x="26078423" y="2211520"/>
            <a:ext cx="105156" cy="105156"/>
          </a:xfrm>
          <a:prstGeom prst="ellipse">
            <a:avLst/>
          </a:prstGeom>
          <a:solidFill>
            <a:srgbClr val="5B8AC4"/>
          </a:solidFill>
          <a:ln w="12700">
            <a:solidFill>
              <a:srgbClr val="5B8AC4"/>
            </a:solidFill>
            <a:prstDash val="solid"/>
          </a:ln>
        </p:spPr>
      </p:sp>
      <p:sp>
        <p:nvSpPr>
          <p:cNvPr id="14" name="Shape 11"/>
          <p:cNvSpPr/>
          <p:nvPr/>
        </p:nvSpPr>
        <p:spPr>
          <a:xfrm>
            <a:off x="26030021" y="2413129"/>
            <a:ext cx="105156" cy="105156"/>
          </a:xfrm>
          <a:prstGeom prst="ellipse">
            <a:avLst/>
          </a:prstGeom>
          <a:solidFill>
            <a:srgbClr val="5B8AC4"/>
          </a:solidFill>
          <a:ln w="12700">
            <a:solidFill>
              <a:srgbClr val="5B8AC4"/>
            </a:solidFill>
            <a:prstDash val="solid"/>
          </a:ln>
        </p:spPr>
      </p:sp>
      <p:sp>
        <p:nvSpPr>
          <p:cNvPr id="15" name="Shape 12"/>
          <p:cNvSpPr/>
          <p:nvPr/>
        </p:nvSpPr>
        <p:spPr>
          <a:xfrm>
            <a:off x="25950676" y="2604683"/>
            <a:ext cx="105156" cy="105156"/>
          </a:xfrm>
          <a:prstGeom prst="ellipse">
            <a:avLst/>
          </a:prstGeom>
          <a:solidFill>
            <a:srgbClr val="5B8AC4"/>
          </a:solidFill>
          <a:ln w="12700">
            <a:solidFill>
              <a:srgbClr val="5B8AC4"/>
            </a:solidFill>
            <a:prstDash val="solid"/>
          </a:ln>
        </p:spPr>
      </p:sp>
      <p:sp>
        <p:nvSpPr>
          <p:cNvPr id="16" name="Shape 13"/>
          <p:cNvSpPr/>
          <p:nvPr/>
        </p:nvSpPr>
        <p:spPr>
          <a:xfrm>
            <a:off x="25842343" y="2781467"/>
            <a:ext cx="105156" cy="105156"/>
          </a:xfrm>
          <a:prstGeom prst="ellipse">
            <a:avLst/>
          </a:prstGeom>
          <a:solidFill>
            <a:srgbClr val="5B8AC4"/>
          </a:solidFill>
          <a:ln w="12700">
            <a:solidFill>
              <a:srgbClr val="5B8AC4"/>
            </a:solidFill>
            <a:prstDash val="solid"/>
          </a:ln>
        </p:spPr>
      </p:sp>
      <p:sp>
        <p:nvSpPr>
          <p:cNvPr id="17" name="Shape 14"/>
          <p:cNvSpPr/>
          <p:nvPr/>
        </p:nvSpPr>
        <p:spPr>
          <a:xfrm>
            <a:off x="25707688" y="2939128"/>
            <a:ext cx="105156" cy="105156"/>
          </a:xfrm>
          <a:prstGeom prst="ellipse">
            <a:avLst/>
          </a:prstGeom>
          <a:solidFill>
            <a:srgbClr val="5B8AC4"/>
          </a:solidFill>
          <a:ln w="12700">
            <a:solidFill>
              <a:srgbClr val="5B8AC4"/>
            </a:solidFill>
            <a:prstDash val="solid"/>
          </a:ln>
        </p:spPr>
      </p:sp>
      <p:sp>
        <p:nvSpPr>
          <p:cNvPr id="18" name="Shape 15"/>
          <p:cNvSpPr/>
          <p:nvPr/>
        </p:nvSpPr>
        <p:spPr>
          <a:xfrm>
            <a:off x="25550027" y="3073783"/>
            <a:ext cx="105156" cy="105156"/>
          </a:xfrm>
          <a:prstGeom prst="ellipse">
            <a:avLst/>
          </a:prstGeom>
          <a:solidFill>
            <a:srgbClr val="5B8AC4"/>
          </a:solidFill>
          <a:ln w="12700">
            <a:solidFill>
              <a:srgbClr val="5B8AC4"/>
            </a:solidFill>
            <a:prstDash val="solid"/>
          </a:ln>
        </p:spPr>
      </p:sp>
      <p:sp>
        <p:nvSpPr>
          <p:cNvPr id="19" name="Shape 16"/>
          <p:cNvSpPr/>
          <p:nvPr/>
        </p:nvSpPr>
        <p:spPr>
          <a:xfrm>
            <a:off x="25373243" y="3182116"/>
            <a:ext cx="105156" cy="105156"/>
          </a:xfrm>
          <a:prstGeom prst="ellipse">
            <a:avLst/>
          </a:prstGeom>
          <a:solidFill>
            <a:srgbClr val="5B8AC4"/>
          </a:solidFill>
          <a:ln w="12700">
            <a:solidFill>
              <a:srgbClr val="5B8AC4"/>
            </a:solidFill>
            <a:prstDash val="solid"/>
          </a:ln>
        </p:spPr>
      </p:sp>
      <p:sp>
        <p:nvSpPr>
          <p:cNvPr id="20" name="Shape 17"/>
          <p:cNvSpPr/>
          <p:nvPr/>
        </p:nvSpPr>
        <p:spPr>
          <a:xfrm>
            <a:off x="25181689" y="3261461"/>
            <a:ext cx="105156" cy="105156"/>
          </a:xfrm>
          <a:prstGeom prst="ellipse">
            <a:avLst/>
          </a:prstGeom>
          <a:solidFill>
            <a:srgbClr val="5B8AC4"/>
          </a:solidFill>
          <a:ln w="12700">
            <a:solidFill>
              <a:srgbClr val="5B8AC4"/>
            </a:solidFill>
            <a:prstDash val="solid"/>
          </a:ln>
        </p:spPr>
      </p:sp>
      <p:sp>
        <p:nvSpPr>
          <p:cNvPr id="21" name="Shape 18"/>
          <p:cNvSpPr/>
          <p:nvPr/>
        </p:nvSpPr>
        <p:spPr>
          <a:xfrm>
            <a:off x="24980080" y="3309863"/>
            <a:ext cx="105156" cy="105156"/>
          </a:xfrm>
          <a:prstGeom prst="ellipse">
            <a:avLst/>
          </a:prstGeom>
          <a:solidFill>
            <a:srgbClr val="5B8AC4"/>
          </a:solidFill>
          <a:ln w="12700">
            <a:solidFill>
              <a:srgbClr val="5B8AC4"/>
            </a:solidFill>
            <a:prstDash val="solid"/>
          </a:ln>
        </p:spPr>
      </p:sp>
      <p:sp>
        <p:nvSpPr>
          <p:cNvPr id="22" name="Shape 19"/>
          <p:cNvSpPr/>
          <p:nvPr/>
        </p:nvSpPr>
        <p:spPr>
          <a:xfrm>
            <a:off x="24773382" y="3326130"/>
            <a:ext cx="105156" cy="105156"/>
          </a:xfrm>
          <a:prstGeom prst="ellipse">
            <a:avLst/>
          </a:prstGeom>
          <a:solidFill>
            <a:srgbClr val="5B8AC4"/>
          </a:solidFill>
          <a:ln w="12700">
            <a:solidFill>
              <a:srgbClr val="5B8AC4"/>
            </a:solidFill>
            <a:prstDash val="solid"/>
          </a:ln>
        </p:spPr>
      </p:sp>
      <p:sp>
        <p:nvSpPr>
          <p:cNvPr id="23" name="Shape 20"/>
          <p:cNvSpPr/>
          <p:nvPr/>
        </p:nvSpPr>
        <p:spPr>
          <a:xfrm>
            <a:off x="24566684" y="3309863"/>
            <a:ext cx="105156" cy="105156"/>
          </a:xfrm>
          <a:prstGeom prst="ellipse">
            <a:avLst/>
          </a:prstGeom>
          <a:solidFill>
            <a:srgbClr val="5B8AC4"/>
          </a:solidFill>
          <a:ln w="12700">
            <a:solidFill>
              <a:srgbClr val="5B8AC4"/>
            </a:solidFill>
            <a:prstDash val="solid"/>
          </a:ln>
        </p:spPr>
      </p:sp>
      <p:sp>
        <p:nvSpPr>
          <p:cNvPr id="24" name="Shape 21"/>
          <p:cNvSpPr/>
          <p:nvPr/>
        </p:nvSpPr>
        <p:spPr>
          <a:xfrm>
            <a:off x="24365075" y="3261461"/>
            <a:ext cx="105156" cy="105156"/>
          </a:xfrm>
          <a:prstGeom prst="ellipse">
            <a:avLst/>
          </a:prstGeom>
          <a:solidFill>
            <a:srgbClr val="5B8AC4"/>
          </a:solidFill>
          <a:ln w="12700">
            <a:solidFill>
              <a:srgbClr val="5B8AC4"/>
            </a:solidFill>
            <a:prstDash val="solid"/>
          </a:ln>
        </p:spPr>
      </p:sp>
      <p:sp>
        <p:nvSpPr>
          <p:cNvPr id="25" name="Shape 22"/>
          <p:cNvSpPr/>
          <p:nvPr/>
        </p:nvSpPr>
        <p:spPr>
          <a:xfrm>
            <a:off x="24173521" y="3182116"/>
            <a:ext cx="105156" cy="105156"/>
          </a:xfrm>
          <a:prstGeom prst="ellipse">
            <a:avLst/>
          </a:prstGeom>
          <a:solidFill>
            <a:srgbClr val="5B8AC4"/>
          </a:solidFill>
          <a:ln w="12700">
            <a:solidFill>
              <a:srgbClr val="5B8AC4"/>
            </a:solidFill>
            <a:prstDash val="solid"/>
          </a:ln>
        </p:spPr>
      </p:sp>
      <p:sp>
        <p:nvSpPr>
          <p:cNvPr id="26" name="Shape 23"/>
          <p:cNvSpPr/>
          <p:nvPr/>
        </p:nvSpPr>
        <p:spPr>
          <a:xfrm>
            <a:off x="23996737" y="3073783"/>
            <a:ext cx="105156" cy="105156"/>
          </a:xfrm>
          <a:prstGeom prst="ellipse">
            <a:avLst/>
          </a:prstGeom>
          <a:solidFill>
            <a:srgbClr val="5B8AC4"/>
          </a:solidFill>
          <a:ln w="12700">
            <a:solidFill>
              <a:srgbClr val="5B8AC4"/>
            </a:solidFill>
            <a:prstDash val="solid"/>
          </a:ln>
        </p:spPr>
      </p:sp>
      <p:sp>
        <p:nvSpPr>
          <p:cNvPr id="27" name="Shape 24"/>
          <p:cNvSpPr/>
          <p:nvPr/>
        </p:nvSpPr>
        <p:spPr>
          <a:xfrm>
            <a:off x="23839076" y="2939128"/>
            <a:ext cx="105156" cy="105156"/>
          </a:xfrm>
          <a:prstGeom prst="ellipse">
            <a:avLst/>
          </a:prstGeom>
          <a:solidFill>
            <a:srgbClr val="5B8AC4"/>
          </a:solidFill>
          <a:ln w="12700">
            <a:solidFill>
              <a:srgbClr val="5B8AC4"/>
            </a:solidFill>
            <a:prstDash val="solid"/>
          </a:ln>
        </p:spPr>
      </p:sp>
      <p:sp>
        <p:nvSpPr>
          <p:cNvPr id="28" name="Shape 25"/>
          <p:cNvSpPr/>
          <p:nvPr/>
        </p:nvSpPr>
        <p:spPr>
          <a:xfrm>
            <a:off x="23704421" y="2781467"/>
            <a:ext cx="105156" cy="105156"/>
          </a:xfrm>
          <a:prstGeom prst="ellipse">
            <a:avLst/>
          </a:prstGeom>
          <a:solidFill>
            <a:srgbClr val="5B8AC4"/>
          </a:solidFill>
          <a:ln w="12700">
            <a:solidFill>
              <a:srgbClr val="5B8AC4"/>
            </a:solidFill>
            <a:prstDash val="solid"/>
          </a:ln>
        </p:spPr>
      </p:sp>
      <p:sp>
        <p:nvSpPr>
          <p:cNvPr id="29" name="Shape 26"/>
          <p:cNvSpPr/>
          <p:nvPr/>
        </p:nvSpPr>
        <p:spPr>
          <a:xfrm>
            <a:off x="23596088" y="2604683"/>
            <a:ext cx="105156" cy="105156"/>
          </a:xfrm>
          <a:prstGeom prst="ellipse">
            <a:avLst/>
          </a:prstGeom>
          <a:solidFill>
            <a:srgbClr val="5B8AC4"/>
          </a:solidFill>
          <a:ln w="12700">
            <a:solidFill>
              <a:srgbClr val="5B8AC4"/>
            </a:solidFill>
            <a:prstDash val="solid"/>
          </a:ln>
        </p:spPr>
      </p:sp>
      <p:sp>
        <p:nvSpPr>
          <p:cNvPr id="30" name="Shape 27"/>
          <p:cNvSpPr/>
          <p:nvPr/>
        </p:nvSpPr>
        <p:spPr>
          <a:xfrm>
            <a:off x="23516743" y="2413129"/>
            <a:ext cx="105156" cy="105156"/>
          </a:xfrm>
          <a:prstGeom prst="ellipse">
            <a:avLst/>
          </a:prstGeom>
          <a:solidFill>
            <a:srgbClr val="5B8AC4"/>
          </a:solidFill>
          <a:ln w="12700">
            <a:solidFill>
              <a:srgbClr val="5B8AC4"/>
            </a:solidFill>
            <a:prstDash val="solid"/>
          </a:ln>
        </p:spPr>
      </p:sp>
      <p:sp>
        <p:nvSpPr>
          <p:cNvPr id="31" name="Shape 28"/>
          <p:cNvSpPr/>
          <p:nvPr/>
        </p:nvSpPr>
        <p:spPr>
          <a:xfrm>
            <a:off x="23468341" y="2211520"/>
            <a:ext cx="105156" cy="105156"/>
          </a:xfrm>
          <a:prstGeom prst="ellipse">
            <a:avLst/>
          </a:prstGeom>
          <a:solidFill>
            <a:srgbClr val="5B8AC4"/>
          </a:solidFill>
          <a:ln w="12700">
            <a:solidFill>
              <a:srgbClr val="5B8AC4"/>
            </a:solidFill>
            <a:prstDash val="solid"/>
          </a:ln>
        </p:spPr>
      </p:sp>
      <p:sp>
        <p:nvSpPr>
          <p:cNvPr id="32" name="Shape 29"/>
          <p:cNvSpPr/>
          <p:nvPr/>
        </p:nvSpPr>
        <p:spPr>
          <a:xfrm>
            <a:off x="23452074" y="2004822"/>
            <a:ext cx="105156" cy="105156"/>
          </a:xfrm>
          <a:prstGeom prst="ellipse">
            <a:avLst/>
          </a:prstGeom>
          <a:solidFill>
            <a:srgbClr val="5B8AC4"/>
          </a:solidFill>
          <a:ln w="12700">
            <a:solidFill>
              <a:srgbClr val="5B8AC4"/>
            </a:solidFill>
            <a:prstDash val="solid"/>
          </a:ln>
        </p:spPr>
      </p:sp>
      <p:sp>
        <p:nvSpPr>
          <p:cNvPr id="33" name="Shape 30"/>
          <p:cNvSpPr/>
          <p:nvPr/>
        </p:nvSpPr>
        <p:spPr>
          <a:xfrm>
            <a:off x="23468341" y="1798124"/>
            <a:ext cx="105156" cy="105156"/>
          </a:xfrm>
          <a:prstGeom prst="ellipse">
            <a:avLst/>
          </a:prstGeom>
          <a:solidFill>
            <a:srgbClr val="5B8AC4"/>
          </a:solidFill>
          <a:ln w="12700">
            <a:solidFill>
              <a:srgbClr val="5B8AC4"/>
            </a:solidFill>
            <a:prstDash val="solid"/>
          </a:ln>
        </p:spPr>
      </p:sp>
      <p:sp>
        <p:nvSpPr>
          <p:cNvPr id="34" name="Shape 31"/>
          <p:cNvSpPr/>
          <p:nvPr/>
        </p:nvSpPr>
        <p:spPr>
          <a:xfrm>
            <a:off x="23516743" y="1596515"/>
            <a:ext cx="105156" cy="105156"/>
          </a:xfrm>
          <a:prstGeom prst="ellipse">
            <a:avLst/>
          </a:prstGeom>
          <a:solidFill>
            <a:srgbClr val="5B8AC4"/>
          </a:solidFill>
          <a:ln w="12700">
            <a:solidFill>
              <a:srgbClr val="5B8AC4"/>
            </a:solidFill>
            <a:prstDash val="solid"/>
          </a:ln>
        </p:spPr>
      </p:sp>
      <p:sp>
        <p:nvSpPr>
          <p:cNvPr id="35" name="Shape 32"/>
          <p:cNvSpPr/>
          <p:nvPr/>
        </p:nvSpPr>
        <p:spPr>
          <a:xfrm>
            <a:off x="23596088" y="1404961"/>
            <a:ext cx="105156" cy="105156"/>
          </a:xfrm>
          <a:prstGeom prst="ellipse">
            <a:avLst/>
          </a:prstGeom>
          <a:solidFill>
            <a:srgbClr val="5B8AC4"/>
          </a:solidFill>
          <a:ln w="12700">
            <a:solidFill>
              <a:srgbClr val="5B8AC4"/>
            </a:solidFill>
            <a:prstDash val="solid"/>
          </a:ln>
        </p:spPr>
      </p:sp>
      <p:sp>
        <p:nvSpPr>
          <p:cNvPr id="36" name="Shape 33"/>
          <p:cNvSpPr/>
          <p:nvPr/>
        </p:nvSpPr>
        <p:spPr>
          <a:xfrm>
            <a:off x="23704421" y="1228177"/>
            <a:ext cx="105156" cy="105156"/>
          </a:xfrm>
          <a:prstGeom prst="ellipse">
            <a:avLst/>
          </a:prstGeom>
          <a:solidFill>
            <a:srgbClr val="5B8AC4"/>
          </a:solidFill>
          <a:ln w="12700">
            <a:solidFill>
              <a:srgbClr val="5B8AC4"/>
            </a:solidFill>
            <a:prstDash val="solid"/>
          </a:ln>
        </p:spPr>
      </p:sp>
      <p:sp>
        <p:nvSpPr>
          <p:cNvPr id="37" name="Shape 34"/>
          <p:cNvSpPr/>
          <p:nvPr/>
        </p:nvSpPr>
        <p:spPr>
          <a:xfrm>
            <a:off x="23839076" y="1070516"/>
            <a:ext cx="105156" cy="105156"/>
          </a:xfrm>
          <a:prstGeom prst="ellipse">
            <a:avLst/>
          </a:prstGeom>
          <a:solidFill>
            <a:srgbClr val="5B8AC4"/>
          </a:solidFill>
          <a:ln w="12700">
            <a:solidFill>
              <a:srgbClr val="5B8AC4"/>
            </a:solidFill>
            <a:prstDash val="solid"/>
          </a:ln>
        </p:spPr>
      </p:sp>
      <p:sp>
        <p:nvSpPr>
          <p:cNvPr id="38" name="Shape 35"/>
          <p:cNvSpPr/>
          <p:nvPr/>
        </p:nvSpPr>
        <p:spPr>
          <a:xfrm>
            <a:off x="23996737" y="935861"/>
            <a:ext cx="105156" cy="105156"/>
          </a:xfrm>
          <a:prstGeom prst="ellipse">
            <a:avLst/>
          </a:prstGeom>
          <a:solidFill>
            <a:srgbClr val="5B8AC4"/>
          </a:solidFill>
          <a:ln w="12700">
            <a:solidFill>
              <a:srgbClr val="5B8AC4"/>
            </a:solidFill>
            <a:prstDash val="solid"/>
          </a:ln>
        </p:spPr>
      </p:sp>
      <p:sp>
        <p:nvSpPr>
          <p:cNvPr id="39" name="Shape 36"/>
          <p:cNvSpPr/>
          <p:nvPr/>
        </p:nvSpPr>
        <p:spPr>
          <a:xfrm>
            <a:off x="24173521" y="827528"/>
            <a:ext cx="105156" cy="105156"/>
          </a:xfrm>
          <a:prstGeom prst="ellipse">
            <a:avLst/>
          </a:prstGeom>
          <a:solidFill>
            <a:srgbClr val="5B8AC4"/>
          </a:solidFill>
          <a:ln w="12700">
            <a:solidFill>
              <a:srgbClr val="5B8AC4"/>
            </a:solidFill>
            <a:prstDash val="solid"/>
          </a:ln>
        </p:spPr>
      </p:sp>
      <p:sp>
        <p:nvSpPr>
          <p:cNvPr id="40" name="Shape 37"/>
          <p:cNvSpPr/>
          <p:nvPr/>
        </p:nvSpPr>
        <p:spPr>
          <a:xfrm>
            <a:off x="24365075" y="748183"/>
            <a:ext cx="105156" cy="105156"/>
          </a:xfrm>
          <a:prstGeom prst="ellipse">
            <a:avLst/>
          </a:prstGeom>
          <a:solidFill>
            <a:srgbClr val="5B8AC4"/>
          </a:solidFill>
          <a:ln w="12700">
            <a:solidFill>
              <a:srgbClr val="5B8AC4"/>
            </a:solidFill>
            <a:prstDash val="solid"/>
          </a:ln>
        </p:spPr>
      </p:sp>
      <p:sp>
        <p:nvSpPr>
          <p:cNvPr id="41" name="Shape 38"/>
          <p:cNvSpPr/>
          <p:nvPr/>
        </p:nvSpPr>
        <p:spPr>
          <a:xfrm>
            <a:off x="24566684" y="699781"/>
            <a:ext cx="105156" cy="105156"/>
          </a:xfrm>
          <a:prstGeom prst="ellipse">
            <a:avLst/>
          </a:prstGeom>
          <a:solidFill>
            <a:srgbClr val="5B8AC4"/>
          </a:solidFill>
          <a:ln w="12700">
            <a:solidFill>
              <a:srgbClr val="5B8AC4"/>
            </a:solidFill>
            <a:prstDash val="solid"/>
          </a:ln>
        </p:spPr>
      </p:sp>
      <p:sp>
        <p:nvSpPr>
          <p:cNvPr id="42" name="Shape 39"/>
          <p:cNvSpPr/>
          <p:nvPr/>
        </p:nvSpPr>
        <p:spPr>
          <a:xfrm>
            <a:off x="24773382" y="683514"/>
            <a:ext cx="105156" cy="105156"/>
          </a:xfrm>
          <a:prstGeom prst="ellipse">
            <a:avLst/>
          </a:prstGeom>
          <a:solidFill>
            <a:srgbClr val="5B8AC4"/>
          </a:solidFill>
          <a:ln w="12700">
            <a:solidFill>
              <a:srgbClr val="5B8AC4"/>
            </a:solidFill>
            <a:prstDash val="solid"/>
          </a:ln>
        </p:spPr>
      </p:sp>
      <p:sp>
        <p:nvSpPr>
          <p:cNvPr id="43" name="Shape 40"/>
          <p:cNvSpPr/>
          <p:nvPr/>
        </p:nvSpPr>
        <p:spPr>
          <a:xfrm>
            <a:off x="24980080" y="699781"/>
            <a:ext cx="105156" cy="105156"/>
          </a:xfrm>
          <a:prstGeom prst="ellipse">
            <a:avLst/>
          </a:prstGeom>
          <a:solidFill>
            <a:srgbClr val="5B8AC4"/>
          </a:solidFill>
          <a:ln w="12700">
            <a:solidFill>
              <a:srgbClr val="5B8AC4"/>
            </a:solidFill>
            <a:prstDash val="solid"/>
          </a:ln>
        </p:spPr>
      </p:sp>
      <p:sp>
        <p:nvSpPr>
          <p:cNvPr id="44" name="Shape 41"/>
          <p:cNvSpPr/>
          <p:nvPr/>
        </p:nvSpPr>
        <p:spPr>
          <a:xfrm>
            <a:off x="25181689" y="748183"/>
            <a:ext cx="105156" cy="105156"/>
          </a:xfrm>
          <a:prstGeom prst="ellipse">
            <a:avLst/>
          </a:prstGeom>
          <a:solidFill>
            <a:srgbClr val="5B8AC4"/>
          </a:solidFill>
          <a:ln w="12700">
            <a:solidFill>
              <a:srgbClr val="5B8AC4"/>
            </a:solidFill>
            <a:prstDash val="solid"/>
          </a:ln>
        </p:spPr>
      </p:sp>
      <p:sp>
        <p:nvSpPr>
          <p:cNvPr id="45" name="Shape 42"/>
          <p:cNvSpPr/>
          <p:nvPr/>
        </p:nvSpPr>
        <p:spPr>
          <a:xfrm>
            <a:off x="25373243" y="827528"/>
            <a:ext cx="105156" cy="105156"/>
          </a:xfrm>
          <a:prstGeom prst="ellipse">
            <a:avLst/>
          </a:prstGeom>
          <a:solidFill>
            <a:srgbClr val="5B8AC4"/>
          </a:solidFill>
          <a:ln w="12700">
            <a:solidFill>
              <a:srgbClr val="5B8AC4"/>
            </a:solidFill>
            <a:prstDash val="solid"/>
          </a:ln>
        </p:spPr>
      </p:sp>
      <p:sp>
        <p:nvSpPr>
          <p:cNvPr id="46" name="Shape 43"/>
          <p:cNvSpPr/>
          <p:nvPr/>
        </p:nvSpPr>
        <p:spPr>
          <a:xfrm>
            <a:off x="25550027" y="935861"/>
            <a:ext cx="105156" cy="105156"/>
          </a:xfrm>
          <a:prstGeom prst="ellipse">
            <a:avLst/>
          </a:prstGeom>
          <a:solidFill>
            <a:srgbClr val="5B8AC4"/>
          </a:solidFill>
          <a:ln w="12700">
            <a:solidFill>
              <a:srgbClr val="5B8AC4"/>
            </a:solidFill>
            <a:prstDash val="solid"/>
          </a:ln>
        </p:spPr>
      </p:sp>
      <p:sp>
        <p:nvSpPr>
          <p:cNvPr id="47" name="Shape 44"/>
          <p:cNvSpPr/>
          <p:nvPr/>
        </p:nvSpPr>
        <p:spPr>
          <a:xfrm>
            <a:off x="25707688" y="1070516"/>
            <a:ext cx="105156" cy="105156"/>
          </a:xfrm>
          <a:prstGeom prst="ellipse">
            <a:avLst/>
          </a:prstGeom>
          <a:solidFill>
            <a:srgbClr val="5B8AC4"/>
          </a:solidFill>
          <a:ln w="12700">
            <a:solidFill>
              <a:srgbClr val="5B8AC4"/>
            </a:solidFill>
            <a:prstDash val="solid"/>
          </a:ln>
        </p:spPr>
      </p:sp>
      <p:sp>
        <p:nvSpPr>
          <p:cNvPr id="48" name="Shape 45"/>
          <p:cNvSpPr/>
          <p:nvPr/>
        </p:nvSpPr>
        <p:spPr>
          <a:xfrm>
            <a:off x="25842343" y="1228177"/>
            <a:ext cx="105156" cy="105156"/>
          </a:xfrm>
          <a:prstGeom prst="ellipse">
            <a:avLst/>
          </a:prstGeom>
          <a:solidFill>
            <a:srgbClr val="5B8AC4"/>
          </a:solidFill>
          <a:ln w="12700">
            <a:solidFill>
              <a:srgbClr val="5B8AC4"/>
            </a:solidFill>
            <a:prstDash val="solid"/>
          </a:ln>
        </p:spPr>
      </p:sp>
      <p:sp>
        <p:nvSpPr>
          <p:cNvPr id="49" name="Shape 46"/>
          <p:cNvSpPr/>
          <p:nvPr/>
        </p:nvSpPr>
        <p:spPr>
          <a:xfrm>
            <a:off x="25950676" y="1404961"/>
            <a:ext cx="105156" cy="105156"/>
          </a:xfrm>
          <a:prstGeom prst="ellipse">
            <a:avLst/>
          </a:prstGeom>
          <a:solidFill>
            <a:srgbClr val="5B8AC4"/>
          </a:solidFill>
          <a:ln w="12700">
            <a:solidFill>
              <a:srgbClr val="5B8AC4"/>
            </a:solidFill>
            <a:prstDash val="solid"/>
          </a:ln>
        </p:spPr>
      </p:sp>
      <p:sp>
        <p:nvSpPr>
          <p:cNvPr id="50" name="Shape 47"/>
          <p:cNvSpPr/>
          <p:nvPr/>
        </p:nvSpPr>
        <p:spPr>
          <a:xfrm>
            <a:off x="26030021" y="1596515"/>
            <a:ext cx="105156" cy="105156"/>
          </a:xfrm>
          <a:prstGeom prst="ellipse">
            <a:avLst/>
          </a:prstGeom>
          <a:solidFill>
            <a:srgbClr val="5B8AC4"/>
          </a:solidFill>
          <a:ln w="12700">
            <a:solidFill>
              <a:srgbClr val="5B8AC4"/>
            </a:solidFill>
            <a:prstDash val="solid"/>
          </a:ln>
        </p:spPr>
      </p:sp>
      <p:sp>
        <p:nvSpPr>
          <p:cNvPr id="51" name="Shape 48"/>
          <p:cNvSpPr/>
          <p:nvPr/>
        </p:nvSpPr>
        <p:spPr>
          <a:xfrm>
            <a:off x="26078423" y="1798124"/>
            <a:ext cx="105156" cy="105156"/>
          </a:xfrm>
          <a:prstGeom prst="ellipse">
            <a:avLst/>
          </a:prstGeom>
          <a:solidFill>
            <a:srgbClr val="5B8AC4"/>
          </a:solidFill>
          <a:ln w="12700">
            <a:solidFill>
              <a:srgbClr val="5B8AC4"/>
            </a:solidFill>
            <a:prstDash val="solid"/>
          </a:ln>
        </p:spPr>
      </p:sp>
      <p:sp>
        <p:nvSpPr>
          <p:cNvPr id="52" name="Shape 49"/>
          <p:cNvSpPr/>
          <p:nvPr/>
        </p:nvSpPr>
        <p:spPr>
          <a:xfrm>
            <a:off x="25692354" y="2004822"/>
            <a:ext cx="105156" cy="105156"/>
          </a:xfrm>
          <a:prstGeom prst="ellipse">
            <a:avLst/>
          </a:prstGeom>
          <a:solidFill>
            <a:srgbClr val="5B8AC4"/>
          </a:solidFill>
          <a:ln w="12700">
            <a:solidFill>
              <a:srgbClr val="5B8AC4"/>
            </a:solidFill>
            <a:prstDash val="solid"/>
          </a:ln>
        </p:spPr>
      </p:sp>
      <p:sp>
        <p:nvSpPr>
          <p:cNvPr id="53" name="Shape 50"/>
          <p:cNvSpPr/>
          <p:nvPr/>
        </p:nvSpPr>
        <p:spPr>
          <a:xfrm>
            <a:off x="25672272" y="2195887"/>
            <a:ext cx="105156" cy="105156"/>
          </a:xfrm>
          <a:prstGeom prst="ellipse">
            <a:avLst/>
          </a:prstGeom>
          <a:solidFill>
            <a:srgbClr val="5B8AC4"/>
          </a:solidFill>
          <a:ln w="12700">
            <a:solidFill>
              <a:srgbClr val="5B8AC4"/>
            </a:solidFill>
            <a:prstDash val="solid"/>
          </a:ln>
        </p:spPr>
      </p:sp>
      <p:sp>
        <p:nvSpPr>
          <p:cNvPr id="54" name="Shape 51"/>
          <p:cNvSpPr/>
          <p:nvPr/>
        </p:nvSpPr>
        <p:spPr>
          <a:xfrm>
            <a:off x="25612905" y="2378602"/>
            <a:ext cx="105156" cy="105156"/>
          </a:xfrm>
          <a:prstGeom prst="ellipse">
            <a:avLst/>
          </a:prstGeom>
          <a:solidFill>
            <a:srgbClr val="5B8AC4"/>
          </a:solidFill>
          <a:ln w="12700">
            <a:solidFill>
              <a:srgbClr val="5B8AC4"/>
            </a:solidFill>
            <a:prstDash val="solid"/>
          </a:ln>
        </p:spPr>
      </p:sp>
      <p:sp>
        <p:nvSpPr>
          <p:cNvPr id="55" name="Shape 52"/>
          <p:cNvSpPr/>
          <p:nvPr/>
        </p:nvSpPr>
        <p:spPr>
          <a:xfrm>
            <a:off x="25516846" y="2544980"/>
            <a:ext cx="105156" cy="105156"/>
          </a:xfrm>
          <a:prstGeom prst="ellipse">
            <a:avLst/>
          </a:prstGeom>
          <a:solidFill>
            <a:srgbClr val="5B8AC4"/>
          </a:solidFill>
          <a:ln w="12700">
            <a:solidFill>
              <a:srgbClr val="5B8AC4"/>
            </a:solidFill>
            <a:prstDash val="solid"/>
          </a:ln>
        </p:spPr>
      </p:sp>
      <p:sp>
        <p:nvSpPr>
          <p:cNvPr id="56" name="Shape 53"/>
          <p:cNvSpPr/>
          <p:nvPr/>
        </p:nvSpPr>
        <p:spPr>
          <a:xfrm>
            <a:off x="25388294" y="2687751"/>
            <a:ext cx="105156" cy="105156"/>
          </a:xfrm>
          <a:prstGeom prst="ellipse">
            <a:avLst/>
          </a:prstGeom>
          <a:solidFill>
            <a:srgbClr val="5B8AC4"/>
          </a:solidFill>
          <a:ln w="12700">
            <a:solidFill>
              <a:srgbClr val="5B8AC4"/>
            </a:solidFill>
            <a:prstDash val="solid"/>
          </a:ln>
        </p:spPr>
      </p:sp>
      <p:sp>
        <p:nvSpPr>
          <p:cNvPr id="57" name="Shape 54"/>
          <p:cNvSpPr/>
          <p:nvPr/>
        </p:nvSpPr>
        <p:spPr>
          <a:xfrm>
            <a:off x="25232868" y="2800675"/>
            <a:ext cx="105156" cy="105156"/>
          </a:xfrm>
          <a:prstGeom prst="ellipse">
            <a:avLst/>
          </a:prstGeom>
          <a:solidFill>
            <a:srgbClr val="5B8AC4"/>
          </a:solidFill>
          <a:ln w="12700">
            <a:solidFill>
              <a:srgbClr val="5B8AC4"/>
            </a:solidFill>
            <a:prstDash val="solid"/>
          </a:ln>
        </p:spPr>
      </p:sp>
      <p:sp>
        <p:nvSpPr>
          <p:cNvPr id="58" name="Shape 55"/>
          <p:cNvSpPr/>
          <p:nvPr/>
        </p:nvSpPr>
        <p:spPr>
          <a:xfrm>
            <a:off x="25057360" y="2878816"/>
            <a:ext cx="105156" cy="105156"/>
          </a:xfrm>
          <a:prstGeom prst="ellipse">
            <a:avLst/>
          </a:prstGeom>
          <a:solidFill>
            <a:srgbClr val="5B8AC4"/>
          </a:solidFill>
          <a:ln w="12700">
            <a:solidFill>
              <a:srgbClr val="5B8AC4"/>
            </a:solidFill>
            <a:prstDash val="solid"/>
          </a:ln>
        </p:spPr>
      </p:sp>
      <p:sp>
        <p:nvSpPr>
          <p:cNvPr id="59" name="Shape 56"/>
          <p:cNvSpPr/>
          <p:nvPr/>
        </p:nvSpPr>
        <p:spPr>
          <a:xfrm>
            <a:off x="24869441" y="2918760"/>
            <a:ext cx="105156" cy="105156"/>
          </a:xfrm>
          <a:prstGeom prst="ellipse">
            <a:avLst/>
          </a:prstGeom>
          <a:solidFill>
            <a:srgbClr val="5B8AC4"/>
          </a:solidFill>
          <a:ln w="12700">
            <a:solidFill>
              <a:srgbClr val="5B8AC4"/>
            </a:solidFill>
            <a:prstDash val="solid"/>
          </a:ln>
        </p:spPr>
      </p:sp>
      <p:sp>
        <p:nvSpPr>
          <p:cNvPr id="60" name="Shape 57"/>
          <p:cNvSpPr/>
          <p:nvPr/>
        </p:nvSpPr>
        <p:spPr>
          <a:xfrm>
            <a:off x="24677323" y="2918760"/>
            <a:ext cx="105156" cy="105156"/>
          </a:xfrm>
          <a:prstGeom prst="ellipse">
            <a:avLst/>
          </a:prstGeom>
          <a:solidFill>
            <a:srgbClr val="5B8AC4"/>
          </a:solidFill>
          <a:ln w="12700">
            <a:solidFill>
              <a:srgbClr val="5B8AC4"/>
            </a:solidFill>
            <a:prstDash val="solid"/>
          </a:ln>
        </p:spPr>
      </p:sp>
      <p:sp>
        <p:nvSpPr>
          <p:cNvPr id="61" name="Shape 58"/>
          <p:cNvSpPr/>
          <p:nvPr/>
        </p:nvSpPr>
        <p:spPr>
          <a:xfrm>
            <a:off x="24489404" y="2878816"/>
            <a:ext cx="105156" cy="105156"/>
          </a:xfrm>
          <a:prstGeom prst="ellipse">
            <a:avLst/>
          </a:prstGeom>
          <a:solidFill>
            <a:srgbClr val="5B8AC4"/>
          </a:solidFill>
          <a:ln w="12700">
            <a:solidFill>
              <a:srgbClr val="5B8AC4"/>
            </a:solidFill>
            <a:prstDash val="solid"/>
          </a:ln>
        </p:spPr>
      </p:sp>
      <p:sp>
        <p:nvSpPr>
          <p:cNvPr id="62" name="Shape 59"/>
          <p:cNvSpPr/>
          <p:nvPr/>
        </p:nvSpPr>
        <p:spPr>
          <a:xfrm>
            <a:off x="24313896" y="2800675"/>
            <a:ext cx="105156" cy="105156"/>
          </a:xfrm>
          <a:prstGeom prst="ellipse">
            <a:avLst/>
          </a:prstGeom>
          <a:solidFill>
            <a:srgbClr val="5B8AC4"/>
          </a:solidFill>
          <a:ln w="12700">
            <a:solidFill>
              <a:srgbClr val="5B8AC4"/>
            </a:solidFill>
            <a:prstDash val="solid"/>
          </a:ln>
        </p:spPr>
      </p:sp>
      <p:sp>
        <p:nvSpPr>
          <p:cNvPr id="63" name="Shape 60"/>
          <p:cNvSpPr/>
          <p:nvPr/>
        </p:nvSpPr>
        <p:spPr>
          <a:xfrm>
            <a:off x="24158470" y="2687751"/>
            <a:ext cx="105156" cy="105156"/>
          </a:xfrm>
          <a:prstGeom prst="ellipse">
            <a:avLst/>
          </a:prstGeom>
          <a:solidFill>
            <a:srgbClr val="5B8AC4"/>
          </a:solidFill>
          <a:ln w="12700">
            <a:solidFill>
              <a:srgbClr val="5B8AC4"/>
            </a:solidFill>
            <a:prstDash val="solid"/>
          </a:ln>
        </p:spPr>
      </p:sp>
      <p:sp>
        <p:nvSpPr>
          <p:cNvPr id="64" name="Shape 61"/>
          <p:cNvSpPr/>
          <p:nvPr/>
        </p:nvSpPr>
        <p:spPr>
          <a:xfrm>
            <a:off x="24029918" y="2544980"/>
            <a:ext cx="105156" cy="105156"/>
          </a:xfrm>
          <a:prstGeom prst="ellipse">
            <a:avLst/>
          </a:prstGeom>
          <a:solidFill>
            <a:srgbClr val="5B8AC4"/>
          </a:solidFill>
          <a:ln w="12700">
            <a:solidFill>
              <a:srgbClr val="5B8AC4"/>
            </a:solidFill>
            <a:prstDash val="solid"/>
          </a:ln>
        </p:spPr>
      </p:sp>
      <p:sp>
        <p:nvSpPr>
          <p:cNvPr id="65" name="Shape 62"/>
          <p:cNvSpPr/>
          <p:nvPr/>
        </p:nvSpPr>
        <p:spPr>
          <a:xfrm>
            <a:off x="23933859" y="2378602"/>
            <a:ext cx="105156" cy="105156"/>
          </a:xfrm>
          <a:prstGeom prst="ellipse">
            <a:avLst/>
          </a:prstGeom>
          <a:solidFill>
            <a:srgbClr val="5B8AC4"/>
          </a:solidFill>
          <a:ln w="12700">
            <a:solidFill>
              <a:srgbClr val="5B8AC4"/>
            </a:solidFill>
            <a:prstDash val="solid"/>
          </a:ln>
        </p:spPr>
      </p:sp>
      <p:sp>
        <p:nvSpPr>
          <p:cNvPr id="66" name="Shape 63"/>
          <p:cNvSpPr/>
          <p:nvPr/>
        </p:nvSpPr>
        <p:spPr>
          <a:xfrm>
            <a:off x="23874492" y="2195887"/>
            <a:ext cx="105156" cy="105156"/>
          </a:xfrm>
          <a:prstGeom prst="ellipse">
            <a:avLst/>
          </a:prstGeom>
          <a:solidFill>
            <a:srgbClr val="5B8AC4"/>
          </a:solidFill>
          <a:ln w="12700">
            <a:solidFill>
              <a:srgbClr val="5B8AC4"/>
            </a:solidFill>
            <a:prstDash val="solid"/>
          </a:ln>
        </p:spPr>
      </p:sp>
      <p:sp>
        <p:nvSpPr>
          <p:cNvPr id="67" name="Shape 64"/>
          <p:cNvSpPr/>
          <p:nvPr/>
        </p:nvSpPr>
        <p:spPr>
          <a:xfrm>
            <a:off x="23854410" y="2004822"/>
            <a:ext cx="105156" cy="105156"/>
          </a:xfrm>
          <a:prstGeom prst="ellipse">
            <a:avLst/>
          </a:prstGeom>
          <a:solidFill>
            <a:srgbClr val="5B8AC4"/>
          </a:solidFill>
          <a:ln w="12700">
            <a:solidFill>
              <a:srgbClr val="5B8AC4"/>
            </a:solidFill>
            <a:prstDash val="solid"/>
          </a:ln>
        </p:spPr>
      </p:sp>
      <p:sp>
        <p:nvSpPr>
          <p:cNvPr id="68" name="Shape 65"/>
          <p:cNvSpPr/>
          <p:nvPr/>
        </p:nvSpPr>
        <p:spPr>
          <a:xfrm>
            <a:off x="23874492" y="1813757"/>
            <a:ext cx="105156" cy="105156"/>
          </a:xfrm>
          <a:prstGeom prst="ellipse">
            <a:avLst/>
          </a:prstGeom>
          <a:solidFill>
            <a:srgbClr val="5B8AC4"/>
          </a:solidFill>
          <a:ln w="12700">
            <a:solidFill>
              <a:srgbClr val="5B8AC4"/>
            </a:solidFill>
            <a:prstDash val="solid"/>
          </a:ln>
        </p:spPr>
      </p:sp>
      <p:sp>
        <p:nvSpPr>
          <p:cNvPr id="69" name="Shape 66"/>
          <p:cNvSpPr/>
          <p:nvPr/>
        </p:nvSpPr>
        <p:spPr>
          <a:xfrm>
            <a:off x="23933859" y="1631042"/>
            <a:ext cx="105156" cy="105156"/>
          </a:xfrm>
          <a:prstGeom prst="ellipse">
            <a:avLst/>
          </a:prstGeom>
          <a:solidFill>
            <a:srgbClr val="5B8AC4"/>
          </a:solidFill>
          <a:ln w="12700">
            <a:solidFill>
              <a:srgbClr val="5B8AC4"/>
            </a:solidFill>
            <a:prstDash val="solid"/>
          </a:ln>
        </p:spPr>
      </p:sp>
      <p:sp>
        <p:nvSpPr>
          <p:cNvPr id="70" name="Shape 67"/>
          <p:cNvSpPr/>
          <p:nvPr/>
        </p:nvSpPr>
        <p:spPr>
          <a:xfrm>
            <a:off x="24029918" y="1464664"/>
            <a:ext cx="105156" cy="105156"/>
          </a:xfrm>
          <a:prstGeom prst="ellipse">
            <a:avLst/>
          </a:prstGeom>
          <a:solidFill>
            <a:srgbClr val="5B8AC4"/>
          </a:solidFill>
          <a:ln w="12700">
            <a:solidFill>
              <a:srgbClr val="5B8AC4"/>
            </a:solidFill>
            <a:prstDash val="solid"/>
          </a:ln>
        </p:spPr>
      </p:sp>
      <p:sp>
        <p:nvSpPr>
          <p:cNvPr id="71" name="Shape 68"/>
          <p:cNvSpPr/>
          <p:nvPr/>
        </p:nvSpPr>
        <p:spPr>
          <a:xfrm>
            <a:off x="24158470" y="1321893"/>
            <a:ext cx="105156" cy="105156"/>
          </a:xfrm>
          <a:prstGeom prst="ellipse">
            <a:avLst/>
          </a:prstGeom>
          <a:solidFill>
            <a:srgbClr val="5B8AC4"/>
          </a:solidFill>
          <a:ln w="12700">
            <a:solidFill>
              <a:srgbClr val="5B8AC4"/>
            </a:solidFill>
            <a:prstDash val="solid"/>
          </a:ln>
        </p:spPr>
      </p:sp>
      <p:sp>
        <p:nvSpPr>
          <p:cNvPr id="72" name="Shape 69"/>
          <p:cNvSpPr/>
          <p:nvPr/>
        </p:nvSpPr>
        <p:spPr>
          <a:xfrm>
            <a:off x="24313896" y="1208969"/>
            <a:ext cx="105156" cy="105156"/>
          </a:xfrm>
          <a:prstGeom prst="ellipse">
            <a:avLst/>
          </a:prstGeom>
          <a:solidFill>
            <a:srgbClr val="5B8AC4"/>
          </a:solidFill>
          <a:ln w="12700">
            <a:solidFill>
              <a:srgbClr val="5B8AC4"/>
            </a:solidFill>
            <a:prstDash val="solid"/>
          </a:ln>
        </p:spPr>
      </p:sp>
      <p:sp>
        <p:nvSpPr>
          <p:cNvPr id="73" name="Shape 70"/>
          <p:cNvSpPr/>
          <p:nvPr/>
        </p:nvSpPr>
        <p:spPr>
          <a:xfrm>
            <a:off x="24489404" y="1130828"/>
            <a:ext cx="105156" cy="105156"/>
          </a:xfrm>
          <a:prstGeom prst="ellipse">
            <a:avLst/>
          </a:prstGeom>
          <a:solidFill>
            <a:srgbClr val="5B8AC4"/>
          </a:solidFill>
          <a:ln w="12700">
            <a:solidFill>
              <a:srgbClr val="5B8AC4"/>
            </a:solidFill>
            <a:prstDash val="solid"/>
          </a:ln>
        </p:spPr>
      </p:sp>
      <p:sp>
        <p:nvSpPr>
          <p:cNvPr id="74" name="Shape 71"/>
          <p:cNvSpPr/>
          <p:nvPr/>
        </p:nvSpPr>
        <p:spPr>
          <a:xfrm>
            <a:off x="24677323" y="1090884"/>
            <a:ext cx="105156" cy="105156"/>
          </a:xfrm>
          <a:prstGeom prst="ellipse">
            <a:avLst/>
          </a:prstGeom>
          <a:solidFill>
            <a:srgbClr val="5B8AC4"/>
          </a:solidFill>
          <a:ln w="12700">
            <a:solidFill>
              <a:srgbClr val="5B8AC4"/>
            </a:solidFill>
            <a:prstDash val="solid"/>
          </a:ln>
        </p:spPr>
      </p:sp>
      <p:sp>
        <p:nvSpPr>
          <p:cNvPr id="75" name="Shape 72"/>
          <p:cNvSpPr/>
          <p:nvPr/>
        </p:nvSpPr>
        <p:spPr>
          <a:xfrm>
            <a:off x="24869441" y="1090884"/>
            <a:ext cx="105156" cy="105156"/>
          </a:xfrm>
          <a:prstGeom prst="ellipse">
            <a:avLst/>
          </a:prstGeom>
          <a:solidFill>
            <a:srgbClr val="5B8AC4"/>
          </a:solidFill>
          <a:ln w="12700">
            <a:solidFill>
              <a:srgbClr val="5B8AC4"/>
            </a:solidFill>
            <a:prstDash val="solid"/>
          </a:ln>
        </p:spPr>
      </p:sp>
      <p:sp>
        <p:nvSpPr>
          <p:cNvPr id="76" name="Shape 73"/>
          <p:cNvSpPr/>
          <p:nvPr/>
        </p:nvSpPr>
        <p:spPr>
          <a:xfrm>
            <a:off x="25057360" y="1130828"/>
            <a:ext cx="105156" cy="105156"/>
          </a:xfrm>
          <a:prstGeom prst="ellipse">
            <a:avLst/>
          </a:prstGeom>
          <a:solidFill>
            <a:srgbClr val="5B8AC4"/>
          </a:solidFill>
          <a:ln w="12700">
            <a:solidFill>
              <a:srgbClr val="5B8AC4"/>
            </a:solidFill>
            <a:prstDash val="solid"/>
          </a:ln>
        </p:spPr>
      </p:sp>
      <p:sp>
        <p:nvSpPr>
          <p:cNvPr id="77" name="Shape 74"/>
          <p:cNvSpPr/>
          <p:nvPr/>
        </p:nvSpPr>
        <p:spPr>
          <a:xfrm>
            <a:off x="25232868" y="1208969"/>
            <a:ext cx="105156" cy="105156"/>
          </a:xfrm>
          <a:prstGeom prst="ellipse">
            <a:avLst/>
          </a:prstGeom>
          <a:solidFill>
            <a:srgbClr val="5B8AC4"/>
          </a:solidFill>
          <a:ln w="12700">
            <a:solidFill>
              <a:srgbClr val="5B8AC4"/>
            </a:solidFill>
            <a:prstDash val="solid"/>
          </a:ln>
        </p:spPr>
      </p:sp>
      <p:sp>
        <p:nvSpPr>
          <p:cNvPr id="78" name="Shape 75"/>
          <p:cNvSpPr/>
          <p:nvPr/>
        </p:nvSpPr>
        <p:spPr>
          <a:xfrm>
            <a:off x="25388294" y="1321893"/>
            <a:ext cx="105156" cy="105156"/>
          </a:xfrm>
          <a:prstGeom prst="ellipse">
            <a:avLst/>
          </a:prstGeom>
          <a:solidFill>
            <a:srgbClr val="5B8AC4"/>
          </a:solidFill>
          <a:ln w="12700">
            <a:solidFill>
              <a:srgbClr val="5B8AC4"/>
            </a:solidFill>
            <a:prstDash val="solid"/>
          </a:ln>
        </p:spPr>
      </p:sp>
      <p:sp>
        <p:nvSpPr>
          <p:cNvPr id="79" name="Shape 76"/>
          <p:cNvSpPr/>
          <p:nvPr/>
        </p:nvSpPr>
        <p:spPr>
          <a:xfrm>
            <a:off x="25516846" y="1464664"/>
            <a:ext cx="105156" cy="105156"/>
          </a:xfrm>
          <a:prstGeom prst="ellipse">
            <a:avLst/>
          </a:prstGeom>
          <a:solidFill>
            <a:srgbClr val="5B8AC4"/>
          </a:solidFill>
          <a:ln w="12700">
            <a:solidFill>
              <a:srgbClr val="5B8AC4"/>
            </a:solidFill>
            <a:prstDash val="solid"/>
          </a:ln>
        </p:spPr>
      </p:sp>
      <p:sp>
        <p:nvSpPr>
          <p:cNvPr id="80" name="Shape 77"/>
          <p:cNvSpPr/>
          <p:nvPr/>
        </p:nvSpPr>
        <p:spPr>
          <a:xfrm>
            <a:off x="25612905" y="1631042"/>
            <a:ext cx="105156" cy="105156"/>
          </a:xfrm>
          <a:prstGeom prst="ellipse">
            <a:avLst/>
          </a:prstGeom>
          <a:solidFill>
            <a:srgbClr val="5B8AC4"/>
          </a:solidFill>
          <a:ln w="12700">
            <a:solidFill>
              <a:srgbClr val="5B8AC4"/>
            </a:solidFill>
            <a:prstDash val="solid"/>
          </a:ln>
        </p:spPr>
      </p:sp>
      <p:sp>
        <p:nvSpPr>
          <p:cNvPr id="81" name="Shape 78"/>
          <p:cNvSpPr/>
          <p:nvPr/>
        </p:nvSpPr>
        <p:spPr>
          <a:xfrm>
            <a:off x="25672272" y="1813757"/>
            <a:ext cx="105156" cy="105156"/>
          </a:xfrm>
          <a:prstGeom prst="ellipse">
            <a:avLst/>
          </a:prstGeom>
          <a:solidFill>
            <a:srgbClr val="5B8AC4"/>
          </a:solidFill>
          <a:ln w="12700">
            <a:solidFill>
              <a:srgbClr val="5B8AC4"/>
            </a:solidFill>
            <a:prstDash val="solid"/>
          </a:ln>
        </p:spPr>
      </p:sp>
      <p:sp>
        <p:nvSpPr>
          <p:cNvPr id="82" name="Shape 79"/>
          <p:cNvSpPr/>
          <p:nvPr/>
        </p:nvSpPr>
        <p:spPr>
          <a:xfrm>
            <a:off x="24688800" y="1920240"/>
            <a:ext cx="274320" cy="274320"/>
          </a:xfrm>
          <a:prstGeom prst="ellipse">
            <a:avLst/>
          </a:prstGeom>
          <a:solidFill>
            <a:srgbClr val="2FBFBF"/>
          </a:solidFill>
          <a:ln w="12700">
            <a:solidFill>
              <a:srgbClr val="2FBFBF"/>
            </a:solidFill>
            <a:prstDash val="solid"/>
          </a:ln>
        </p:spPr>
      </p:sp>
      <p:sp>
        <p:nvSpPr>
          <p:cNvPr id="83" name="Shape 80"/>
          <p:cNvSpPr/>
          <p:nvPr/>
        </p:nvSpPr>
        <p:spPr>
          <a:xfrm>
            <a:off x="24977546" y="2168411"/>
            <a:ext cx="201168" cy="201168"/>
          </a:xfrm>
          <a:prstGeom prst="ellipse">
            <a:avLst/>
          </a:prstGeom>
          <a:solidFill>
            <a:srgbClr val="1FA6A6"/>
          </a:solidFill>
          <a:ln w="12700">
            <a:solidFill>
              <a:srgbClr val="1FA6A6"/>
            </a:solidFill>
            <a:prstDash val="solid"/>
          </a:ln>
        </p:spPr>
      </p:sp>
      <p:sp>
        <p:nvSpPr>
          <p:cNvPr id="84" name="Shape 81"/>
          <p:cNvSpPr/>
          <p:nvPr/>
        </p:nvSpPr>
        <p:spPr>
          <a:xfrm>
            <a:off x="24443609" y="2088206"/>
            <a:ext cx="201168" cy="201168"/>
          </a:xfrm>
          <a:prstGeom prst="ellipse">
            <a:avLst/>
          </a:prstGeom>
          <a:solidFill>
            <a:srgbClr val="2FBFBF"/>
          </a:solidFill>
          <a:ln w="12700">
            <a:solidFill>
              <a:srgbClr val="2FBFBF"/>
            </a:solidFill>
            <a:prstDash val="solid"/>
          </a:ln>
        </p:spPr>
      </p:sp>
      <p:sp>
        <p:nvSpPr>
          <p:cNvPr id="85" name="Shape 82"/>
          <p:cNvSpPr/>
          <p:nvPr/>
        </p:nvSpPr>
        <p:spPr>
          <a:xfrm>
            <a:off x="24594024" y="1595929"/>
            <a:ext cx="201168" cy="201168"/>
          </a:xfrm>
          <a:prstGeom prst="ellipse">
            <a:avLst/>
          </a:prstGeom>
          <a:solidFill>
            <a:srgbClr val="1FA6A6"/>
          </a:solidFill>
          <a:ln w="12700">
            <a:solidFill>
              <a:srgbClr val="1FA6A6"/>
            </a:solidFill>
            <a:prstDash val="solid"/>
          </a:ln>
        </p:spPr>
      </p:sp>
      <p:sp>
        <p:nvSpPr>
          <p:cNvPr id="86" name="Shape 83"/>
          <p:cNvSpPr/>
          <p:nvPr/>
        </p:nvSpPr>
        <p:spPr>
          <a:xfrm>
            <a:off x="24842929" y="1816722"/>
            <a:ext cx="201168" cy="201168"/>
          </a:xfrm>
          <a:prstGeom prst="ellipse">
            <a:avLst/>
          </a:prstGeom>
          <a:solidFill>
            <a:srgbClr val="2FBFBF"/>
          </a:solidFill>
          <a:ln w="12700">
            <a:solidFill>
              <a:srgbClr val="2FBFBF"/>
            </a:solidFill>
            <a:prstDash val="solid"/>
          </a:ln>
        </p:spPr>
      </p:sp>
      <p:sp>
        <p:nvSpPr>
          <p:cNvPr id="87" name="Shape 84"/>
          <p:cNvSpPr/>
          <p:nvPr/>
        </p:nvSpPr>
        <p:spPr>
          <a:xfrm>
            <a:off x="24685528" y="2412276"/>
            <a:ext cx="201168" cy="201168"/>
          </a:xfrm>
          <a:prstGeom prst="ellipse">
            <a:avLst/>
          </a:prstGeom>
          <a:solidFill>
            <a:srgbClr val="1FA6A6"/>
          </a:solidFill>
          <a:ln w="12700">
            <a:solidFill>
              <a:srgbClr val="1FA6A6"/>
            </a:solidFill>
            <a:prstDash val="solid"/>
          </a:ln>
        </p:spPr>
      </p:sp>
      <p:sp>
        <p:nvSpPr>
          <p:cNvPr id="88" name="Shape 85"/>
          <p:cNvSpPr/>
          <p:nvPr/>
        </p:nvSpPr>
        <p:spPr>
          <a:xfrm>
            <a:off x="24330119" y="1812954"/>
            <a:ext cx="201168" cy="201168"/>
          </a:xfrm>
          <a:prstGeom prst="ellipse">
            <a:avLst/>
          </a:prstGeom>
          <a:solidFill>
            <a:srgbClr val="2FBFBF"/>
          </a:solidFill>
          <a:ln w="12700">
            <a:solidFill>
              <a:srgbClr val="2FBFBF"/>
            </a:solidFill>
            <a:prstDash val="solid"/>
          </a:ln>
        </p:spPr>
      </p:sp>
      <p:sp>
        <p:nvSpPr>
          <p:cNvPr id="89" name="Shape 86"/>
          <p:cNvSpPr/>
          <p:nvPr/>
        </p:nvSpPr>
        <p:spPr>
          <a:xfrm>
            <a:off x="731520" y="4480560"/>
            <a:ext cx="17647920" cy="3154680"/>
          </a:xfrm>
          <a:prstGeom prst="roundRect">
            <a:avLst>
              <a:gd name="adj" fmla="val 4058"/>
            </a:avLst>
          </a:prstGeom>
          <a:solidFill>
            <a:srgbClr val="F5F7FA"/>
          </a:solidFill>
          <a:ln w="15875">
            <a:solidFill>
              <a:srgbClr val="D7DEE8"/>
            </a:solidFill>
            <a:prstDash val="solid"/>
          </a:ln>
        </p:spPr>
      </p:sp>
      <p:sp>
        <p:nvSpPr>
          <p:cNvPr id="90" name="Shape 87"/>
          <p:cNvSpPr/>
          <p:nvPr/>
        </p:nvSpPr>
        <p:spPr>
          <a:xfrm>
            <a:off x="1143000" y="4791456"/>
            <a:ext cx="713232" cy="713232"/>
          </a:xfrm>
          <a:prstGeom prst="ellipse">
            <a:avLst/>
          </a:prstGeom>
          <a:solidFill>
            <a:srgbClr val="163A70"/>
          </a:solidFill>
          <a:ln w="12700">
            <a:solidFill>
              <a:srgbClr val="163A70"/>
            </a:solidFill>
            <a:prstDash val="solid"/>
          </a:ln>
        </p:spPr>
      </p:sp>
      <p:sp>
        <p:nvSpPr>
          <p:cNvPr id="91" name="Text 88"/>
          <p:cNvSpPr/>
          <p:nvPr/>
        </p:nvSpPr>
        <p:spPr>
          <a:xfrm>
            <a:off x="1143000" y="4791456"/>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01</a:t>
            </a:r>
            <a:endParaRPr lang="en-US" sz="2400" dirty="0"/>
          </a:p>
        </p:txBody>
      </p:sp>
      <p:sp>
        <p:nvSpPr>
          <p:cNvPr id="92" name="Text 89"/>
          <p:cNvSpPr/>
          <p:nvPr/>
        </p:nvSpPr>
        <p:spPr>
          <a:xfrm>
            <a:off x="2112264" y="4773168"/>
            <a:ext cx="7315200" cy="749808"/>
          </a:xfrm>
          <a:prstGeom prst="rect">
            <a:avLst/>
          </a:prstGeom>
          <a:noFill/>
          <a:ln/>
        </p:spPr>
        <p:txBody>
          <a:bodyPr wrap="square" lIns="0" tIns="0" rIns="0" bIns="0" rtlCol="0" anchor="ctr"/>
          <a:lstStyle/>
          <a:p>
            <a:pPr algn="l" indent="0" marL="0">
              <a:buNone/>
            </a:pPr>
            <a:r>
              <a:rPr lang="en-US" sz="3000" b="1" spc="120" kern="0" dirty="0">
                <a:solidFill>
                  <a:srgbClr val="163A70"/>
                </a:solidFill>
                <a:latin typeface="Calibri" pitchFamily="34" charset="0"/>
                <a:ea typeface="Calibri" pitchFamily="34" charset="-122"/>
                <a:cs typeface="Calibri" pitchFamily="34" charset="-120"/>
              </a:rPr>
              <a:t>ABSTRACT</a:t>
            </a:r>
            <a:endParaRPr lang="en-US" sz="3000" dirty="0"/>
          </a:p>
        </p:txBody>
      </p:sp>
      <p:sp>
        <p:nvSpPr>
          <p:cNvPr id="93" name="Text 90"/>
          <p:cNvSpPr/>
          <p:nvPr/>
        </p:nvSpPr>
        <p:spPr>
          <a:xfrm>
            <a:off x="1188720" y="5669280"/>
            <a:ext cx="16733520" cy="1645920"/>
          </a:xfrm>
          <a:prstGeom prst="rect">
            <a:avLst/>
          </a:prstGeom>
          <a:noFill/>
          <a:ln/>
        </p:spPr>
        <p:txBody>
          <a:bodyPr wrap="square" lIns="0" tIns="0" rIns="0" bIns="0" rtlCol="0" anchor="t"/>
          <a:lstStyle/>
          <a:p>
            <a:pPr algn="just" indent="0" marL="0">
              <a:lnSpc>
                <a:spcPct val="118000"/>
              </a:lnSpc>
              <a:buNone/>
            </a:pPr>
            <a:r>
              <a:rPr lang="en-US" sz="2600" dirty="0">
                <a:solidFill>
                  <a:srgbClr val="1E293B"/>
                </a:solidFill>
                <a:latin typeface="Calibri" pitchFamily="34" charset="0"/>
                <a:ea typeface="Calibri" pitchFamily="34" charset="-122"/>
                <a:cs typeface="Calibri" pitchFamily="34" charset="-120"/>
              </a:rPr>
              <a:t>Liposomes are biocompatible drug carriers enabling targeted delivery with reduced toxicity. Surface modification enhances their efficiency in cancer therapy and gene delivery. Recent advances include optimized, stimuli-responsive systems under clinical study. These systems show strong potential for improved and precise therapeutic outcomes.</a:t>
            </a:r>
            <a:endParaRPr lang="en-US" sz="2600" dirty="0"/>
          </a:p>
        </p:txBody>
      </p:sp>
      <p:sp>
        <p:nvSpPr>
          <p:cNvPr id="94" name="Shape 91"/>
          <p:cNvSpPr/>
          <p:nvPr/>
        </p:nvSpPr>
        <p:spPr>
          <a:xfrm>
            <a:off x="18745200" y="4480560"/>
            <a:ext cx="7955280" cy="3154680"/>
          </a:xfrm>
          <a:prstGeom prst="roundRect">
            <a:avLst>
              <a:gd name="adj" fmla="val 4058"/>
            </a:avLst>
          </a:prstGeom>
          <a:solidFill>
            <a:srgbClr val="E6F4F4"/>
          </a:solidFill>
          <a:ln w="15875">
            <a:solidFill>
              <a:srgbClr val="BFE3E3"/>
            </a:solidFill>
            <a:prstDash val="solid"/>
          </a:ln>
        </p:spPr>
      </p:sp>
      <p:sp>
        <p:nvSpPr>
          <p:cNvPr id="95" name="Shape 92"/>
          <p:cNvSpPr/>
          <p:nvPr/>
        </p:nvSpPr>
        <p:spPr>
          <a:xfrm>
            <a:off x="19156680" y="4864608"/>
            <a:ext cx="384048" cy="384048"/>
          </a:xfrm>
          <a:prstGeom prst="ellipse">
            <a:avLst/>
          </a:prstGeom>
          <a:solidFill>
            <a:srgbClr val="1FA6A6"/>
          </a:solidFill>
          <a:ln w="12700">
            <a:solidFill>
              <a:srgbClr val="1FA6A6"/>
            </a:solidFill>
            <a:prstDash val="solid"/>
          </a:ln>
        </p:spPr>
      </p:sp>
      <p:sp>
        <p:nvSpPr>
          <p:cNvPr id="96" name="Text 93"/>
          <p:cNvSpPr/>
          <p:nvPr/>
        </p:nvSpPr>
        <p:spPr>
          <a:xfrm>
            <a:off x="19751040" y="4773168"/>
            <a:ext cx="6583680" cy="566928"/>
          </a:xfrm>
          <a:prstGeom prst="rect">
            <a:avLst/>
          </a:prstGeom>
          <a:noFill/>
          <a:ln/>
        </p:spPr>
        <p:txBody>
          <a:bodyPr wrap="square" lIns="0" tIns="0" rIns="0" bIns="0" rtlCol="0" anchor="ctr"/>
          <a:lstStyle/>
          <a:p>
            <a:pPr indent="0" marL="0">
              <a:buNone/>
            </a:pPr>
            <a:r>
              <a:rPr lang="en-US" sz="2800" b="1" spc="120" kern="0" dirty="0">
                <a:solidFill>
                  <a:srgbClr val="163A70"/>
                </a:solidFill>
                <a:latin typeface="Calibri" pitchFamily="34" charset="0"/>
                <a:ea typeface="Calibri" pitchFamily="34" charset="-122"/>
                <a:cs typeface="Calibri" pitchFamily="34" charset="-120"/>
              </a:rPr>
              <a:t>KEYWORDS</a:t>
            </a:r>
            <a:endParaRPr lang="en-US" sz="2800" dirty="0"/>
          </a:p>
        </p:txBody>
      </p:sp>
      <p:sp>
        <p:nvSpPr>
          <p:cNvPr id="97" name="Shape 94"/>
          <p:cNvSpPr/>
          <p:nvPr/>
        </p:nvSpPr>
        <p:spPr>
          <a:xfrm>
            <a:off x="19202400" y="5504688"/>
            <a:ext cx="7040880" cy="365760"/>
          </a:xfrm>
          <a:prstGeom prst="roundRect">
            <a:avLst>
              <a:gd name="adj" fmla="val 50000"/>
            </a:avLst>
          </a:prstGeom>
          <a:solidFill>
            <a:srgbClr val="FFFFFF"/>
          </a:solidFill>
          <a:ln w="12700">
            <a:solidFill>
              <a:srgbClr val="1FA6A6"/>
            </a:solidFill>
            <a:prstDash val="solid"/>
          </a:ln>
        </p:spPr>
      </p:sp>
      <p:sp>
        <p:nvSpPr>
          <p:cNvPr id="98" name="Shape 95"/>
          <p:cNvSpPr/>
          <p:nvPr/>
        </p:nvSpPr>
        <p:spPr>
          <a:xfrm>
            <a:off x="19312128" y="5637276"/>
            <a:ext cx="100584" cy="100584"/>
          </a:xfrm>
          <a:prstGeom prst="ellipse">
            <a:avLst/>
          </a:prstGeom>
          <a:solidFill>
            <a:srgbClr val="1FA6A6"/>
          </a:solidFill>
          <a:ln w="12700">
            <a:solidFill>
              <a:srgbClr val="1FA6A6"/>
            </a:solidFill>
            <a:prstDash val="solid"/>
          </a:ln>
        </p:spPr>
      </p:sp>
      <p:sp>
        <p:nvSpPr>
          <p:cNvPr id="99" name="Text 96"/>
          <p:cNvSpPr/>
          <p:nvPr/>
        </p:nvSpPr>
        <p:spPr>
          <a:xfrm>
            <a:off x="19458432" y="5504688"/>
            <a:ext cx="6784848" cy="365760"/>
          </a:xfrm>
          <a:prstGeom prst="rect">
            <a:avLst/>
          </a:prstGeom>
          <a:noFill/>
          <a:ln/>
        </p:spPr>
        <p:txBody>
          <a:bodyPr wrap="square" lIns="0" tIns="0" rIns="0" bIns="0" rtlCol="0" anchor="ctr"/>
          <a:lstStyle/>
          <a:p>
            <a:pPr algn="l" indent="0" marL="0">
              <a:buNone/>
            </a:pPr>
            <a:r>
              <a:rPr lang="en-US" sz="2100" b="1" dirty="0">
                <a:solidFill>
                  <a:srgbClr val="163A70"/>
                </a:solidFill>
                <a:latin typeface="Calibri" pitchFamily="34" charset="0"/>
                <a:ea typeface="Calibri" pitchFamily="34" charset="-122"/>
                <a:cs typeface="Calibri" pitchFamily="34" charset="-120"/>
              </a:rPr>
              <a:t>Antineoplastic agents</a:t>
            </a:r>
            <a:endParaRPr lang="en-US" sz="2100" dirty="0"/>
          </a:p>
        </p:txBody>
      </p:sp>
      <p:sp>
        <p:nvSpPr>
          <p:cNvPr id="100" name="Shape 97"/>
          <p:cNvSpPr/>
          <p:nvPr/>
        </p:nvSpPr>
        <p:spPr>
          <a:xfrm>
            <a:off x="19202400" y="5916168"/>
            <a:ext cx="7040880" cy="365760"/>
          </a:xfrm>
          <a:prstGeom prst="roundRect">
            <a:avLst>
              <a:gd name="adj" fmla="val 50000"/>
            </a:avLst>
          </a:prstGeom>
          <a:solidFill>
            <a:srgbClr val="FFFFFF"/>
          </a:solidFill>
          <a:ln w="12700">
            <a:solidFill>
              <a:srgbClr val="1FA6A6"/>
            </a:solidFill>
            <a:prstDash val="solid"/>
          </a:ln>
        </p:spPr>
      </p:sp>
      <p:sp>
        <p:nvSpPr>
          <p:cNvPr id="101" name="Shape 98"/>
          <p:cNvSpPr/>
          <p:nvPr/>
        </p:nvSpPr>
        <p:spPr>
          <a:xfrm>
            <a:off x="19312128" y="6048756"/>
            <a:ext cx="100584" cy="100584"/>
          </a:xfrm>
          <a:prstGeom prst="ellipse">
            <a:avLst/>
          </a:prstGeom>
          <a:solidFill>
            <a:srgbClr val="1FA6A6"/>
          </a:solidFill>
          <a:ln w="12700">
            <a:solidFill>
              <a:srgbClr val="1FA6A6"/>
            </a:solidFill>
            <a:prstDash val="solid"/>
          </a:ln>
        </p:spPr>
      </p:sp>
      <p:sp>
        <p:nvSpPr>
          <p:cNvPr id="102" name="Text 99"/>
          <p:cNvSpPr/>
          <p:nvPr/>
        </p:nvSpPr>
        <p:spPr>
          <a:xfrm>
            <a:off x="19458432" y="5916168"/>
            <a:ext cx="6784848" cy="365760"/>
          </a:xfrm>
          <a:prstGeom prst="rect">
            <a:avLst/>
          </a:prstGeom>
          <a:noFill/>
          <a:ln/>
        </p:spPr>
        <p:txBody>
          <a:bodyPr wrap="square" lIns="0" tIns="0" rIns="0" bIns="0" rtlCol="0" anchor="ctr"/>
          <a:lstStyle/>
          <a:p>
            <a:pPr algn="l" indent="0" marL="0">
              <a:buNone/>
            </a:pPr>
            <a:r>
              <a:rPr lang="en-US" sz="2100" b="1" dirty="0">
                <a:solidFill>
                  <a:srgbClr val="163A70"/>
                </a:solidFill>
                <a:latin typeface="Calibri" pitchFamily="34" charset="0"/>
                <a:ea typeface="Calibri" pitchFamily="34" charset="-122"/>
                <a:cs typeface="Calibri" pitchFamily="34" charset="-120"/>
              </a:rPr>
              <a:t>Drug delivery systems</a:t>
            </a:r>
            <a:endParaRPr lang="en-US" sz="2100" dirty="0"/>
          </a:p>
        </p:txBody>
      </p:sp>
      <p:sp>
        <p:nvSpPr>
          <p:cNvPr id="103" name="Shape 100"/>
          <p:cNvSpPr/>
          <p:nvPr/>
        </p:nvSpPr>
        <p:spPr>
          <a:xfrm>
            <a:off x="19202400" y="6327648"/>
            <a:ext cx="7040880" cy="365760"/>
          </a:xfrm>
          <a:prstGeom prst="roundRect">
            <a:avLst>
              <a:gd name="adj" fmla="val 50000"/>
            </a:avLst>
          </a:prstGeom>
          <a:solidFill>
            <a:srgbClr val="FFFFFF"/>
          </a:solidFill>
          <a:ln w="12700">
            <a:solidFill>
              <a:srgbClr val="1FA6A6"/>
            </a:solidFill>
            <a:prstDash val="solid"/>
          </a:ln>
        </p:spPr>
      </p:sp>
      <p:sp>
        <p:nvSpPr>
          <p:cNvPr id="104" name="Shape 101"/>
          <p:cNvSpPr/>
          <p:nvPr/>
        </p:nvSpPr>
        <p:spPr>
          <a:xfrm>
            <a:off x="19312128" y="6460236"/>
            <a:ext cx="100584" cy="100584"/>
          </a:xfrm>
          <a:prstGeom prst="ellipse">
            <a:avLst/>
          </a:prstGeom>
          <a:solidFill>
            <a:srgbClr val="1FA6A6"/>
          </a:solidFill>
          <a:ln w="12700">
            <a:solidFill>
              <a:srgbClr val="1FA6A6"/>
            </a:solidFill>
            <a:prstDash val="solid"/>
          </a:ln>
        </p:spPr>
      </p:sp>
      <p:sp>
        <p:nvSpPr>
          <p:cNvPr id="105" name="Text 102"/>
          <p:cNvSpPr/>
          <p:nvPr/>
        </p:nvSpPr>
        <p:spPr>
          <a:xfrm>
            <a:off x="19458432" y="6327648"/>
            <a:ext cx="6784848" cy="365760"/>
          </a:xfrm>
          <a:prstGeom prst="rect">
            <a:avLst/>
          </a:prstGeom>
          <a:noFill/>
          <a:ln/>
        </p:spPr>
        <p:txBody>
          <a:bodyPr wrap="square" lIns="0" tIns="0" rIns="0" bIns="0" rtlCol="0" anchor="ctr"/>
          <a:lstStyle/>
          <a:p>
            <a:pPr algn="l" indent="0" marL="0">
              <a:buNone/>
            </a:pPr>
            <a:r>
              <a:rPr lang="en-US" sz="2100" b="1" dirty="0">
                <a:solidFill>
                  <a:srgbClr val="163A70"/>
                </a:solidFill>
                <a:latin typeface="Calibri" pitchFamily="34" charset="0"/>
                <a:ea typeface="Calibri" pitchFamily="34" charset="-122"/>
                <a:cs typeface="Calibri" pitchFamily="34" charset="-120"/>
              </a:rPr>
              <a:t>Gene therapy</a:t>
            </a:r>
            <a:endParaRPr lang="en-US" sz="2100" dirty="0"/>
          </a:p>
        </p:txBody>
      </p:sp>
      <p:sp>
        <p:nvSpPr>
          <p:cNvPr id="106" name="Shape 103"/>
          <p:cNvSpPr/>
          <p:nvPr/>
        </p:nvSpPr>
        <p:spPr>
          <a:xfrm>
            <a:off x="19202400" y="6739128"/>
            <a:ext cx="7040880" cy="365760"/>
          </a:xfrm>
          <a:prstGeom prst="roundRect">
            <a:avLst>
              <a:gd name="adj" fmla="val 50000"/>
            </a:avLst>
          </a:prstGeom>
          <a:solidFill>
            <a:srgbClr val="FFFFFF"/>
          </a:solidFill>
          <a:ln w="12700">
            <a:solidFill>
              <a:srgbClr val="1FA6A6"/>
            </a:solidFill>
            <a:prstDash val="solid"/>
          </a:ln>
        </p:spPr>
      </p:sp>
      <p:sp>
        <p:nvSpPr>
          <p:cNvPr id="107" name="Shape 104"/>
          <p:cNvSpPr/>
          <p:nvPr/>
        </p:nvSpPr>
        <p:spPr>
          <a:xfrm>
            <a:off x="19312128" y="6871716"/>
            <a:ext cx="100584" cy="100584"/>
          </a:xfrm>
          <a:prstGeom prst="ellipse">
            <a:avLst/>
          </a:prstGeom>
          <a:solidFill>
            <a:srgbClr val="1FA6A6"/>
          </a:solidFill>
          <a:ln w="12700">
            <a:solidFill>
              <a:srgbClr val="1FA6A6"/>
            </a:solidFill>
            <a:prstDash val="solid"/>
          </a:ln>
        </p:spPr>
      </p:sp>
      <p:sp>
        <p:nvSpPr>
          <p:cNvPr id="108" name="Text 105"/>
          <p:cNvSpPr/>
          <p:nvPr/>
        </p:nvSpPr>
        <p:spPr>
          <a:xfrm>
            <a:off x="19458432" y="6739128"/>
            <a:ext cx="6784848" cy="365760"/>
          </a:xfrm>
          <a:prstGeom prst="rect">
            <a:avLst/>
          </a:prstGeom>
          <a:noFill/>
          <a:ln/>
        </p:spPr>
        <p:txBody>
          <a:bodyPr wrap="square" lIns="0" tIns="0" rIns="0" bIns="0" rtlCol="0" anchor="ctr"/>
          <a:lstStyle/>
          <a:p>
            <a:pPr algn="l" indent="0" marL="0">
              <a:buNone/>
            </a:pPr>
            <a:r>
              <a:rPr lang="en-US" sz="2100" b="1" dirty="0">
                <a:solidFill>
                  <a:srgbClr val="163A70"/>
                </a:solidFill>
                <a:latin typeface="Calibri" pitchFamily="34" charset="0"/>
                <a:ea typeface="Calibri" pitchFamily="34" charset="-122"/>
                <a:cs typeface="Calibri" pitchFamily="34" charset="-120"/>
              </a:rPr>
              <a:t>Liposomes</a:t>
            </a:r>
            <a:endParaRPr lang="en-US" sz="2100" dirty="0"/>
          </a:p>
        </p:txBody>
      </p:sp>
      <p:sp>
        <p:nvSpPr>
          <p:cNvPr id="109" name="Shape 106"/>
          <p:cNvSpPr/>
          <p:nvPr/>
        </p:nvSpPr>
        <p:spPr>
          <a:xfrm>
            <a:off x="19202400" y="7150608"/>
            <a:ext cx="7040880" cy="365760"/>
          </a:xfrm>
          <a:prstGeom prst="roundRect">
            <a:avLst>
              <a:gd name="adj" fmla="val 50000"/>
            </a:avLst>
          </a:prstGeom>
          <a:solidFill>
            <a:srgbClr val="FFFFFF"/>
          </a:solidFill>
          <a:ln w="12700">
            <a:solidFill>
              <a:srgbClr val="1FA6A6"/>
            </a:solidFill>
            <a:prstDash val="solid"/>
          </a:ln>
        </p:spPr>
      </p:sp>
      <p:sp>
        <p:nvSpPr>
          <p:cNvPr id="110" name="Shape 107"/>
          <p:cNvSpPr/>
          <p:nvPr/>
        </p:nvSpPr>
        <p:spPr>
          <a:xfrm>
            <a:off x="19312128" y="7283196"/>
            <a:ext cx="100584" cy="100584"/>
          </a:xfrm>
          <a:prstGeom prst="ellipse">
            <a:avLst/>
          </a:prstGeom>
          <a:solidFill>
            <a:srgbClr val="1FA6A6"/>
          </a:solidFill>
          <a:ln w="12700">
            <a:solidFill>
              <a:srgbClr val="1FA6A6"/>
            </a:solidFill>
            <a:prstDash val="solid"/>
          </a:ln>
        </p:spPr>
      </p:sp>
      <p:sp>
        <p:nvSpPr>
          <p:cNvPr id="111" name="Text 108"/>
          <p:cNvSpPr/>
          <p:nvPr/>
        </p:nvSpPr>
        <p:spPr>
          <a:xfrm>
            <a:off x="19458432" y="7150608"/>
            <a:ext cx="6784848" cy="365760"/>
          </a:xfrm>
          <a:prstGeom prst="rect">
            <a:avLst/>
          </a:prstGeom>
          <a:noFill/>
          <a:ln/>
        </p:spPr>
        <p:txBody>
          <a:bodyPr wrap="square" lIns="0" tIns="0" rIns="0" bIns="0" rtlCol="0" anchor="ctr"/>
          <a:lstStyle/>
          <a:p>
            <a:pPr algn="l" indent="0" marL="0">
              <a:buNone/>
            </a:pPr>
            <a:r>
              <a:rPr lang="en-US" sz="2100" b="1" dirty="0">
                <a:solidFill>
                  <a:srgbClr val="163A70"/>
                </a:solidFill>
                <a:latin typeface="Calibri" pitchFamily="34" charset="0"/>
                <a:ea typeface="Calibri" pitchFamily="34" charset="-122"/>
                <a:cs typeface="Calibri" pitchFamily="34" charset="-120"/>
              </a:rPr>
              <a:t>Nanomedicine</a:t>
            </a:r>
            <a:endParaRPr lang="en-US" sz="2100" dirty="0"/>
          </a:p>
        </p:txBody>
      </p:sp>
      <p:sp>
        <p:nvSpPr>
          <p:cNvPr id="112" name="Shape 109"/>
          <p:cNvSpPr/>
          <p:nvPr/>
        </p:nvSpPr>
        <p:spPr>
          <a:xfrm>
            <a:off x="731520" y="7955280"/>
            <a:ext cx="12664440" cy="4572000"/>
          </a:xfrm>
          <a:prstGeom prst="roundRect">
            <a:avLst>
              <a:gd name="adj" fmla="val 2800"/>
            </a:avLst>
          </a:prstGeom>
          <a:solidFill>
            <a:srgbClr val="F5F7FA"/>
          </a:solidFill>
          <a:ln w="15875">
            <a:solidFill>
              <a:srgbClr val="D7DEE8"/>
            </a:solidFill>
            <a:prstDash val="solid"/>
          </a:ln>
        </p:spPr>
      </p:sp>
      <p:sp>
        <p:nvSpPr>
          <p:cNvPr id="113" name="Shape 110"/>
          <p:cNvSpPr/>
          <p:nvPr/>
        </p:nvSpPr>
        <p:spPr>
          <a:xfrm>
            <a:off x="1143000" y="8266176"/>
            <a:ext cx="713232" cy="713232"/>
          </a:xfrm>
          <a:prstGeom prst="ellipse">
            <a:avLst/>
          </a:prstGeom>
          <a:solidFill>
            <a:srgbClr val="163A70"/>
          </a:solidFill>
          <a:ln w="12700">
            <a:solidFill>
              <a:srgbClr val="163A70"/>
            </a:solidFill>
            <a:prstDash val="solid"/>
          </a:ln>
        </p:spPr>
      </p:sp>
      <p:sp>
        <p:nvSpPr>
          <p:cNvPr id="114" name="Text 111"/>
          <p:cNvSpPr/>
          <p:nvPr/>
        </p:nvSpPr>
        <p:spPr>
          <a:xfrm>
            <a:off x="1143000" y="8266176"/>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02</a:t>
            </a:r>
            <a:endParaRPr lang="en-US" sz="2400" dirty="0"/>
          </a:p>
        </p:txBody>
      </p:sp>
      <p:sp>
        <p:nvSpPr>
          <p:cNvPr id="115" name="Text 112"/>
          <p:cNvSpPr/>
          <p:nvPr/>
        </p:nvSpPr>
        <p:spPr>
          <a:xfrm>
            <a:off x="2112264" y="8247888"/>
            <a:ext cx="9144000" cy="749808"/>
          </a:xfrm>
          <a:prstGeom prst="rect">
            <a:avLst/>
          </a:prstGeom>
          <a:noFill/>
          <a:ln/>
        </p:spPr>
        <p:txBody>
          <a:bodyPr wrap="square" lIns="0" tIns="0" rIns="0" bIns="0" rtlCol="0" anchor="ctr"/>
          <a:lstStyle/>
          <a:p>
            <a:pPr algn="l" indent="0" marL="0">
              <a:buNone/>
            </a:pPr>
            <a:r>
              <a:rPr lang="en-US" sz="3000" b="1" spc="120" kern="0" dirty="0">
                <a:solidFill>
                  <a:srgbClr val="163A70"/>
                </a:solidFill>
                <a:latin typeface="Calibri" pitchFamily="34" charset="0"/>
                <a:ea typeface="Calibri" pitchFamily="34" charset="-122"/>
                <a:cs typeface="Calibri" pitchFamily="34" charset="-120"/>
              </a:rPr>
              <a:t>INTRODUCTION</a:t>
            </a:r>
            <a:endParaRPr lang="en-US" sz="3000" dirty="0"/>
          </a:p>
        </p:txBody>
      </p:sp>
      <p:sp>
        <p:nvSpPr>
          <p:cNvPr id="116" name="Text 113"/>
          <p:cNvSpPr/>
          <p:nvPr/>
        </p:nvSpPr>
        <p:spPr>
          <a:xfrm>
            <a:off x="1188720" y="9162288"/>
            <a:ext cx="11750040" cy="3291840"/>
          </a:xfrm>
          <a:prstGeom prst="rect">
            <a:avLst/>
          </a:prstGeom>
          <a:noFill/>
          <a:ln/>
        </p:spPr>
        <p:txBody>
          <a:bodyPr wrap="square" lIns="0" tIns="0" rIns="0" bIns="0" rtlCol="0" anchor="t"/>
          <a:lstStyle/>
          <a:p>
            <a:pPr algn="just" indent="0" marL="0">
              <a:lnSpc>
                <a:spcPct val="120000"/>
              </a:lnSpc>
              <a:buNone/>
            </a:pPr>
            <a:r>
              <a:rPr lang="en-US" sz="2600" dirty="0">
                <a:solidFill>
                  <a:srgbClr val="1E293B"/>
                </a:solidFill>
                <a:latin typeface="Calibri" pitchFamily="34" charset="0"/>
                <a:ea typeface="Calibri" pitchFamily="34" charset="-122"/>
                <a:cs typeface="Calibri" pitchFamily="34" charset="-120"/>
              </a:rPr>
              <a:t>Liposomes are spherical vesicles composed of phospholipid bilayers, capable of encapsulating both hydrophilic and hydrophobic drugs. They were first described in 1964 as self-assembling colloidal structures formed by amphiphilic lipids in aqueous media. Liposomes enhance therapeutic efficacy by reducing drug toxicity and minimizing side effects on normal tissues. Due to their versatility and biocompatibility, they are widely studied for applications in cancer therapy, gene delivery, and other targeted treatments.</a:t>
            </a:r>
            <a:endParaRPr lang="en-US" sz="2600" dirty="0"/>
          </a:p>
        </p:txBody>
      </p:sp>
      <p:sp>
        <p:nvSpPr>
          <p:cNvPr id="117" name="Shape 114"/>
          <p:cNvSpPr/>
          <p:nvPr/>
        </p:nvSpPr>
        <p:spPr>
          <a:xfrm>
            <a:off x="731520" y="12728448"/>
            <a:ext cx="4026408" cy="1901952"/>
          </a:xfrm>
          <a:prstGeom prst="roundRect">
            <a:avLst>
              <a:gd name="adj" fmla="val 6731"/>
            </a:avLst>
          </a:prstGeom>
          <a:solidFill>
            <a:srgbClr val="FFFFFF"/>
          </a:solidFill>
          <a:ln w="19050">
            <a:solidFill>
              <a:srgbClr val="1FA6A6"/>
            </a:solidFill>
            <a:prstDash val="solid"/>
          </a:ln>
        </p:spPr>
      </p:sp>
      <p:sp>
        <p:nvSpPr>
          <p:cNvPr id="118" name="Text 115"/>
          <p:cNvSpPr/>
          <p:nvPr/>
        </p:nvSpPr>
        <p:spPr>
          <a:xfrm>
            <a:off x="731520" y="12929616"/>
            <a:ext cx="4026408" cy="777240"/>
          </a:xfrm>
          <a:prstGeom prst="rect">
            <a:avLst/>
          </a:prstGeom>
          <a:noFill/>
          <a:ln/>
        </p:spPr>
        <p:txBody>
          <a:bodyPr wrap="square" lIns="0" tIns="0" rIns="0" bIns="0" rtlCol="0" anchor="ctr"/>
          <a:lstStyle/>
          <a:p>
            <a:pPr algn="ctr" indent="0" marL="0">
              <a:buNone/>
            </a:pPr>
            <a:r>
              <a:rPr lang="en-US" sz="4000" b="1" dirty="0">
                <a:solidFill>
                  <a:srgbClr val="1FA6A6"/>
                </a:solidFill>
                <a:latin typeface="Cambria" pitchFamily="34" charset="0"/>
                <a:ea typeface="Cambria" pitchFamily="34" charset="-122"/>
                <a:cs typeface="Cambria" pitchFamily="34" charset="-120"/>
              </a:rPr>
              <a:t>1964</a:t>
            </a:r>
            <a:endParaRPr lang="en-US" sz="4000" dirty="0"/>
          </a:p>
        </p:txBody>
      </p:sp>
      <p:sp>
        <p:nvSpPr>
          <p:cNvPr id="119" name="Text 116"/>
          <p:cNvSpPr/>
          <p:nvPr/>
        </p:nvSpPr>
        <p:spPr>
          <a:xfrm>
            <a:off x="877824" y="13716000"/>
            <a:ext cx="3733800" cy="777240"/>
          </a:xfrm>
          <a:prstGeom prst="rect">
            <a:avLst/>
          </a:prstGeom>
          <a:noFill/>
          <a:ln/>
        </p:spPr>
        <p:txBody>
          <a:bodyPr wrap="square" lIns="0" tIns="0" rIns="0" bIns="0" rtlCol="0" anchor="t"/>
          <a:lstStyle/>
          <a:p>
            <a:pPr algn="ctr" indent="0" marL="0">
              <a:lnSpc>
                <a:spcPct val="105000"/>
              </a:lnSpc>
              <a:buNone/>
            </a:pPr>
            <a:r>
              <a:rPr lang="en-US" sz="1700" dirty="0">
                <a:solidFill>
                  <a:srgbClr val="5A6B84"/>
                </a:solidFill>
                <a:latin typeface="Calibri" pitchFamily="34" charset="0"/>
                <a:ea typeface="Calibri" pitchFamily="34" charset="-122"/>
                <a:cs typeface="Calibri" pitchFamily="34" charset="-120"/>
              </a:rPr>
              <a:t>First described as</a:t>
            </a:r>
            <a:endParaRPr lang="en-US" sz="1700" dirty="0"/>
          </a:p>
          <a:p>
            <a:pPr algn="ctr" indent="0" marL="0">
              <a:lnSpc>
                <a:spcPct val="105000"/>
              </a:lnSpc>
              <a:buNone/>
            </a:pPr>
            <a:r>
              <a:rPr lang="en-US" sz="1700" dirty="0">
                <a:solidFill>
                  <a:srgbClr val="5A6B84"/>
                </a:solidFill>
                <a:latin typeface="Calibri" pitchFamily="34" charset="0"/>
                <a:ea typeface="Calibri" pitchFamily="34" charset="-122"/>
                <a:cs typeface="Calibri" pitchFamily="34" charset="-120"/>
              </a:rPr>
              <a:t>self-assembling colloids</a:t>
            </a:r>
            <a:endParaRPr lang="en-US" sz="1700" dirty="0"/>
          </a:p>
        </p:txBody>
      </p:sp>
      <p:sp>
        <p:nvSpPr>
          <p:cNvPr id="120" name="Shape 117"/>
          <p:cNvSpPr/>
          <p:nvPr/>
        </p:nvSpPr>
        <p:spPr>
          <a:xfrm>
            <a:off x="5050536" y="12728448"/>
            <a:ext cx="4026408" cy="1901952"/>
          </a:xfrm>
          <a:prstGeom prst="roundRect">
            <a:avLst>
              <a:gd name="adj" fmla="val 6731"/>
            </a:avLst>
          </a:prstGeom>
          <a:solidFill>
            <a:srgbClr val="FFFFFF"/>
          </a:solidFill>
          <a:ln w="19050">
            <a:solidFill>
              <a:srgbClr val="1FA6A6"/>
            </a:solidFill>
            <a:prstDash val="solid"/>
          </a:ln>
        </p:spPr>
      </p:sp>
      <p:sp>
        <p:nvSpPr>
          <p:cNvPr id="121" name="Text 118"/>
          <p:cNvSpPr/>
          <p:nvPr/>
        </p:nvSpPr>
        <p:spPr>
          <a:xfrm>
            <a:off x="5050536" y="12929616"/>
            <a:ext cx="4026408" cy="777240"/>
          </a:xfrm>
          <a:prstGeom prst="rect">
            <a:avLst/>
          </a:prstGeom>
          <a:noFill/>
          <a:ln/>
        </p:spPr>
        <p:txBody>
          <a:bodyPr wrap="square" lIns="0" tIns="0" rIns="0" bIns="0" rtlCol="0" anchor="ctr"/>
          <a:lstStyle/>
          <a:p>
            <a:pPr algn="ctr" indent="0" marL="0">
              <a:buNone/>
            </a:pPr>
            <a:r>
              <a:rPr lang="en-US" sz="3000" b="1" dirty="0">
                <a:solidFill>
                  <a:srgbClr val="1FA6A6"/>
                </a:solidFill>
                <a:latin typeface="Cambria" pitchFamily="34" charset="0"/>
                <a:ea typeface="Cambria" pitchFamily="34" charset="-122"/>
                <a:cs typeface="Cambria" pitchFamily="34" charset="-120"/>
              </a:rPr>
              <a:t>BILAYER</a:t>
            </a:r>
            <a:endParaRPr lang="en-US" sz="3000" dirty="0"/>
          </a:p>
        </p:txBody>
      </p:sp>
      <p:sp>
        <p:nvSpPr>
          <p:cNvPr id="122" name="Text 119"/>
          <p:cNvSpPr/>
          <p:nvPr/>
        </p:nvSpPr>
        <p:spPr>
          <a:xfrm>
            <a:off x="5196840" y="13716000"/>
            <a:ext cx="3733800" cy="777240"/>
          </a:xfrm>
          <a:prstGeom prst="rect">
            <a:avLst/>
          </a:prstGeom>
          <a:noFill/>
          <a:ln/>
        </p:spPr>
        <p:txBody>
          <a:bodyPr wrap="square" lIns="0" tIns="0" rIns="0" bIns="0" rtlCol="0" anchor="t"/>
          <a:lstStyle/>
          <a:p>
            <a:pPr algn="ctr" indent="0" marL="0">
              <a:lnSpc>
                <a:spcPct val="105000"/>
              </a:lnSpc>
              <a:buNone/>
            </a:pPr>
            <a:r>
              <a:rPr lang="en-US" sz="1700" dirty="0">
                <a:solidFill>
                  <a:srgbClr val="5A6B84"/>
                </a:solidFill>
                <a:latin typeface="Calibri" pitchFamily="34" charset="0"/>
                <a:ea typeface="Calibri" pitchFamily="34" charset="-122"/>
                <a:cs typeface="Calibri" pitchFamily="34" charset="-120"/>
              </a:rPr>
              <a:t>Phospholipid vesicle</a:t>
            </a:r>
            <a:endParaRPr lang="en-US" sz="1700" dirty="0"/>
          </a:p>
          <a:p>
            <a:pPr algn="ctr" indent="0" marL="0">
              <a:lnSpc>
                <a:spcPct val="105000"/>
              </a:lnSpc>
              <a:buNone/>
            </a:pPr>
            <a:r>
              <a:rPr lang="en-US" sz="1700" dirty="0">
                <a:solidFill>
                  <a:srgbClr val="5A6B84"/>
                </a:solidFill>
                <a:latin typeface="Calibri" pitchFamily="34" charset="0"/>
                <a:ea typeface="Calibri" pitchFamily="34" charset="-122"/>
                <a:cs typeface="Calibri" pitchFamily="34" charset="-120"/>
              </a:rPr>
              <a:t>architecture</a:t>
            </a:r>
            <a:endParaRPr lang="en-US" sz="1700" dirty="0"/>
          </a:p>
        </p:txBody>
      </p:sp>
      <p:sp>
        <p:nvSpPr>
          <p:cNvPr id="123" name="Shape 120"/>
          <p:cNvSpPr/>
          <p:nvPr/>
        </p:nvSpPr>
        <p:spPr>
          <a:xfrm>
            <a:off x="9369552" y="12728448"/>
            <a:ext cx="4026408" cy="1901952"/>
          </a:xfrm>
          <a:prstGeom prst="roundRect">
            <a:avLst>
              <a:gd name="adj" fmla="val 6731"/>
            </a:avLst>
          </a:prstGeom>
          <a:solidFill>
            <a:srgbClr val="FFFFFF"/>
          </a:solidFill>
          <a:ln w="19050">
            <a:solidFill>
              <a:srgbClr val="1FA6A6"/>
            </a:solidFill>
            <a:prstDash val="solid"/>
          </a:ln>
        </p:spPr>
      </p:sp>
      <p:sp>
        <p:nvSpPr>
          <p:cNvPr id="124" name="Text 121"/>
          <p:cNvSpPr/>
          <p:nvPr/>
        </p:nvSpPr>
        <p:spPr>
          <a:xfrm>
            <a:off x="9369552" y="12929616"/>
            <a:ext cx="4026408" cy="777240"/>
          </a:xfrm>
          <a:prstGeom prst="rect">
            <a:avLst/>
          </a:prstGeom>
          <a:noFill/>
          <a:ln/>
        </p:spPr>
        <p:txBody>
          <a:bodyPr wrap="square" lIns="0" tIns="0" rIns="0" bIns="0" rtlCol="0" anchor="ctr"/>
          <a:lstStyle/>
          <a:p>
            <a:pPr algn="ctr" indent="0" marL="0">
              <a:buNone/>
            </a:pPr>
            <a:r>
              <a:rPr lang="en-US" sz="4000" b="1" dirty="0">
                <a:solidFill>
                  <a:srgbClr val="1FA6A6"/>
                </a:solidFill>
                <a:latin typeface="Cambria" pitchFamily="34" charset="0"/>
                <a:ea typeface="Cambria" pitchFamily="34" charset="-122"/>
                <a:cs typeface="Cambria" pitchFamily="34" charset="-120"/>
              </a:rPr>
              <a:t>DUAL</a:t>
            </a:r>
            <a:endParaRPr lang="en-US" sz="4000" dirty="0"/>
          </a:p>
        </p:txBody>
      </p:sp>
      <p:sp>
        <p:nvSpPr>
          <p:cNvPr id="125" name="Text 122"/>
          <p:cNvSpPr/>
          <p:nvPr/>
        </p:nvSpPr>
        <p:spPr>
          <a:xfrm>
            <a:off x="9515856" y="13716000"/>
            <a:ext cx="3733800" cy="777240"/>
          </a:xfrm>
          <a:prstGeom prst="rect">
            <a:avLst/>
          </a:prstGeom>
          <a:noFill/>
          <a:ln/>
        </p:spPr>
        <p:txBody>
          <a:bodyPr wrap="square" lIns="0" tIns="0" rIns="0" bIns="0" rtlCol="0" anchor="t"/>
          <a:lstStyle/>
          <a:p>
            <a:pPr algn="ctr" indent="0" marL="0">
              <a:lnSpc>
                <a:spcPct val="105000"/>
              </a:lnSpc>
              <a:buNone/>
            </a:pPr>
            <a:r>
              <a:rPr lang="en-US" sz="1700" dirty="0">
                <a:solidFill>
                  <a:srgbClr val="5A6B84"/>
                </a:solidFill>
                <a:latin typeface="Calibri" pitchFamily="34" charset="0"/>
                <a:ea typeface="Calibri" pitchFamily="34" charset="-122"/>
                <a:cs typeface="Calibri" pitchFamily="34" charset="-120"/>
              </a:rPr>
              <a:t>Hydrophilic +</a:t>
            </a:r>
            <a:endParaRPr lang="en-US" sz="1700" dirty="0"/>
          </a:p>
          <a:p>
            <a:pPr algn="ctr" indent="0" marL="0">
              <a:lnSpc>
                <a:spcPct val="105000"/>
              </a:lnSpc>
              <a:buNone/>
            </a:pPr>
            <a:r>
              <a:rPr lang="en-US" sz="1700" dirty="0">
                <a:solidFill>
                  <a:srgbClr val="5A6B84"/>
                </a:solidFill>
                <a:latin typeface="Calibri" pitchFamily="34" charset="0"/>
                <a:ea typeface="Calibri" pitchFamily="34" charset="-122"/>
                <a:cs typeface="Calibri" pitchFamily="34" charset="-120"/>
              </a:rPr>
              <a:t>hydrophobic payload</a:t>
            </a:r>
            <a:endParaRPr lang="en-US" sz="1700" dirty="0"/>
          </a:p>
        </p:txBody>
      </p:sp>
      <p:pic>
        <p:nvPicPr>
          <p:cNvPr id="126" name="Image 1" descr="assets/fig_anatomy.png">    </p:cNvPr>
          <p:cNvPicPr>
            <a:picLocks noChangeAspect="1"/>
          </p:cNvPicPr>
          <p:nvPr/>
        </p:nvPicPr>
        <p:blipFill>
          <a:blip r:embed="rId2"/>
          <a:stretch>
            <a:fillRect/>
          </a:stretch>
        </p:blipFill>
        <p:spPr>
          <a:xfrm>
            <a:off x="14418125" y="8046720"/>
            <a:ext cx="8194543" cy="6035040"/>
          </a:xfrm>
          <a:prstGeom prst="rect">
            <a:avLst/>
          </a:prstGeom>
        </p:spPr>
      </p:pic>
      <p:sp>
        <p:nvSpPr>
          <p:cNvPr id="127" name="Shape 123"/>
          <p:cNvSpPr/>
          <p:nvPr/>
        </p:nvSpPr>
        <p:spPr>
          <a:xfrm>
            <a:off x="14418125" y="8046720"/>
            <a:ext cx="8194543" cy="6035040"/>
          </a:xfrm>
          <a:prstGeom prst="rect">
            <a:avLst/>
          </a:prstGeom>
          <a:ln w="12700">
            <a:solidFill>
              <a:srgbClr val="D7DEE8"/>
            </a:solidFill>
            <a:prstDash val="solid"/>
          </a:ln>
        </p:spPr>
      </p:sp>
      <p:pic>
        <p:nvPicPr>
          <p:cNvPr id="128" name="Image 2" descr="assets/fig_loading.png">    </p:cNvPr>
          <p:cNvPicPr>
            <a:picLocks noChangeAspect="1"/>
          </p:cNvPicPr>
          <p:nvPr/>
        </p:nvPicPr>
        <p:blipFill>
          <a:blip r:embed="rId3"/>
          <a:stretch>
            <a:fillRect/>
          </a:stretch>
        </p:blipFill>
        <p:spPr>
          <a:xfrm>
            <a:off x="23069868" y="8046720"/>
            <a:ext cx="3248526" cy="6035040"/>
          </a:xfrm>
          <a:prstGeom prst="rect">
            <a:avLst/>
          </a:prstGeom>
        </p:spPr>
      </p:pic>
      <p:sp>
        <p:nvSpPr>
          <p:cNvPr id="129" name="Shape 124"/>
          <p:cNvSpPr/>
          <p:nvPr/>
        </p:nvSpPr>
        <p:spPr>
          <a:xfrm>
            <a:off x="23069868" y="8046720"/>
            <a:ext cx="3248526" cy="6035040"/>
          </a:xfrm>
          <a:prstGeom prst="rect">
            <a:avLst/>
          </a:prstGeom>
          <a:ln w="12700">
            <a:solidFill>
              <a:srgbClr val="D7DEE8"/>
            </a:solidFill>
            <a:prstDash val="solid"/>
          </a:ln>
        </p:spPr>
      </p:sp>
      <p:sp>
        <p:nvSpPr>
          <p:cNvPr id="130" name="Text 125"/>
          <p:cNvSpPr/>
          <p:nvPr/>
        </p:nvSpPr>
        <p:spPr>
          <a:xfrm>
            <a:off x="14418125" y="14173200"/>
            <a:ext cx="8194543" cy="640080"/>
          </a:xfrm>
          <a:prstGeom prst="rect">
            <a:avLst/>
          </a:prstGeom>
          <a:noFill/>
          <a:ln/>
        </p:spPr>
        <p:txBody>
          <a:bodyPr wrap="square" lIns="0" tIns="0" rIns="0" bIns="0" rtlCol="0" anchor="ctr"/>
          <a:lstStyle/>
          <a:p>
            <a:pPr algn="l" indent="0" marL="0">
              <a:lnSpc>
                <a:spcPct val="100000"/>
              </a:lnSpc>
              <a:buNone/>
            </a:pPr>
            <a:r>
              <a:rPr lang="en-US" sz="1600" b="1" i="1" dirty="0">
                <a:solidFill>
                  <a:srgbClr val="163A70"/>
                </a:solidFill>
                <a:latin typeface="Calibri" pitchFamily="34" charset="0"/>
                <a:ea typeface="Calibri" pitchFamily="34" charset="-122"/>
                <a:cs typeface="Calibri" pitchFamily="34" charset="-120"/>
              </a:rPr>
              <a:t>Figure 1. </a:t>
            </a:r>
            <a:pPr algn="l" indent="0" marL="0">
              <a:lnSpc>
                <a:spcPct val="100000"/>
              </a:lnSpc>
              <a:buNone/>
            </a:pPr>
            <a:r>
              <a:rPr lang="en-US" sz="1600" i="1" dirty="0">
                <a:solidFill>
                  <a:srgbClr val="64748B"/>
                </a:solidFill>
                <a:latin typeface="Calibri" pitchFamily="34" charset="0"/>
                <a:ea typeface="Calibri" pitchFamily="34" charset="-122"/>
                <a:cs typeface="Calibri" pitchFamily="34" charset="-120"/>
              </a:rPr>
              <a:t>Liposome architecture — hydrophilic surface, hydrophobic bilayer, phospholipid polar head and apolar region.</a:t>
            </a:r>
            <a:endParaRPr lang="en-US" sz="1600" dirty="0"/>
          </a:p>
        </p:txBody>
      </p:sp>
      <p:sp>
        <p:nvSpPr>
          <p:cNvPr id="131" name="Text 126"/>
          <p:cNvSpPr/>
          <p:nvPr/>
        </p:nvSpPr>
        <p:spPr>
          <a:xfrm>
            <a:off x="23069868" y="14173200"/>
            <a:ext cx="3248526" cy="640080"/>
          </a:xfrm>
          <a:prstGeom prst="rect">
            <a:avLst/>
          </a:prstGeom>
          <a:noFill/>
          <a:ln/>
        </p:spPr>
        <p:txBody>
          <a:bodyPr wrap="square" lIns="0" tIns="0" rIns="0" bIns="0" rtlCol="0" anchor="ctr"/>
          <a:lstStyle/>
          <a:p>
            <a:pPr algn="l" indent="0" marL="0">
              <a:lnSpc>
                <a:spcPct val="100000"/>
              </a:lnSpc>
              <a:buNone/>
            </a:pPr>
            <a:r>
              <a:rPr lang="en-US" sz="1600" b="1" i="1" dirty="0">
                <a:solidFill>
                  <a:srgbClr val="163A70"/>
                </a:solidFill>
                <a:latin typeface="Calibri" pitchFamily="34" charset="0"/>
                <a:ea typeface="Calibri" pitchFamily="34" charset="-122"/>
                <a:cs typeface="Calibri" pitchFamily="34" charset="-120"/>
              </a:rPr>
              <a:t>Figure 2. </a:t>
            </a:r>
            <a:pPr algn="l" indent="0" marL="0">
              <a:lnSpc>
                <a:spcPct val="100000"/>
              </a:lnSpc>
              <a:buNone/>
            </a:pPr>
            <a:r>
              <a:rPr lang="en-US" sz="1600" i="1" dirty="0">
                <a:solidFill>
                  <a:srgbClr val="64748B"/>
                </a:solidFill>
                <a:latin typeface="Calibri" pitchFamily="34" charset="0"/>
                <a:ea typeface="Calibri" pitchFamily="34" charset="-122"/>
                <a:cs typeface="Calibri" pitchFamily="34" charset="-120"/>
              </a:rPr>
              <a:t>Drug loading strategies.</a:t>
            </a:r>
            <a:endParaRPr lang="en-US" sz="1600" dirty="0"/>
          </a:p>
        </p:txBody>
      </p:sp>
      <p:sp>
        <p:nvSpPr>
          <p:cNvPr id="132" name="Shape 127"/>
          <p:cNvSpPr/>
          <p:nvPr/>
        </p:nvSpPr>
        <p:spPr>
          <a:xfrm>
            <a:off x="731520" y="14950440"/>
            <a:ext cx="12664440" cy="9601200"/>
          </a:xfrm>
          <a:prstGeom prst="roundRect">
            <a:avLst>
              <a:gd name="adj" fmla="val 1333"/>
            </a:avLst>
          </a:prstGeom>
          <a:solidFill>
            <a:srgbClr val="F5F7FA"/>
          </a:solidFill>
          <a:ln w="15875">
            <a:solidFill>
              <a:srgbClr val="D7DEE8"/>
            </a:solidFill>
            <a:prstDash val="solid"/>
          </a:ln>
        </p:spPr>
      </p:sp>
      <p:sp>
        <p:nvSpPr>
          <p:cNvPr id="133" name="Shape 128"/>
          <p:cNvSpPr/>
          <p:nvPr/>
        </p:nvSpPr>
        <p:spPr>
          <a:xfrm>
            <a:off x="1143000" y="15261336"/>
            <a:ext cx="713232" cy="713232"/>
          </a:xfrm>
          <a:prstGeom prst="ellipse">
            <a:avLst/>
          </a:prstGeom>
          <a:solidFill>
            <a:srgbClr val="163A70"/>
          </a:solidFill>
          <a:ln w="12700">
            <a:solidFill>
              <a:srgbClr val="163A70"/>
            </a:solidFill>
            <a:prstDash val="solid"/>
          </a:ln>
        </p:spPr>
      </p:sp>
      <p:sp>
        <p:nvSpPr>
          <p:cNvPr id="134" name="Text 129"/>
          <p:cNvSpPr/>
          <p:nvPr/>
        </p:nvSpPr>
        <p:spPr>
          <a:xfrm>
            <a:off x="1143000" y="15261336"/>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03</a:t>
            </a:r>
            <a:endParaRPr lang="en-US" sz="2400" dirty="0"/>
          </a:p>
        </p:txBody>
      </p:sp>
      <p:sp>
        <p:nvSpPr>
          <p:cNvPr id="135" name="Text 130"/>
          <p:cNvSpPr/>
          <p:nvPr/>
        </p:nvSpPr>
        <p:spPr>
          <a:xfrm>
            <a:off x="2112264" y="15243048"/>
            <a:ext cx="9144000" cy="749808"/>
          </a:xfrm>
          <a:prstGeom prst="rect">
            <a:avLst/>
          </a:prstGeom>
          <a:noFill/>
          <a:ln/>
        </p:spPr>
        <p:txBody>
          <a:bodyPr wrap="square" lIns="0" tIns="0" rIns="0" bIns="0" rtlCol="0" anchor="ctr"/>
          <a:lstStyle/>
          <a:p>
            <a:pPr algn="l" indent="0" marL="0">
              <a:buNone/>
            </a:pPr>
            <a:r>
              <a:rPr lang="en-US" sz="3000" b="1" spc="120" kern="0" dirty="0">
                <a:solidFill>
                  <a:srgbClr val="163A70"/>
                </a:solidFill>
                <a:latin typeface="Calibri" pitchFamily="34" charset="0"/>
                <a:ea typeface="Calibri" pitchFamily="34" charset="-122"/>
                <a:cs typeface="Calibri" pitchFamily="34" charset="-120"/>
              </a:rPr>
              <a:t>METHODOLOGY</a:t>
            </a:r>
            <a:endParaRPr lang="en-US" sz="3000" dirty="0"/>
          </a:p>
        </p:txBody>
      </p:sp>
      <p:sp>
        <p:nvSpPr>
          <p:cNvPr id="136" name="Shape 131"/>
          <p:cNvSpPr/>
          <p:nvPr/>
        </p:nvSpPr>
        <p:spPr>
          <a:xfrm>
            <a:off x="1188720" y="16175736"/>
            <a:ext cx="11750040" cy="1152144"/>
          </a:xfrm>
          <a:prstGeom prst="roundRect">
            <a:avLst>
              <a:gd name="adj" fmla="val 9524"/>
            </a:avLst>
          </a:prstGeom>
          <a:solidFill>
            <a:srgbClr val="FFFFFF"/>
          </a:solidFill>
          <a:ln w="19050">
            <a:solidFill>
              <a:srgbClr val="163A70"/>
            </a:solidFill>
            <a:prstDash val="solid"/>
          </a:ln>
        </p:spPr>
      </p:sp>
      <p:sp>
        <p:nvSpPr>
          <p:cNvPr id="137" name="Shape 132"/>
          <p:cNvSpPr/>
          <p:nvPr/>
        </p:nvSpPr>
        <p:spPr>
          <a:xfrm>
            <a:off x="1389888" y="16358616"/>
            <a:ext cx="786384" cy="786384"/>
          </a:xfrm>
          <a:prstGeom prst="ellipse">
            <a:avLst/>
          </a:prstGeom>
          <a:solidFill>
            <a:srgbClr val="163A70"/>
          </a:solidFill>
          <a:ln w="12700">
            <a:solidFill>
              <a:srgbClr val="163A70"/>
            </a:solidFill>
            <a:prstDash val="solid"/>
          </a:ln>
        </p:spPr>
      </p:sp>
      <p:pic>
        <p:nvPicPr>
          <p:cNvPr id="138" name="Image 3" descr="icons/m1.png">    </p:cNvPr>
          <p:cNvPicPr>
            <a:picLocks noChangeAspect="1"/>
          </p:cNvPicPr>
          <p:nvPr/>
        </p:nvPicPr>
        <p:blipFill>
          <a:blip r:embed="rId4"/>
          <a:stretch>
            <a:fillRect/>
          </a:stretch>
        </p:blipFill>
        <p:spPr>
          <a:xfrm>
            <a:off x="1581912" y="16550640"/>
            <a:ext cx="402336" cy="402336"/>
          </a:xfrm>
          <a:prstGeom prst="rect">
            <a:avLst/>
          </a:prstGeom>
        </p:spPr>
      </p:pic>
      <p:sp>
        <p:nvSpPr>
          <p:cNvPr id="139" name="Text 133"/>
          <p:cNvSpPr/>
          <p:nvPr/>
        </p:nvSpPr>
        <p:spPr>
          <a:xfrm>
            <a:off x="2359152" y="16322040"/>
            <a:ext cx="2926080" cy="292608"/>
          </a:xfrm>
          <a:prstGeom prst="rect">
            <a:avLst/>
          </a:prstGeom>
          <a:noFill/>
          <a:ln/>
        </p:spPr>
        <p:txBody>
          <a:bodyPr wrap="square" lIns="0" tIns="0" rIns="0" bIns="0" rtlCol="0" anchor="ctr"/>
          <a:lstStyle/>
          <a:p>
            <a:pPr indent="0" marL="0">
              <a:buNone/>
            </a:pPr>
            <a:r>
              <a:rPr lang="en-US" sz="1400" b="1" spc="160" kern="0" dirty="0">
                <a:solidFill>
                  <a:srgbClr val="64748B"/>
                </a:solidFill>
                <a:latin typeface="Calibri" pitchFamily="34" charset="0"/>
                <a:ea typeface="Calibri" pitchFamily="34" charset="-122"/>
                <a:cs typeface="Calibri" pitchFamily="34" charset="-120"/>
              </a:rPr>
              <a:t>STEP 01</a:t>
            </a:r>
            <a:endParaRPr lang="en-US" sz="1400" dirty="0"/>
          </a:p>
        </p:txBody>
      </p:sp>
      <p:sp>
        <p:nvSpPr>
          <p:cNvPr id="140" name="Text 134"/>
          <p:cNvSpPr/>
          <p:nvPr/>
        </p:nvSpPr>
        <p:spPr>
          <a:xfrm>
            <a:off x="2359152" y="16596360"/>
            <a:ext cx="10287000" cy="548640"/>
          </a:xfrm>
          <a:prstGeom prst="rect">
            <a:avLst/>
          </a:prstGeom>
          <a:noFill/>
          <a:ln/>
        </p:spPr>
        <p:txBody>
          <a:bodyPr wrap="square" lIns="0" tIns="0" rIns="0" bIns="0" rtlCol="0" anchor="t"/>
          <a:lstStyle/>
          <a:p>
            <a:pPr indent="0" marL="0">
              <a:buNone/>
            </a:pPr>
            <a:r>
              <a:rPr lang="en-US" sz="2500" b="1" dirty="0">
                <a:solidFill>
                  <a:srgbClr val="163A70"/>
                </a:solidFill>
                <a:latin typeface="Calibri" pitchFamily="34" charset="0"/>
                <a:ea typeface="Calibri" pitchFamily="34" charset="-122"/>
                <a:cs typeface="Calibri" pitchFamily="34" charset="-120"/>
              </a:rPr>
              <a:t>Literature Review</a:t>
            </a:r>
            <a:endParaRPr lang="en-US" sz="2500" dirty="0"/>
          </a:p>
        </p:txBody>
      </p:sp>
      <p:sp>
        <p:nvSpPr>
          <p:cNvPr id="141" name="Shape 135"/>
          <p:cNvSpPr/>
          <p:nvPr/>
        </p:nvSpPr>
        <p:spPr>
          <a:xfrm>
            <a:off x="6917436" y="17355312"/>
            <a:ext cx="292608" cy="237744"/>
          </a:xfrm>
          <a:prstGeom prst="downArrow">
            <a:avLst/>
          </a:prstGeom>
          <a:solidFill>
            <a:srgbClr val="4E7BFF"/>
          </a:solidFill>
          <a:ln w="12700">
            <a:solidFill>
              <a:srgbClr val="4E7BFF"/>
            </a:solidFill>
            <a:prstDash val="solid"/>
          </a:ln>
        </p:spPr>
      </p:sp>
      <p:sp>
        <p:nvSpPr>
          <p:cNvPr id="142" name="Shape 136"/>
          <p:cNvSpPr/>
          <p:nvPr/>
        </p:nvSpPr>
        <p:spPr>
          <a:xfrm>
            <a:off x="1188720" y="17602200"/>
            <a:ext cx="11750040" cy="1152144"/>
          </a:xfrm>
          <a:prstGeom prst="roundRect">
            <a:avLst>
              <a:gd name="adj" fmla="val 9524"/>
            </a:avLst>
          </a:prstGeom>
          <a:solidFill>
            <a:srgbClr val="FFFFFF"/>
          </a:solidFill>
          <a:ln w="19050">
            <a:solidFill>
              <a:srgbClr val="1FA6A6"/>
            </a:solidFill>
            <a:prstDash val="solid"/>
          </a:ln>
        </p:spPr>
      </p:sp>
      <p:sp>
        <p:nvSpPr>
          <p:cNvPr id="143" name="Shape 137"/>
          <p:cNvSpPr/>
          <p:nvPr/>
        </p:nvSpPr>
        <p:spPr>
          <a:xfrm>
            <a:off x="1389888" y="17785080"/>
            <a:ext cx="786384" cy="786384"/>
          </a:xfrm>
          <a:prstGeom prst="ellipse">
            <a:avLst/>
          </a:prstGeom>
          <a:solidFill>
            <a:srgbClr val="1FA6A6"/>
          </a:solidFill>
          <a:ln w="12700">
            <a:solidFill>
              <a:srgbClr val="1FA6A6"/>
            </a:solidFill>
            <a:prstDash val="solid"/>
          </a:ln>
        </p:spPr>
      </p:sp>
      <p:pic>
        <p:nvPicPr>
          <p:cNvPr id="144" name="Image 4" descr="icons/m2.png">    </p:cNvPr>
          <p:cNvPicPr>
            <a:picLocks noChangeAspect="1"/>
          </p:cNvPicPr>
          <p:nvPr/>
        </p:nvPicPr>
        <p:blipFill>
          <a:blip r:embed="rId5"/>
          <a:stretch>
            <a:fillRect/>
          </a:stretch>
        </p:blipFill>
        <p:spPr>
          <a:xfrm>
            <a:off x="1581912" y="17977104"/>
            <a:ext cx="402336" cy="402336"/>
          </a:xfrm>
          <a:prstGeom prst="rect">
            <a:avLst/>
          </a:prstGeom>
        </p:spPr>
      </p:pic>
      <p:sp>
        <p:nvSpPr>
          <p:cNvPr id="145" name="Text 138"/>
          <p:cNvSpPr/>
          <p:nvPr/>
        </p:nvSpPr>
        <p:spPr>
          <a:xfrm>
            <a:off x="2359152" y="17748504"/>
            <a:ext cx="2926080" cy="292608"/>
          </a:xfrm>
          <a:prstGeom prst="rect">
            <a:avLst/>
          </a:prstGeom>
          <a:noFill/>
          <a:ln/>
        </p:spPr>
        <p:txBody>
          <a:bodyPr wrap="square" lIns="0" tIns="0" rIns="0" bIns="0" rtlCol="0" anchor="ctr"/>
          <a:lstStyle/>
          <a:p>
            <a:pPr indent="0" marL="0">
              <a:buNone/>
            </a:pPr>
            <a:r>
              <a:rPr lang="en-US" sz="1400" b="1" spc="160" kern="0" dirty="0">
                <a:solidFill>
                  <a:srgbClr val="64748B"/>
                </a:solidFill>
                <a:latin typeface="Calibri" pitchFamily="34" charset="0"/>
                <a:ea typeface="Calibri" pitchFamily="34" charset="-122"/>
                <a:cs typeface="Calibri" pitchFamily="34" charset="-120"/>
              </a:rPr>
              <a:t>STEP 02</a:t>
            </a:r>
            <a:endParaRPr lang="en-US" sz="1400" dirty="0"/>
          </a:p>
        </p:txBody>
      </p:sp>
      <p:sp>
        <p:nvSpPr>
          <p:cNvPr id="146" name="Text 139"/>
          <p:cNvSpPr/>
          <p:nvPr/>
        </p:nvSpPr>
        <p:spPr>
          <a:xfrm>
            <a:off x="2359152" y="18022824"/>
            <a:ext cx="10287000" cy="548640"/>
          </a:xfrm>
          <a:prstGeom prst="rect">
            <a:avLst/>
          </a:prstGeom>
          <a:noFill/>
          <a:ln/>
        </p:spPr>
        <p:txBody>
          <a:bodyPr wrap="square" lIns="0" tIns="0" rIns="0" bIns="0" rtlCol="0" anchor="t"/>
          <a:lstStyle/>
          <a:p>
            <a:pPr indent="0" marL="0">
              <a:buNone/>
            </a:pPr>
            <a:r>
              <a:rPr lang="en-US" sz="2500" b="1" dirty="0">
                <a:solidFill>
                  <a:srgbClr val="163A70"/>
                </a:solidFill>
                <a:latin typeface="Calibri" pitchFamily="34" charset="0"/>
                <a:ea typeface="Calibri" pitchFamily="34" charset="-122"/>
                <a:cs typeface="Calibri" pitchFamily="34" charset="-120"/>
              </a:rPr>
              <a:t>Preparation methods</a:t>
            </a:r>
            <a:endParaRPr lang="en-US" sz="2500" dirty="0"/>
          </a:p>
        </p:txBody>
      </p:sp>
      <p:sp>
        <p:nvSpPr>
          <p:cNvPr id="147" name="Shape 140"/>
          <p:cNvSpPr/>
          <p:nvPr/>
        </p:nvSpPr>
        <p:spPr>
          <a:xfrm>
            <a:off x="6917436" y="18781776"/>
            <a:ext cx="292608" cy="237744"/>
          </a:xfrm>
          <a:prstGeom prst="downArrow">
            <a:avLst/>
          </a:prstGeom>
          <a:solidFill>
            <a:srgbClr val="4E7BFF"/>
          </a:solidFill>
          <a:ln w="12700">
            <a:solidFill>
              <a:srgbClr val="4E7BFF"/>
            </a:solidFill>
            <a:prstDash val="solid"/>
          </a:ln>
        </p:spPr>
      </p:sp>
      <p:sp>
        <p:nvSpPr>
          <p:cNvPr id="148" name="Shape 141"/>
          <p:cNvSpPr/>
          <p:nvPr/>
        </p:nvSpPr>
        <p:spPr>
          <a:xfrm>
            <a:off x="1188720" y="19028664"/>
            <a:ext cx="11750040" cy="1152144"/>
          </a:xfrm>
          <a:prstGeom prst="roundRect">
            <a:avLst>
              <a:gd name="adj" fmla="val 9524"/>
            </a:avLst>
          </a:prstGeom>
          <a:solidFill>
            <a:srgbClr val="FFFFFF"/>
          </a:solidFill>
          <a:ln w="19050">
            <a:solidFill>
              <a:srgbClr val="163A70"/>
            </a:solidFill>
            <a:prstDash val="solid"/>
          </a:ln>
        </p:spPr>
      </p:sp>
      <p:sp>
        <p:nvSpPr>
          <p:cNvPr id="149" name="Shape 142"/>
          <p:cNvSpPr/>
          <p:nvPr/>
        </p:nvSpPr>
        <p:spPr>
          <a:xfrm>
            <a:off x="1389888" y="19211544"/>
            <a:ext cx="786384" cy="786384"/>
          </a:xfrm>
          <a:prstGeom prst="ellipse">
            <a:avLst/>
          </a:prstGeom>
          <a:solidFill>
            <a:srgbClr val="163A70"/>
          </a:solidFill>
          <a:ln w="12700">
            <a:solidFill>
              <a:srgbClr val="163A70"/>
            </a:solidFill>
            <a:prstDash val="solid"/>
          </a:ln>
        </p:spPr>
      </p:sp>
      <p:pic>
        <p:nvPicPr>
          <p:cNvPr id="150" name="Image 5" descr="icons/m3.png">    </p:cNvPr>
          <p:cNvPicPr>
            <a:picLocks noChangeAspect="1"/>
          </p:cNvPicPr>
          <p:nvPr/>
        </p:nvPicPr>
        <p:blipFill>
          <a:blip r:embed="rId6"/>
          <a:stretch>
            <a:fillRect/>
          </a:stretch>
        </p:blipFill>
        <p:spPr>
          <a:xfrm>
            <a:off x="1581912" y="19403568"/>
            <a:ext cx="402336" cy="402336"/>
          </a:xfrm>
          <a:prstGeom prst="rect">
            <a:avLst/>
          </a:prstGeom>
        </p:spPr>
      </p:pic>
      <p:sp>
        <p:nvSpPr>
          <p:cNvPr id="151" name="Text 143"/>
          <p:cNvSpPr/>
          <p:nvPr/>
        </p:nvSpPr>
        <p:spPr>
          <a:xfrm>
            <a:off x="2359152" y="19174968"/>
            <a:ext cx="2926080" cy="292608"/>
          </a:xfrm>
          <a:prstGeom prst="rect">
            <a:avLst/>
          </a:prstGeom>
          <a:noFill/>
          <a:ln/>
        </p:spPr>
        <p:txBody>
          <a:bodyPr wrap="square" lIns="0" tIns="0" rIns="0" bIns="0" rtlCol="0" anchor="ctr"/>
          <a:lstStyle/>
          <a:p>
            <a:pPr indent="0" marL="0">
              <a:buNone/>
            </a:pPr>
            <a:r>
              <a:rPr lang="en-US" sz="1400" b="1" spc="160" kern="0" dirty="0">
                <a:solidFill>
                  <a:srgbClr val="64748B"/>
                </a:solidFill>
                <a:latin typeface="Calibri" pitchFamily="34" charset="0"/>
                <a:ea typeface="Calibri" pitchFamily="34" charset="-122"/>
                <a:cs typeface="Calibri" pitchFamily="34" charset="-120"/>
              </a:rPr>
              <a:t>STEP 03</a:t>
            </a:r>
            <a:endParaRPr lang="en-US" sz="1400" dirty="0"/>
          </a:p>
        </p:txBody>
      </p:sp>
      <p:sp>
        <p:nvSpPr>
          <p:cNvPr id="152" name="Text 144"/>
          <p:cNvSpPr/>
          <p:nvPr/>
        </p:nvSpPr>
        <p:spPr>
          <a:xfrm>
            <a:off x="2359152" y="19449288"/>
            <a:ext cx="10287000" cy="548640"/>
          </a:xfrm>
          <a:prstGeom prst="rect">
            <a:avLst/>
          </a:prstGeom>
          <a:noFill/>
          <a:ln/>
        </p:spPr>
        <p:txBody>
          <a:bodyPr wrap="square" lIns="0" tIns="0" rIns="0" bIns="0" rtlCol="0" anchor="t"/>
          <a:lstStyle/>
          <a:p>
            <a:pPr indent="0" marL="0">
              <a:buNone/>
            </a:pPr>
            <a:r>
              <a:rPr lang="en-US" sz="2500" b="1" dirty="0">
                <a:solidFill>
                  <a:srgbClr val="163A70"/>
                </a:solidFill>
                <a:latin typeface="Calibri" pitchFamily="34" charset="0"/>
                <a:ea typeface="Calibri" pitchFamily="34" charset="-122"/>
                <a:cs typeface="Calibri" pitchFamily="34" charset="-120"/>
              </a:rPr>
              <a:t>Optimization</a:t>
            </a:r>
            <a:endParaRPr lang="en-US" sz="2500" dirty="0"/>
          </a:p>
        </p:txBody>
      </p:sp>
      <p:sp>
        <p:nvSpPr>
          <p:cNvPr id="153" name="Shape 145"/>
          <p:cNvSpPr/>
          <p:nvPr/>
        </p:nvSpPr>
        <p:spPr>
          <a:xfrm>
            <a:off x="6917436" y="20208240"/>
            <a:ext cx="292608" cy="237744"/>
          </a:xfrm>
          <a:prstGeom prst="downArrow">
            <a:avLst/>
          </a:prstGeom>
          <a:solidFill>
            <a:srgbClr val="4E7BFF"/>
          </a:solidFill>
          <a:ln w="12700">
            <a:solidFill>
              <a:srgbClr val="4E7BFF"/>
            </a:solidFill>
            <a:prstDash val="solid"/>
          </a:ln>
        </p:spPr>
      </p:sp>
      <p:sp>
        <p:nvSpPr>
          <p:cNvPr id="154" name="Shape 146"/>
          <p:cNvSpPr/>
          <p:nvPr/>
        </p:nvSpPr>
        <p:spPr>
          <a:xfrm>
            <a:off x="1188720" y="20455128"/>
            <a:ext cx="11750040" cy="1152144"/>
          </a:xfrm>
          <a:prstGeom prst="roundRect">
            <a:avLst>
              <a:gd name="adj" fmla="val 9524"/>
            </a:avLst>
          </a:prstGeom>
          <a:solidFill>
            <a:srgbClr val="FFFFFF"/>
          </a:solidFill>
          <a:ln w="19050">
            <a:solidFill>
              <a:srgbClr val="1FA6A6"/>
            </a:solidFill>
            <a:prstDash val="solid"/>
          </a:ln>
        </p:spPr>
      </p:sp>
      <p:sp>
        <p:nvSpPr>
          <p:cNvPr id="155" name="Shape 147"/>
          <p:cNvSpPr/>
          <p:nvPr/>
        </p:nvSpPr>
        <p:spPr>
          <a:xfrm>
            <a:off x="1389888" y="20638008"/>
            <a:ext cx="786384" cy="786384"/>
          </a:xfrm>
          <a:prstGeom prst="ellipse">
            <a:avLst/>
          </a:prstGeom>
          <a:solidFill>
            <a:srgbClr val="1FA6A6"/>
          </a:solidFill>
          <a:ln w="12700">
            <a:solidFill>
              <a:srgbClr val="1FA6A6"/>
            </a:solidFill>
            <a:prstDash val="solid"/>
          </a:ln>
        </p:spPr>
      </p:sp>
      <p:pic>
        <p:nvPicPr>
          <p:cNvPr id="156" name="Image 6" descr="icons/m4.png">    </p:cNvPr>
          <p:cNvPicPr>
            <a:picLocks noChangeAspect="1"/>
          </p:cNvPicPr>
          <p:nvPr/>
        </p:nvPicPr>
        <p:blipFill>
          <a:blip r:embed="rId7"/>
          <a:stretch>
            <a:fillRect/>
          </a:stretch>
        </p:blipFill>
        <p:spPr>
          <a:xfrm>
            <a:off x="1581912" y="20830032"/>
            <a:ext cx="402336" cy="402336"/>
          </a:xfrm>
          <a:prstGeom prst="rect">
            <a:avLst/>
          </a:prstGeom>
        </p:spPr>
      </p:pic>
      <p:sp>
        <p:nvSpPr>
          <p:cNvPr id="157" name="Text 148"/>
          <p:cNvSpPr/>
          <p:nvPr/>
        </p:nvSpPr>
        <p:spPr>
          <a:xfrm>
            <a:off x="2359152" y="20601432"/>
            <a:ext cx="2926080" cy="292608"/>
          </a:xfrm>
          <a:prstGeom prst="rect">
            <a:avLst/>
          </a:prstGeom>
          <a:noFill/>
          <a:ln/>
        </p:spPr>
        <p:txBody>
          <a:bodyPr wrap="square" lIns="0" tIns="0" rIns="0" bIns="0" rtlCol="0" anchor="ctr"/>
          <a:lstStyle/>
          <a:p>
            <a:pPr indent="0" marL="0">
              <a:buNone/>
            </a:pPr>
            <a:r>
              <a:rPr lang="en-US" sz="1400" b="1" spc="160" kern="0" dirty="0">
                <a:solidFill>
                  <a:srgbClr val="64748B"/>
                </a:solidFill>
                <a:latin typeface="Calibri" pitchFamily="34" charset="0"/>
                <a:ea typeface="Calibri" pitchFamily="34" charset="-122"/>
                <a:cs typeface="Calibri" pitchFamily="34" charset="-120"/>
              </a:rPr>
              <a:t>STEP 04</a:t>
            </a:r>
            <a:endParaRPr lang="en-US" sz="1400" dirty="0"/>
          </a:p>
        </p:txBody>
      </p:sp>
      <p:sp>
        <p:nvSpPr>
          <p:cNvPr id="158" name="Text 149"/>
          <p:cNvSpPr/>
          <p:nvPr/>
        </p:nvSpPr>
        <p:spPr>
          <a:xfrm>
            <a:off x="2359152" y="20875752"/>
            <a:ext cx="10287000" cy="548640"/>
          </a:xfrm>
          <a:prstGeom prst="rect">
            <a:avLst/>
          </a:prstGeom>
          <a:noFill/>
          <a:ln/>
        </p:spPr>
        <p:txBody>
          <a:bodyPr wrap="square" lIns="0" tIns="0" rIns="0" bIns="0" rtlCol="0" anchor="t"/>
          <a:lstStyle/>
          <a:p>
            <a:pPr indent="0" marL="0">
              <a:buNone/>
            </a:pPr>
            <a:r>
              <a:rPr lang="en-US" sz="2500" b="1" dirty="0">
                <a:solidFill>
                  <a:srgbClr val="163A70"/>
                </a:solidFill>
                <a:latin typeface="Calibri" pitchFamily="34" charset="0"/>
                <a:ea typeface="Calibri" pitchFamily="34" charset="-122"/>
                <a:cs typeface="Calibri" pitchFamily="34" charset="-120"/>
              </a:rPr>
              <a:t>Evaluation of advanced liposomes</a:t>
            </a:r>
            <a:endParaRPr lang="en-US" sz="2500" dirty="0"/>
          </a:p>
        </p:txBody>
      </p:sp>
      <p:sp>
        <p:nvSpPr>
          <p:cNvPr id="159" name="Shape 150"/>
          <p:cNvSpPr/>
          <p:nvPr/>
        </p:nvSpPr>
        <p:spPr>
          <a:xfrm>
            <a:off x="6917436" y="21634704"/>
            <a:ext cx="292608" cy="237744"/>
          </a:xfrm>
          <a:prstGeom prst="downArrow">
            <a:avLst/>
          </a:prstGeom>
          <a:solidFill>
            <a:srgbClr val="4E7BFF"/>
          </a:solidFill>
          <a:ln w="12700">
            <a:solidFill>
              <a:srgbClr val="4E7BFF"/>
            </a:solidFill>
            <a:prstDash val="solid"/>
          </a:ln>
        </p:spPr>
      </p:sp>
      <p:sp>
        <p:nvSpPr>
          <p:cNvPr id="160" name="Shape 151"/>
          <p:cNvSpPr/>
          <p:nvPr/>
        </p:nvSpPr>
        <p:spPr>
          <a:xfrm>
            <a:off x="1188720" y="21881592"/>
            <a:ext cx="11750040" cy="1152144"/>
          </a:xfrm>
          <a:prstGeom prst="roundRect">
            <a:avLst>
              <a:gd name="adj" fmla="val 9524"/>
            </a:avLst>
          </a:prstGeom>
          <a:solidFill>
            <a:srgbClr val="FFFFFF"/>
          </a:solidFill>
          <a:ln w="19050">
            <a:solidFill>
              <a:srgbClr val="163A70"/>
            </a:solidFill>
            <a:prstDash val="solid"/>
          </a:ln>
        </p:spPr>
      </p:sp>
      <p:sp>
        <p:nvSpPr>
          <p:cNvPr id="161" name="Shape 152"/>
          <p:cNvSpPr/>
          <p:nvPr/>
        </p:nvSpPr>
        <p:spPr>
          <a:xfrm>
            <a:off x="1389888" y="22064472"/>
            <a:ext cx="786384" cy="786384"/>
          </a:xfrm>
          <a:prstGeom prst="ellipse">
            <a:avLst/>
          </a:prstGeom>
          <a:solidFill>
            <a:srgbClr val="163A70"/>
          </a:solidFill>
          <a:ln w="12700">
            <a:solidFill>
              <a:srgbClr val="163A70"/>
            </a:solidFill>
            <a:prstDash val="solid"/>
          </a:ln>
        </p:spPr>
      </p:sp>
      <p:pic>
        <p:nvPicPr>
          <p:cNvPr id="162" name="Image 7" descr="icons/m5.png">    </p:cNvPr>
          <p:cNvPicPr>
            <a:picLocks noChangeAspect="1"/>
          </p:cNvPicPr>
          <p:nvPr/>
        </p:nvPicPr>
        <p:blipFill>
          <a:blip r:embed="rId8"/>
          <a:stretch>
            <a:fillRect/>
          </a:stretch>
        </p:blipFill>
        <p:spPr>
          <a:xfrm>
            <a:off x="1581912" y="22256496"/>
            <a:ext cx="402336" cy="402336"/>
          </a:xfrm>
          <a:prstGeom prst="rect">
            <a:avLst/>
          </a:prstGeom>
        </p:spPr>
      </p:pic>
      <p:sp>
        <p:nvSpPr>
          <p:cNvPr id="163" name="Text 153"/>
          <p:cNvSpPr/>
          <p:nvPr/>
        </p:nvSpPr>
        <p:spPr>
          <a:xfrm>
            <a:off x="2359152" y="22027896"/>
            <a:ext cx="2926080" cy="292608"/>
          </a:xfrm>
          <a:prstGeom prst="rect">
            <a:avLst/>
          </a:prstGeom>
          <a:noFill/>
          <a:ln/>
        </p:spPr>
        <p:txBody>
          <a:bodyPr wrap="square" lIns="0" tIns="0" rIns="0" bIns="0" rtlCol="0" anchor="ctr"/>
          <a:lstStyle/>
          <a:p>
            <a:pPr indent="0" marL="0">
              <a:buNone/>
            </a:pPr>
            <a:r>
              <a:rPr lang="en-US" sz="1400" b="1" spc="160" kern="0" dirty="0">
                <a:solidFill>
                  <a:srgbClr val="64748B"/>
                </a:solidFill>
                <a:latin typeface="Calibri" pitchFamily="34" charset="0"/>
                <a:ea typeface="Calibri" pitchFamily="34" charset="-122"/>
                <a:cs typeface="Calibri" pitchFamily="34" charset="-120"/>
              </a:rPr>
              <a:t>STEP 05</a:t>
            </a:r>
            <a:endParaRPr lang="en-US" sz="1400" dirty="0"/>
          </a:p>
        </p:txBody>
      </p:sp>
      <p:sp>
        <p:nvSpPr>
          <p:cNvPr id="164" name="Text 154"/>
          <p:cNvSpPr/>
          <p:nvPr/>
        </p:nvSpPr>
        <p:spPr>
          <a:xfrm>
            <a:off x="2359152" y="22302216"/>
            <a:ext cx="10287000" cy="548640"/>
          </a:xfrm>
          <a:prstGeom prst="rect">
            <a:avLst/>
          </a:prstGeom>
          <a:noFill/>
          <a:ln/>
        </p:spPr>
        <p:txBody>
          <a:bodyPr wrap="square" lIns="0" tIns="0" rIns="0" bIns="0" rtlCol="0" anchor="t"/>
          <a:lstStyle/>
          <a:p>
            <a:pPr indent="0" marL="0">
              <a:buNone/>
            </a:pPr>
            <a:r>
              <a:rPr lang="en-US" sz="2500" b="1" dirty="0">
                <a:solidFill>
                  <a:srgbClr val="163A70"/>
                </a:solidFill>
                <a:latin typeface="Calibri" pitchFamily="34" charset="0"/>
                <a:ea typeface="Calibri" pitchFamily="34" charset="-122"/>
                <a:cs typeface="Calibri" pitchFamily="34" charset="-120"/>
              </a:rPr>
              <a:t>Clinical applications</a:t>
            </a:r>
            <a:endParaRPr lang="en-US" sz="2500" dirty="0"/>
          </a:p>
        </p:txBody>
      </p:sp>
      <p:sp>
        <p:nvSpPr>
          <p:cNvPr id="165" name="Shape 155"/>
          <p:cNvSpPr/>
          <p:nvPr/>
        </p:nvSpPr>
        <p:spPr>
          <a:xfrm>
            <a:off x="6917436" y="23061168"/>
            <a:ext cx="292608" cy="237744"/>
          </a:xfrm>
          <a:prstGeom prst="downArrow">
            <a:avLst/>
          </a:prstGeom>
          <a:solidFill>
            <a:srgbClr val="4E7BFF"/>
          </a:solidFill>
          <a:ln w="12700">
            <a:solidFill>
              <a:srgbClr val="4E7BFF"/>
            </a:solidFill>
            <a:prstDash val="solid"/>
          </a:ln>
        </p:spPr>
      </p:sp>
      <p:sp>
        <p:nvSpPr>
          <p:cNvPr id="166" name="Shape 156"/>
          <p:cNvSpPr/>
          <p:nvPr/>
        </p:nvSpPr>
        <p:spPr>
          <a:xfrm>
            <a:off x="1188720" y="23308056"/>
            <a:ext cx="11750040" cy="1152144"/>
          </a:xfrm>
          <a:prstGeom prst="roundRect">
            <a:avLst>
              <a:gd name="adj" fmla="val 9524"/>
            </a:avLst>
          </a:prstGeom>
          <a:solidFill>
            <a:srgbClr val="FFFFFF"/>
          </a:solidFill>
          <a:ln w="19050">
            <a:solidFill>
              <a:srgbClr val="1FA6A6"/>
            </a:solidFill>
            <a:prstDash val="solid"/>
          </a:ln>
        </p:spPr>
      </p:sp>
      <p:sp>
        <p:nvSpPr>
          <p:cNvPr id="167" name="Shape 157"/>
          <p:cNvSpPr/>
          <p:nvPr/>
        </p:nvSpPr>
        <p:spPr>
          <a:xfrm>
            <a:off x="1389888" y="23490936"/>
            <a:ext cx="786384" cy="786384"/>
          </a:xfrm>
          <a:prstGeom prst="ellipse">
            <a:avLst/>
          </a:prstGeom>
          <a:solidFill>
            <a:srgbClr val="1FA6A6"/>
          </a:solidFill>
          <a:ln w="12700">
            <a:solidFill>
              <a:srgbClr val="1FA6A6"/>
            </a:solidFill>
            <a:prstDash val="solid"/>
          </a:ln>
        </p:spPr>
      </p:sp>
      <p:pic>
        <p:nvPicPr>
          <p:cNvPr id="168" name="Image 8" descr="icons/m6.png">    </p:cNvPr>
          <p:cNvPicPr>
            <a:picLocks noChangeAspect="1"/>
          </p:cNvPicPr>
          <p:nvPr/>
        </p:nvPicPr>
        <p:blipFill>
          <a:blip r:embed="rId9"/>
          <a:stretch>
            <a:fillRect/>
          </a:stretch>
        </p:blipFill>
        <p:spPr>
          <a:xfrm>
            <a:off x="1581912" y="23682960"/>
            <a:ext cx="402336" cy="402336"/>
          </a:xfrm>
          <a:prstGeom prst="rect">
            <a:avLst/>
          </a:prstGeom>
        </p:spPr>
      </p:pic>
      <p:sp>
        <p:nvSpPr>
          <p:cNvPr id="169" name="Text 158"/>
          <p:cNvSpPr/>
          <p:nvPr/>
        </p:nvSpPr>
        <p:spPr>
          <a:xfrm>
            <a:off x="2359152" y="23454360"/>
            <a:ext cx="2926080" cy="292608"/>
          </a:xfrm>
          <a:prstGeom prst="rect">
            <a:avLst/>
          </a:prstGeom>
          <a:noFill/>
          <a:ln/>
        </p:spPr>
        <p:txBody>
          <a:bodyPr wrap="square" lIns="0" tIns="0" rIns="0" bIns="0" rtlCol="0" anchor="ctr"/>
          <a:lstStyle/>
          <a:p>
            <a:pPr indent="0" marL="0">
              <a:buNone/>
            </a:pPr>
            <a:r>
              <a:rPr lang="en-US" sz="1400" b="1" spc="160" kern="0" dirty="0">
                <a:solidFill>
                  <a:srgbClr val="64748B"/>
                </a:solidFill>
                <a:latin typeface="Calibri" pitchFamily="34" charset="0"/>
                <a:ea typeface="Calibri" pitchFamily="34" charset="-122"/>
                <a:cs typeface="Calibri" pitchFamily="34" charset="-120"/>
              </a:rPr>
              <a:t>STEP 06</a:t>
            </a:r>
            <a:endParaRPr lang="en-US" sz="1400" dirty="0"/>
          </a:p>
        </p:txBody>
      </p:sp>
      <p:sp>
        <p:nvSpPr>
          <p:cNvPr id="170" name="Text 159"/>
          <p:cNvSpPr/>
          <p:nvPr/>
        </p:nvSpPr>
        <p:spPr>
          <a:xfrm>
            <a:off x="2359152" y="23728680"/>
            <a:ext cx="10287000" cy="548640"/>
          </a:xfrm>
          <a:prstGeom prst="rect">
            <a:avLst/>
          </a:prstGeom>
          <a:noFill/>
          <a:ln/>
        </p:spPr>
        <p:txBody>
          <a:bodyPr wrap="square" lIns="0" tIns="0" rIns="0" bIns="0" rtlCol="0" anchor="t"/>
          <a:lstStyle/>
          <a:p>
            <a:pPr indent="0" marL="0">
              <a:buNone/>
            </a:pPr>
            <a:r>
              <a:rPr lang="en-US" sz="2500" b="1" dirty="0">
                <a:solidFill>
                  <a:srgbClr val="163A70"/>
                </a:solidFill>
                <a:latin typeface="Calibri" pitchFamily="34" charset="0"/>
                <a:ea typeface="Calibri" pitchFamily="34" charset="-122"/>
                <a:cs typeface="Calibri" pitchFamily="34" charset="-120"/>
              </a:rPr>
              <a:t>Future perspective</a:t>
            </a:r>
            <a:endParaRPr lang="en-US" sz="2500" dirty="0"/>
          </a:p>
        </p:txBody>
      </p:sp>
      <p:pic>
        <p:nvPicPr>
          <p:cNvPr id="171" name="Image 9" descr="assets/fig_wheel.png">    </p:cNvPr>
          <p:cNvPicPr>
            <a:picLocks noChangeAspect="1"/>
          </p:cNvPicPr>
          <p:nvPr/>
        </p:nvPicPr>
        <p:blipFill>
          <a:blip r:embed="rId10"/>
          <a:stretch>
            <a:fillRect/>
          </a:stretch>
        </p:blipFill>
        <p:spPr>
          <a:xfrm>
            <a:off x="15796260" y="14904720"/>
            <a:ext cx="9144000" cy="9144000"/>
          </a:xfrm>
          <a:prstGeom prst="rect">
            <a:avLst/>
          </a:prstGeom>
        </p:spPr>
      </p:pic>
      <p:sp>
        <p:nvSpPr>
          <p:cNvPr id="172" name="Shape 160"/>
          <p:cNvSpPr/>
          <p:nvPr/>
        </p:nvSpPr>
        <p:spPr>
          <a:xfrm>
            <a:off x="15796260" y="14904720"/>
            <a:ext cx="9144000" cy="9144000"/>
          </a:xfrm>
          <a:prstGeom prst="rect">
            <a:avLst/>
          </a:prstGeom>
          <a:ln w="12700">
            <a:solidFill>
              <a:srgbClr val="D7DEE8"/>
            </a:solidFill>
            <a:prstDash val="solid"/>
          </a:ln>
        </p:spPr>
      </p:sp>
      <p:sp>
        <p:nvSpPr>
          <p:cNvPr id="173" name="Text 161"/>
          <p:cNvSpPr/>
          <p:nvPr/>
        </p:nvSpPr>
        <p:spPr>
          <a:xfrm>
            <a:off x="14036040" y="24149304"/>
            <a:ext cx="12664440" cy="384048"/>
          </a:xfrm>
          <a:prstGeom prst="rect">
            <a:avLst/>
          </a:prstGeom>
          <a:noFill/>
          <a:ln/>
        </p:spPr>
        <p:txBody>
          <a:bodyPr wrap="square" lIns="0" tIns="0" rIns="0" bIns="0" rtlCol="0" anchor="ctr"/>
          <a:lstStyle/>
          <a:p>
            <a:pPr algn="ctr" indent="0" marL="0">
              <a:buNone/>
            </a:pPr>
            <a:r>
              <a:rPr lang="en-US" sz="1600" b="1" i="1" dirty="0">
                <a:solidFill>
                  <a:srgbClr val="163A70"/>
                </a:solidFill>
                <a:latin typeface="Calibri" pitchFamily="34" charset="0"/>
                <a:ea typeface="Calibri" pitchFamily="34" charset="-122"/>
                <a:cs typeface="Calibri" pitchFamily="34" charset="-120"/>
              </a:rPr>
              <a:t>Figure 3. </a:t>
            </a:r>
            <a:pPr algn="ctr" indent="0" marL="0">
              <a:buNone/>
            </a:pPr>
            <a:r>
              <a:rPr lang="en-US" sz="1600" i="1" dirty="0">
                <a:solidFill>
                  <a:srgbClr val="64748B"/>
                </a:solidFill>
                <a:latin typeface="Calibri" pitchFamily="34" charset="0"/>
                <a:ea typeface="Calibri" pitchFamily="34" charset="-122"/>
                <a:cs typeface="Calibri" pitchFamily="34" charset="-120"/>
              </a:rPr>
              <a:t>Conventional, specialized and novel liposome preparation methods.</a:t>
            </a:r>
            <a:endParaRPr lang="en-US" sz="1600" dirty="0"/>
          </a:p>
        </p:txBody>
      </p:sp>
      <p:sp>
        <p:nvSpPr>
          <p:cNvPr id="174" name="Shape 162"/>
          <p:cNvSpPr/>
          <p:nvPr/>
        </p:nvSpPr>
        <p:spPr>
          <a:xfrm>
            <a:off x="731520" y="24871680"/>
            <a:ext cx="25968960" cy="4754880"/>
          </a:xfrm>
          <a:prstGeom prst="roundRect">
            <a:avLst>
              <a:gd name="adj" fmla="val 2692"/>
            </a:avLst>
          </a:prstGeom>
          <a:solidFill>
            <a:srgbClr val="F5F7FA"/>
          </a:solidFill>
          <a:ln w="15875">
            <a:solidFill>
              <a:srgbClr val="D7DEE8"/>
            </a:solidFill>
            <a:prstDash val="solid"/>
          </a:ln>
        </p:spPr>
      </p:sp>
      <p:sp>
        <p:nvSpPr>
          <p:cNvPr id="175" name="Shape 163"/>
          <p:cNvSpPr/>
          <p:nvPr/>
        </p:nvSpPr>
        <p:spPr>
          <a:xfrm>
            <a:off x="1143000" y="25182576"/>
            <a:ext cx="713232" cy="713232"/>
          </a:xfrm>
          <a:prstGeom prst="ellipse">
            <a:avLst/>
          </a:prstGeom>
          <a:solidFill>
            <a:srgbClr val="163A70"/>
          </a:solidFill>
          <a:ln w="12700">
            <a:solidFill>
              <a:srgbClr val="163A70"/>
            </a:solidFill>
            <a:prstDash val="solid"/>
          </a:ln>
        </p:spPr>
      </p:sp>
      <p:sp>
        <p:nvSpPr>
          <p:cNvPr id="176" name="Text 164"/>
          <p:cNvSpPr/>
          <p:nvPr/>
        </p:nvSpPr>
        <p:spPr>
          <a:xfrm>
            <a:off x="1143000" y="25182576"/>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04</a:t>
            </a:r>
            <a:endParaRPr lang="en-US" sz="2400" dirty="0"/>
          </a:p>
        </p:txBody>
      </p:sp>
      <p:sp>
        <p:nvSpPr>
          <p:cNvPr id="177" name="Text 165"/>
          <p:cNvSpPr/>
          <p:nvPr/>
        </p:nvSpPr>
        <p:spPr>
          <a:xfrm>
            <a:off x="2112264" y="25164288"/>
            <a:ext cx="12801600" cy="749808"/>
          </a:xfrm>
          <a:prstGeom prst="rect">
            <a:avLst/>
          </a:prstGeom>
          <a:noFill/>
          <a:ln/>
        </p:spPr>
        <p:txBody>
          <a:bodyPr wrap="square" lIns="0" tIns="0" rIns="0" bIns="0" rtlCol="0" anchor="ctr"/>
          <a:lstStyle/>
          <a:p>
            <a:pPr algn="l" indent="0" marL="0">
              <a:buNone/>
            </a:pPr>
            <a:r>
              <a:rPr lang="en-US" sz="3000" b="1" spc="120" kern="0" dirty="0">
                <a:solidFill>
                  <a:srgbClr val="163A70"/>
                </a:solidFill>
                <a:latin typeface="Calibri" pitchFamily="34" charset="0"/>
                <a:ea typeface="Calibri" pitchFamily="34" charset="-122"/>
                <a:cs typeface="Calibri" pitchFamily="34" charset="-120"/>
              </a:rPr>
              <a:t>ANALYTICAL TECHNIQUES</a:t>
            </a:r>
            <a:endParaRPr lang="en-US" sz="3000" dirty="0"/>
          </a:p>
        </p:txBody>
      </p:sp>
      <p:sp>
        <p:nvSpPr>
          <p:cNvPr id="178" name="Text 166"/>
          <p:cNvSpPr/>
          <p:nvPr/>
        </p:nvSpPr>
        <p:spPr>
          <a:xfrm>
            <a:off x="1188720" y="25950672"/>
            <a:ext cx="25054560" cy="384048"/>
          </a:xfrm>
          <a:prstGeom prst="rect">
            <a:avLst/>
          </a:prstGeom>
          <a:noFill/>
          <a:ln/>
        </p:spPr>
        <p:txBody>
          <a:bodyPr wrap="square" lIns="0" tIns="0" rIns="0" bIns="0" rtlCol="0" anchor="ctr"/>
          <a:lstStyle/>
          <a:p>
            <a:pPr indent="0" marL="0">
              <a:buNone/>
            </a:pPr>
            <a:r>
              <a:rPr lang="en-US" sz="1900" b="1" i="1" dirty="0">
                <a:solidFill>
                  <a:srgbClr val="163A70"/>
                </a:solidFill>
                <a:latin typeface="Calibri" pitchFamily="34" charset="0"/>
                <a:ea typeface="Calibri" pitchFamily="34" charset="-122"/>
                <a:cs typeface="Calibri" pitchFamily="34" charset="-120"/>
              </a:rPr>
              <a:t>Table 1: </a:t>
            </a:r>
            <a:pPr indent="0" marL="0">
              <a:buNone/>
            </a:pPr>
            <a:r>
              <a:rPr lang="en-US" sz="1900" i="1" dirty="0">
                <a:solidFill>
                  <a:srgbClr val="5A6B84"/>
                </a:solidFill>
                <a:latin typeface="Calibri" pitchFamily="34" charset="0"/>
                <a:ea typeface="Calibri" pitchFamily="34" charset="-122"/>
                <a:cs typeface="Calibri" pitchFamily="34" charset="-120"/>
              </a:rPr>
              <a:t>Different analytic techniques are used for the assessment of liposomes.</a:t>
            </a:r>
            <a:endParaRPr lang="en-US" sz="1900" dirty="0"/>
          </a:p>
        </p:txBody>
      </p:sp>
      <p:graphicFrame>
        <p:nvGraphicFramePr>
          <p:cNvPr id="2" name="Table 0"/>
          <p:cNvGraphicFramePr>
            <a:graphicFrameLocks noGrp="1"/>
          </p:cNvGraphicFramePr>
          <p:nvPr>
            <p:extLst>
              <p:ext uri="{D42A27DB-BD31-4B8C-83A1-F6EECF244321}">
                <p14:modId xmlns:p14="http://schemas.microsoft.com/office/powerpoint/2010/main" val="1579011935"/>
              </p:ext>
            </p:extLst>
          </p:nvPr>
        </p:nvGraphicFramePr>
        <p:xfrm>
          <a:off x="1188720" y="26389584"/>
          <a:ext cx="25054560" cy="914400"/>
        </p:xfrm>
        <a:graphic>
          <a:graphicData uri="http://schemas.openxmlformats.org/drawingml/2006/table">
            <a:tbl>
              <a:tblPr/>
              <a:tblGrid>
                <a:gridCol w="7680960"/>
                <a:gridCol w="17373600"/>
              </a:tblGrid>
              <a:tr h="457200">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Evaluation Test</a:t>
                      </a:r>
                      <a:endParaRPr lang="en-US" sz="22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163A70"/>
                    </a:solidFill>
                  </a:tcPr>
                </a:tc>
                <a:tc>
                  <a:txBody>
                    <a:bodyPr/>
                    <a:lstStyle/>
                    <a:p>
                      <a:pPr algn="l" indent="0" marL="0">
                        <a:buNone/>
                      </a:pPr>
                      <a:r>
                        <a:rPr lang="en-US" sz="2200" b="1" dirty="0">
                          <a:solidFill>
                            <a:srgbClr val="FFFFFF"/>
                          </a:solidFill>
                          <a:latin typeface="Calibri" pitchFamily="34" charset="0"/>
                          <a:ea typeface="Calibri" pitchFamily="34" charset="-122"/>
                          <a:cs typeface="Calibri" pitchFamily="34" charset="-120"/>
                        </a:rPr>
                        <a:t>Analytical Techniques</a:t>
                      </a:r>
                      <a:endParaRPr lang="en-US" sz="22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163A70"/>
                    </a:solidFill>
                  </a:tcPr>
                </a:tc>
              </a:tr>
              <a:tr h="384048">
                <a:tc>
                  <a:txBody>
                    <a:bodyPr/>
                    <a:lstStyle/>
                    <a:p>
                      <a:pPr indent="0" marL="0">
                        <a:buNone/>
                      </a:pPr>
                      <a:r>
                        <a:rPr lang="en-US" sz="2000" b="1" dirty="0">
                          <a:solidFill>
                            <a:srgbClr val="163A70"/>
                          </a:solidFill>
                          <a:latin typeface="Calibri" pitchFamily="34" charset="0"/>
                          <a:ea typeface="Calibri" pitchFamily="34" charset="-122"/>
                          <a:cs typeface="Calibri" pitchFamily="34" charset="-120"/>
                        </a:rPr>
                        <a:t>Particle Shape</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FFFFFF"/>
                    </a:solidFill>
                  </a:tcPr>
                </a:tc>
                <a:tc>
                  <a:txBody>
                    <a:bodyPr/>
                    <a:lstStyle/>
                    <a:p>
                      <a:pPr indent="0" marL="0">
                        <a:buNone/>
                      </a:pPr>
                      <a:r>
                        <a:rPr lang="en-US" sz="2000" dirty="0">
                          <a:solidFill>
                            <a:srgbClr val="1E293B"/>
                          </a:solidFill>
                          <a:latin typeface="Calibri" pitchFamily="34" charset="0"/>
                          <a:ea typeface="Calibri" pitchFamily="34" charset="-122"/>
                          <a:cs typeface="Calibri" pitchFamily="34" charset="-120"/>
                        </a:rPr>
                        <a:t>TEM (Transmission Electron Microscopy), AFM,  Cryo -TEM</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FFFFFF"/>
                    </a:solidFill>
                  </a:tcPr>
                </a:tc>
              </a:tr>
              <a:tr h="384048">
                <a:tc>
                  <a:txBody>
                    <a:bodyPr/>
                    <a:lstStyle/>
                    <a:p>
                      <a:pPr indent="0" marL="0">
                        <a:buNone/>
                      </a:pPr>
                      <a:r>
                        <a:rPr lang="en-US" sz="2000" b="1" dirty="0">
                          <a:solidFill>
                            <a:srgbClr val="163A70"/>
                          </a:solidFill>
                          <a:latin typeface="Calibri" pitchFamily="34" charset="0"/>
                          <a:ea typeface="Calibri" pitchFamily="34" charset="-122"/>
                          <a:cs typeface="Calibri" pitchFamily="34" charset="-120"/>
                        </a:rPr>
                        <a:t>Particle Size</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EEF2F8"/>
                    </a:solidFill>
                  </a:tcPr>
                </a:tc>
                <a:tc>
                  <a:txBody>
                    <a:bodyPr/>
                    <a:lstStyle/>
                    <a:p>
                      <a:pPr indent="0" marL="0">
                        <a:buNone/>
                      </a:pPr>
                      <a:r>
                        <a:rPr lang="en-US" sz="2000" dirty="0">
                          <a:solidFill>
                            <a:srgbClr val="1E293B"/>
                          </a:solidFill>
                          <a:latin typeface="Calibri" pitchFamily="34" charset="0"/>
                          <a:ea typeface="Calibri" pitchFamily="34" charset="-122"/>
                          <a:cs typeface="Calibri" pitchFamily="34" charset="-120"/>
                        </a:rPr>
                        <a:t>AFM, TEM</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EEF2F8"/>
                    </a:solidFill>
                  </a:tcPr>
                </a:tc>
              </a:tr>
              <a:tr h="384048">
                <a:tc>
                  <a:txBody>
                    <a:bodyPr/>
                    <a:lstStyle/>
                    <a:p>
                      <a:pPr indent="0" marL="0">
                        <a:buNone/>
                      </a:pPr>
                      <a:r>
                        <a:rPr lang="en-US" sz="2000" b="1" dirty="0">
                          <a:solidFill>
                            <a:srgbClr val="163A70"/>
                          </a:solidFill>
                          <a:latin typeface="Calibri" pitchFamily="34" charset="0"/>
                          <a:ea typeface="Calibri" pitchFamily="34" charset="-122"/>
                          <a:cs typeface="Calibri" pitchFamily="34" charset="-120"/>
                        </a:rPr>
                        <a:t>Zeta Potential</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FFFFFF"/>
                    </a:solidFill>
                  </a:tcPr>
                </a:tc>
                <a:tc>
                  <a:txBody>
                    <a:bodyPr/>
                    <a:lstStyle/>
                    <a:p>
                      <a:pPr indent="0" marL="0">
                        <a:buNone/>
                      </a:pPr>
                      <a:r>
                        <a:rPr lang="en-US" sz="2000" dirty="0">
                          <a:solidFill>
                            <a:srgbClr val="1E293B"/>
                          </a:solidFill>
                          <a:latin typeface="Calibri" pitchFamily="34" charset="0"/>
                          <a:ea typeface="Calibri" pitchFamily="34" charset="-122"/>
                          <a:cs typeface="Calibri" pitchFamily="34" charset="-120"/>
                        </a:rPr>
                        <a:t>Laser Doppler Electrophoresis (LDE), Capillary Electrophoresis</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FFFFFF"/>
                    </a:solidFill>
                  </a:tcPr>
                </a:tc>
              </a:tr>
              <a:tr h="384048">
                <a:tc>
                  <a:txBody>
                    <a:bodyPr/>
                    <a:lstStyle/>
                    <a:p>
                      <a:pPr indent="0" marL="0">
                        <a:buNone/>
                      </a:pPr>
                      <a:r>
                        <a:rPr lang="en-US" sz="2000" b="1" dirty="0">
                          <a:solidFill>
                            <a:srgbClr val="163A70"/>
                          </a:solidFill>
                          <a:latin typeface="Calibri" pitchFamily="34" charset="0"/>
                          <a:ea typeface="Calibri" pitchFamily="34" charset="-122"/>
                          <a:cs typeface="Calibri" pitchFamily="34" charset="-120"/>
                        </a:rPr>
                        <a:t>Lamellarity</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EEF2F8"/>
                    </a:solidFill>
                  </a:tcPr>
                </a:tc>
                <a:tc>
                  <a:txBody>
                    <a:bodyPr/>
                    <a:lstStyle/>
                    <a:p>
                      <a:pPr indent="0" marL="0">
                        <a:buNone/>
                      </a:pPr>
                      <a:r>
                        <a:rPr lang="en-US" sz="2000" dirty="0">
                          <a:solidFill>
                            <a:srgbClr val="1E293B"/>
                          </a:solidFill>
                          <a:latin typeface="Calibri" pitchFamily="34" charset="0"/>
                          <a:ea typeface="Calibri" pitchFamily="34" charset="-122"/>
                          <a:cs typeface="Calibri" pitchFamily="34" charset="-120"/>
                        </a:rPr>
                        <a:t>Cryo -TEM</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EEF2F8"/>
                    </a:solidFill>
                  </a:tcPr>
                </a:tc>
              </a:tr>
              <a:tr h="384048">
                <a:tc>
                  <a:txBody>
                    <a:bodyPr/>
                    <a:lstStyle/>
                    <a:p>
                      <a:pPr indent="0" marL="0">
                        <a:buNone/>
                      </a:pPr>
                      <a:r>
                        <a:rPr lang="en-US" sz="2000" b="1" dirty="0">
                          <a:solidFill>
                            <a:srgbClr val="163A70"/>
                          </a:solidFill>
                          <a:latin typeface="Calibri" pitchFamily="34" charset="0"/>
                          <a:ea typeface="Calibri" pitchFamily="34" charset="-122"/>
                          <a:cs typeface="Calibri" pitchFamily="34" charset="-120"/>
                        </a:rPr>
                        <a:t>Phase  Behavior</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FFFFFF"/>
                    </a:solidFill>
                  </a:tcPr>
                </a:tc>
                <a:tc>
                  <a:txBody>
                    <a:bodyPr/>
                    <a:lstStyle/>
                    <a:p>
                      <a:pPr indent="0" marL="0">
                        <a:buNone/>
                      </a:pPr>
                      <a:r>
                        <a:rPr lang="en-US" sz="2000" dirty="0">
                          <a:solidFill>
                            <a:srgbClr val="1E293B"/>
                          </a:solidFill>
                          <a:latin typeface="Calibri" pitchFamily="34" charset="0"/>
                          <a:ea typeface="Calibri" pitchFamily="34" charset="-122"/>
                          <a:cs typeface="Calibri" pitchFamily="34" charset="-120"/>
                        </a:rPr>
                        <a:t>DSC, TGA, Fluorescence Probe Polarization, NMR, FTIR, XRD</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FFFFFF"/>
                    </a:solidFill>
                  </a:tcPr>
                </a:tc>
              </a:tr>
              <a:tr h="384048">
                <a:tc>
                  <a:txBody>
                    <a:bodyPr/>
                    <a:lstStyle/>
                    <a:p>
                      <a:pPr indent="0" marL="0">
                        <a:buNone/>
                      </a:pPr>
                      <a:r>
                        <a:rPr lang="en-US" sz="2000" b="1" dirty="0">
                          <a:solidFill>
                            <a:srgbClr val="163A70"/>
                          </a:solidFill>
                          <a:latin typeface="Calibri" pitchFamily="34" charset="0"/>
                          <a:ea typeface="Calibri" pitchFamily="34" charset="-122"/>
                          <a:cs typeface="Calibri" pitchFamily="34" charset="-120"/>
                        </a:rPr>
                        <a:t>Entrapment Efficiency</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EEF2F8"/>
                    </a:solidFill>
                  </a:tcPr>
                </a:tc>
                <a:tc>
                  <a:txBody>
                    <a:bodyPr/>
                    <a:lstStyle/>
                    <a:p>
                      <a:pPr indent="0" marL="0">
                        <a:buNone/>
                      </a:pPr>
                      <a:r>
                        <a:rPr lang="en-US" sz="2000" dirty="0">
                          <a:solidFill>
                            <a:srgbClr val="1E293B"/>
                          </a:solidFill>
                          <a:latin typeface="Calibri" pitchFamily="34" charset="0"/>
                          <a:ea typeface="Calibri" pitchFamily="34" charset="-122"/>
                          <a:cs typeface="Calibri" pitchFamily="34" charset="-120"/>
                        </a:rPr>
                        <a:t>HPLC, UPLC, LC-MS</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EEF2F8"/>
                    </a:solidFill>
                  </a:tcPr>
                </a:tc>
              </a:tr>
              <a:tr h="384048">
                <a:tc>
                  <a:txBody>
                    <a:bodyPr/>
                    <a:lstStyle/>
                    <a:p>
                      <a:pPr indent="0" marL="0">
                        <a:buNone/>
                      </a:pPr>
                      <a:r>
                        <a:rPr lang="en-US" sz="2000" b="1" dirty="0">
                          <a:solidFill>
                            <a:srgbClr val="163A70"/>
                          </a:solidFill>
                          <a:latin typeface="Calibri" pitchFamily="34" charset="0"/>
                          <a:ea typeface="Calibri" pitchFamily="34" charset="-122"/>
                          <a:cs typeface="Calibri" pitchFamily="34" charset="-120"/>
                        </a:rPr>
                        <a:t>In vivo Release</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FFFFFF"/>
                    </a:solidFill>
                  </a:tcPr>
                </a:tc>
                <a:tc>
                  <a:txBody>
                    <a:bodyPr/>
                    <a:lstStyle/>
                    <a:p>
                      <a:pPr indent="0" marL="0">
                        <a:buNone/>
                      </a:pPr>
                      <a:r>
                        <a:rPr lang="en-US" sz="2000" dirty="0">
                          <a:solidFill>
                            <a:srgbClr val="1E293B"/>
                          </a:solidFill>
                          <a:latin typeface="Calibri" pitchFamily="34" charset="0"/>
                          <a:ea typeface="Calibri" pitchFamily="34" charset="-122"/>
                          <a:cs typeface="Calibri" pitchFamily="34" charset="-120"/>
                        </a:rPr>
                        <a:t>HPLC, UPLC</a:t>
                      </a:r>
                      <a:endParaRPr lang="en-US" sz="2000" dirty="0">
                        <a:latin typeface="Calibri" charset="0"/>
                        <a:ea typeface="Calibri" charset="0"/>
                        <a:cs typeface="Calibri" charset="0"/>
                      </a:endParaRPr>
                    </a:p>
                  </a:txBody>
                  <a:tcPr marL="146304" marR="146304" marT="54864" marB="54864" anchor="ctr">
                    <a:lnL w="12700" cap="flat" cmpd="sng" algn="ctr">
                      <a:solidFill>
                        <a:srgbClr val="C7D2E2"/>
                      </a:solidFill>
                      <a:prstDash val="solid"/>
                      <a:round/>
                      <a:headEnd type="none" w="med" len="med"/>
                      <a:tailEnd type="none" w="med" len="med"/>
                    </a:lnL>
                    <a:lnR w="12700" cap="flat" cmpd="sng" algn="ctr">
                      <a:solidFill>
                        <a:srgbClr val="C7D2E2"/>
                      </a:solidFill>
                      <a:prstDash val="solid"/>
                      <a:round/>
                      <a:headEnd type="none" w="med" len="med"/>
                      <a:tailEnd type="none" w="med" len="med"/>
                    </a:lnR>
                    <a:lnT w="12700" cap="flat" cmpd="sng" algn="ctr">
                      <a:solidFill>
                        <a:srgbClr val="C7D2E2"/>
                      </a:solidFill>
                      <a:prstDash val="solid"/>
                      <a:round/>
                      <a:headEnd type="none" w="med" len="med"/>
                      <a:tailEnd type="none" w="med" len="med"/>
                    </a:lnT>
                    <a:lnB w="12700" cap="flat" cmpd="sng" algn="ctr">
                      <a:solidFill>
                        <a:srgbClr val="C7D2E2"/>
                      </a:solidFill>
                      <a:prstDash val="solid"/>
                      <a:round/>
                      <a:headEnd type="none" w="med" len="med"/>
                      <a:tailEnd type="none" w="med" len="med"/>
                    </a:lnB>
                    <a:solidFill>
                      <a:srgbClr val="FFFFFF"/>
                    </a:solidFill>
                  </a:tcPr>
                </a:tc>
              </a:tr>
            </a:tbl>
          </a:graphicData>
        </a:graphic>
      </p:graphicFrame>
      <p:sp>
        <p:nvSpPr>
          <p:cNvPr id="180" name="Shape 167"/>
          <p:cNvSpPr/>
          <p:nvPr/>
        </p:nvSpPr>
        <p:spPr>
          <a:xfrm>
            <a:off x="731520" y="29946600"/>
            <a:ext cx="25968960" cy="4114800"/>
          </a:xfrm>
          <a:prstGeom prst="roundRect">
            <a:avLst>
              <a:gd name="adj" fmla="val 3111"/>
            </a:avLst>
          </a:prstGeom>
          <a:solidFill>
            <a:srgbClr val="F5F7FA"/>
          </a:solidFill>
          <a:ln w="15875">
            <a:solidFill>
              <a:srgbClr val="D7DEE8"/>
            </a:solidFill>
            <a:prstDash val="solid"/>
          </a:ln>
        </p:spPr>
      </p:sp>
      <p:sp>
        <p:nvSpPr>
          <p:cNvPr id="181" name="Shape 168"/>
          <p:cNvSpPr/>
          <p:nvPr/>
        </p:nvSpPr>
        <p:spPr>
          <a:xfrm>
            <a:off x="1143000" y="30257496"/>
            <a:ext cx="713232" cy="713232"/>
          </a:xfrm>
          <a:prstGeom prst="ellipse">
            <a:avLst/>
          </a:prstGeom>
          <a:solidFill>
            <a:srgbClr val="163A70"/>
          </a:solidFill>
          <a:ln w="12700">
            <a:solidFill>
              <a:srgbClr val="163A70"/>
            </a:solidFill>
            <a:prstDash val="solid"/>
          </a:ln>
        </p:spPr>
      </p:sp>
      <p:sp>
        <p:nvSpPr>
          <p:cNvPr id="182" name="Text 169"/>
          <p:cNvSpPr/>
          <p:nvPr/>
        </p:nvSpPr>
        <p:spPr>
          <a:xfrm>
            <a:off x="1143000" y="30257496"/>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05</a:t>
            </a:r>
            <a:endParaRPr lang="en-US" sz="2400" dirty="0"/>
          </a:p>
        </p:txBody>
      </p:sp>
      <p:sp>
        <p:nvSpPr>
          <p:cNvPr id="183" name="Text 170"/>
          <p:cNvSpPr/>
          <p:nvPr/>
        </p:nvSpPr>
        <p:spPr>
          <a:xfrm>
            <a:off x="2112264" y="30239208"/>
            <a:ext cx="10972800" cy="749808"/>
          </a:xfrm>
          <a:prstGeom prst="rect">
            <a:avLst/>
          </a:prstGeom>
          <a:noFill/>
          <a:ln/>
        </p:spPr>
        <p:txBody>
          <a:bodyPr wrap="square" lIns="0" tIns="0" rIns="0" bIns="0" rtlCol="0" anchor="ctr"/>
          <a:lstStyle/>
          <a:p>
            <a:pPr algn="l" indent="0" marL="0">
              <a:buNone/>
            </a:pPr>
            <a:r>
              <a:rPr lang="en-US" sz="3000" b="1" spc="120" kern="0" dirty="0">
                <a:solidFill>
                  <a:srgbClr val="163A70"/>
                </a:solidFill>
                <a:latin typeface="Calibri" pitchFamily="34" charset="0"/>
                <a:ea typeface="Calibri" pitchFamily="34" charset="-122"/>
                <a:cs typeface="Calibri" pitchFamily="34" charset="-120"/>
              </a:rPr>
              <a:t>APPLICATIONS</a:t>
            </a:r>
            <a:endParaRPr lang="en-US" sz="3000" dirty="0"/>
          </a:p>
        </p:txBody>
      </p:sp>
      <p:sp>
        <p:nvSpPr>
          <p:cNvPr id="184" name="Shape 171"/>
          <p:cNvSpPr/>
          <p:nvPr/>
        </p:nvSpPr>
        <p:spPr>
          <a:xfrm>
            <a:off x="1188720" y="31117032"/>
            <a:ext cx="7912608" cy="2761488"/>
          </a:xfrm>
          <a:prstGeom prst="roundRect">
            <a:avLst>
              <a:gd name="adj" fmla="val 4636"/>
            </a:avLst>
          </a:prstGeom>
          <a:solidFill>
            <a:srgbClr val="FFFFFF"/>
          </a:solidFill>
          <a:ln w="22225">
            <a:solidFill>
              <a:srgbClr val="163A70"/>
            </a:solidFill>
            <a:prstDash val="solid"/>
          </a:ln>
        </p:spPr>
      </p:sp>
      <p:sp>
        <p:nvSpPr>
          <p:cNvPr id="185" name="Shape 172"/>
          <p:cNvSpPr/>
          <p:nvPr/>
        </p:nvSpPr>
        <p:spPr>
          <a:xfrm>
            <a:off x="1499616" y="31409640"/>
            <a:ext cx="841248" cy="841248"/>
          </a:xfrm>
          <a:prstGeom prst="ellipse">
            <a:avLst/>
          </a:prstGeom>
          <a:solidFill>
            <a:srgbClr val="163A70"/>
          </a:solidFill>
          <a:ln w="12700">
            <a:solidFill>
              <a:srgbClr val="163A70"/>
            </a:solidFill>
            <a:prstDash val="solid"/>
          </a:ln>
        </p:spPr>
      </p:sp>
      <p:pic>
        <p:nvPicPr>
          <p:cNvPr id="186" name="Image 10" descr="icons/g1.png">    </p:cNvPr>
          <p:cNvPicPr>
            <a:picLocks noChangeAspect="1"/>
          </p:cNvPicPr>
          <p:nvPr/>
        </p:nvPicPr>
        <p:blipFill>
          <a:blip r:embed="rId11"/>
          <a:stretch>
            <a:fillRect/>
          </a:stretch>
        </p:blipFill>
        <p:spPr>
          <a:xfrm>
            <a:off x="1709928" y="31619952"/>
            <a:ext cx="420624" cy="420624"/>
          </a:xfrm>
          <a:prstGeom prst="rect">
            <a:avLst/>
          </a:prstGeom>
        </p:spPr>
      </p:pic>
      <p:sp>
        <p:nvSpPr>
          <p:cNvPr id="187" name="Text 173"/>
          <p:cNvSpPr/>
          <p:nvPr/>
        </p:nvSpPr>
        <p:spPr>
          <a:xfrm>
            <a:off x="2487168" y="31409640"/>
            <a:ext cx="6358128" cy="841248"/>
          </a:xfrm>
          <a:prstGeom prst="rect">
            <a:avLst/>
          </a:prstGeom>
          <a:noFill/>
          <a:ln/>
        </p:spPr>
        <p:txBody>
          <a:bodyPr wrap="square" lIns="0" tIns="0" rIns="0" bIns="0" rtlCol="0" anchor="ctr"/>
          <a:lstStyle/>
          <a:p>
            <a:pPr indent="0" marL="0">
              <a:buNone/>
            </a:pPr>
            <a:r>
              <a:rPr lang="en-US" sz="2500" b="1" dirty="0">
                <a:solidFill>
                  <a:srgbClr val="163A70"/>
                </a:solidFill>
                <a:latin typeface="Calibri" pitchFamily="34" charset="0"/>
                <a:ea typeface="Calibri" pitchFamily="34" charset="-122"/>
                <a:cs typeface="Calibri" pitchFamily="34" charset="-120"/>
              </a:rPr>
              <a:t>Therapy</a:t>
            </a:r>
            <a:endParaRPr lang="en-US" sz="2500" dirty="0"/>
          </a:p>
        </p:txBody>
      </p:sp>
      <p:pic>
        <p:nvPicPr>
          <p:cNvPr id="188" name="Image 11" descr="icons/a1.png">    </p:cNvPr>
          <p:cNvPicPr>
            <a:picLocks noChangeAspect="1"/>
          </p:cNvPicPr>
          <p:nvPr/>
        </p:nvPicPr>
        <p:blipFill>
          <a:blip r:embed="rId12"/>
          <a:stretch>
            <a:fillRect/>
          </a:stretch>
        </p:blipFill>
        <p:spPr>
          <a:xfrm>
            <a:off x="1554480" y="32506920"/>
            <a:ext cx="274320" cy="274320"/>
          </a:xfrm>
          <a:prstGeom prst="rect">
            <a:avLst/>
          </a:prstGeom>
        </p:spPr>
      </p:pic>
      <p:sp>
        <p:nvSpPr>
          <p:cNvPr id="189" name="Text 174"/>
          <p:cNvSpPr/>
          <p:nvPr/>
        </p:nvSpPr>
        <p:spPr>
          <a:xfrm>
            <a:off x="1975104" y="32452056"/>
            <a:ext cx="6815328" cy="384048"/>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Antiviral Drug Delivery</a:t>
            </a:r>
            <a:endParaRPr lang="en-US" sz="2100" dirty="0"/>
          </a:p>
        </p:txBody>
      </p:sp>
      <p:pic>
        <p:nvPicPr>
          <p:cNvPr id="190" name="Image 12" descr="icons/a2.png">    </p:cNvPr>
          <p:cNvPicPr>
            <a:picLocks noChangeAspect="1"/>
          </p:cNvPicPr>
          <p:nvPr/>
        </p:nvPicPr>
        <p:blipFill>
          <a:blip r:embed="rId13"/>
          <a:stretch>
            <a:fillRect/>
          </a:stretch>
        </p:blipFill>
        <p:spPr>
          <a:xfrm>
            <a:off x="1554480" y="32964120"/>
            <a:ext cx="274320" cy="274320"/>
          </a:xfrm>
          <a:prstGeom prst="rect">
            <a:avLst/>
          </a:prstGeom>
        </p:spPr>
      </p:pic>
      <p:sp>
        <p:nvSpPr>
          <p:cNvPr id="191" name="Text 175"/>
          <p:cNvSpPr/>
          <p:nvPr/>
        </p:nvSpPr>
        <p:spPr>
          <a:xfrm>
            <a:off x="1975104" y="32909256"/>
            <a:ext cx="6815328" cy="384048"/>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Cancer Therapy</a:t>
            </a:r>
            <a:endParaRPr lang="en-US" sz="2100" dirty="0"/>
          </a:p>
        </p:txBody>
      </p:sp>
      <p:pic>
        <p:nvPicPr>
          <p:cNvPr id="192" name="Image 13" descr="icons/a3.png">    </p:cNvPr>
          <p:cNvPicPr>
            <a:picLocks noChangeAspect="1"/>
          </p:cNvPicPr>
          <p:nvPr/>
        </p:nvPicPr>
        <p:blipFill>
          <a:blip r:embed="rId14"/>
          <a:stretch>
            <a:fillRect/>
          </a:stretch>
        </p:blipFill>
        <p:spPr>
          <a:xfrm>
            <a:off x="1554480" y="33421320"/>
            <a:ext cx="274320" cy="274320"/>
          </a:xfrm>
          <a:prstGeom prst="rect">
            <a:avLst/>
          </a:prstGeom>
        </p:spPr>
      </p:pic>
      <p:sp>
        <p:nvSpPr>
          <p:cNvPr id="193" name="Text 176"/>
          <p:cNvSpPr/>
          <p:nvPr/>
        </p:nvSpPr>
        <p:spPr>
          <a:xfrm>
            <a:off x="1975104" y="33366456"/>
            <a:ext cx="6815328" cy="384048"/>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Gene Therapy</a:t>
            </a:r>
            <a:endParaRPr lang="en-US" sz="2100" dirty="0"/>
          </a:p>
        </p:txBody>
      </p:sp>
      <p:sp>
        <p:nvSpPr>
          <p:cNvPr id="194" name="Shape 177"/>
          <p:cNvSpPr/>
          <p:nvPr/>
        </p:nvSpPr>
        <p:spPr>
          <a:xfrm>
            <a:off x="9247632" y="32324040"/>
            <a:ext cx="365760" cy="347472"/>
          </a:xfrm>
          <a:prstGeom prst="rightArrow">
            <a:avLst/>
          </a:prstGeom>
          <a:solidFill>
            <a:srgbClr val="AFC4E0"/>
          </a:solidFill>
          <a:ln w="12700">
            <a:solidFill>
              <a:srgbClr val="AFC4E0"/>
            </a:solidFill>
            <a:prstDash val="solid"/>
          </a:ln>
        </p:spPr>
      </p:sp>
      <p:sp>
        <p:nvSpPr>
          <p:cNvPr id="195" name="Shape 178"/>
          <p:cNvSpPr/>
          <p:nvPr/>
        </p:nvSpPr>
        <p:spPr>
          <a:xfrm>
            <a:off x="9759696" y="31117032"/>
            <a:ext cx="7912608" cy="2761488"/>
          </a:xfrm>
          <a:prstGeom prst="roundRect">
            <a:avLst>
              <a:gd name="adj" fmla="val 4636"/>
            </a:avLst>
          </a:prstGeom>
          <a:solidFill>
            <a:srgbClr val="FFFFFF"/>
          </a:solidFill>
          <a:ln w="22225">
            <a:solidFill>
              <a:srgbClr val="1FA6A6"/>
            </a:solidFill>
            <a:prstDash val="solid"/>
          </a:ln>
        </p:spPr>
      </p:sp>
      <p:sp>
        <p:nvSpPr>
          <p:cNvPr id="196" name="Shape 179"/>
          <p:cNvSpPr/>
          <p:nvPr/>
        </p:nvSpPr>
        <p:spPr>
          <a:xfrm>
            <a:off x="10070592" y="31409640"/>
            <a:ext cx="841248" cy="841248"/>
          </a:xfrm>
          <a:prstGeom prst="ellipse">
            <a:avLst/>
          </a:prstGeom>
          <a:solidFill>
            <a:srgbClr val="1FA6A6"/>
          </a:solidFill>
          <a:ln w="12700">
            <a:solidFill>
              <a:srgbClr val="1FA6A6"/>
            </a:solidFill>
            <a:prstDash val="solid"/>
          </a:ln>
        </p:spPr>
      </p:sp>
      <p:pic>
        <p:nvPicPr>
          <p:cNvPr id="197" name="Image 14" descr="icons/g2.png">    </p:cNvPr>
          <p:cNvPicPr>
            <a:picLocks noChangeAspect="1"/>
          </p:cNvPicPr>
          <p:nvPr/>
        </p:nvPicPr>
        <p:blipFill>
          <a:blip r:embed="rId15"/>
          <a:stretch>
            <a:fillRect/>
          </a:stretch>
        </p:blipFill>
        <p:spPr>
          <a:xfrm>
            <a:off x="10280904" y="31619952"/>
            <a:ext cx="420624" cy="420624"/>
          </a:xfrm>
          <a:prstGeom prst="rect">
            <a:avLst/>
          </a:prstGeom>
        </p:spPr>
      </p:pic>
      <p:sp>
        <p:nvSpPr>
          <p:cNvPr id="198" name="Text 180"/>
          <p:cNvSpPr/>
          <p:nvPr/>
        </p:nvSpPr>
        <p:spPr>
          <a:xfrm>
            <a:off x="11058144" y="31409640"/>
            <a:ext cx="6358128" cy="841248"/>
          </a:xfrm>
          <a:prstGeom prst="rect">
            <a:avLst/>
          </a:prstGeom>
          <a:noFill/>
          <a:ln/>
        </p:spPr>
        <p:txBody>
          <a:bodyPr wrap="square" lIns="0" tIns="0" rIns="0" bIns="0" rtlCol="0" anchor="ctr"/>
          <a:lstStyle/>
          <a:p>
            <a:pPr indent="0" marL="0">
              <a:buNone/>
            </a:pPr>
            <a:r>
              <a:rPr lang="en-US" sz="2500" b="1" dirty="0">
                <a:solidFill>
                  <a:srgbClr val="1FA6A6"/>
                </a:solidFill>
                <a:latin typeface="Calibri" pitchFamily="34" charset="0"/>
                <a:ea typeface="Calibri" pitchFamily="34" charset="-122"/>
                <a:cs typeface="Calibri" pitchFamily="34" charset="-120"/>
              </a:rPr>
              <a:t>Reduced toxicity</a:t>
            </a:r>
            <a:endParaRPr lang="en-US" sz="2500" dirty="0"/>
          </a:p>
        </p:txBody>
      </p:sp>
      <p:pic>
        <p:nvPicPr>
          <p:cNvPr id="199" name="Image 15" descr="icons/a4.png">    </p:cNvPr>
          <p:cNvPicPr>
            <a:picLocks noChangeAspect="1"/>
          </p:cNvPicPr>
          <p:nvPr/>
        </p:nvPicPr>
        <p:blipFill>
          <a:blip r:embed="rId16"/>
          <a:stretch>
            <a:fillRect/>
          </a:stretch>
        </p:blipFill>
        <p:spPr>
          <a:xfrm>
            <a:off x="10125456" y="32735520"/>
            <a:ext cx="274320" cy="274320"/>
          </a:xfrm>
          <a:prstGeom prst="rect">
            <a:avLst/>
          </a:prstGeom>
        </p:spPr>
      </p:pic>
      <p:sp>
        <p:nvSpPr>
          <p:cNvPr id="200" name="Text 181"/>
          <p:cNvSpPr/>
          <p:nvPr/>
        </p:nvSpPr>
        <p:spPr>
          <a:xfrm>
            <a:off x="10546080" y="32680656"/>
            <a:ext cx="6815328" cy="384048"/>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Minimize Exposure</a:t>
            </a:r>
            <a:endParaRPr lang="en-US" sz="2100" dirty="0"/>
          </a:p>
        </p:txBody>
      </p:sp>
      <p:pic>
        <p:nvPicPr>
          <p:cNvPr id="201" name="Image 16" descr="icons/a5.png">    </p:cNvPr>
          <p:cNvPicPr>
            <a:picLocks noChangeAspect="1"/>
          </p:cNvPicPr>
          <p:nvPr/>
        </p:nvPicPr>
        <p:blipFill>
          <a:blip r:embed="rId17"/>
          <a:stretch>
            <a:fillRect/>
          </a:stretch>
        </p:blipFill>
        <p:spPr>
          <a:xfrm>
            <a:off x="10125456" y="33192720"/>
            <a:ext cx="274320" cy="274320"/>
          </a:xfrm>
          <a:prstGeom prst="rect">
            <a:avLst/>
          </a:prstGeom>
        </p:spPr>
      </p:pic>
      <p:sp>
        <p:nvSpPr>
          <p:cNvPr id="202" name="Text 182"/>
          <p:cNvSpPr/>
          <p:nvPr/>
        </p:nvSpPr>
        <p:spPr>
          <a:xfrm>
            <a:off x="10546080" y="33137856"/>
            <a:ext cx="6815328" cy="384048"/>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Reduced side effects</a:t>
            </a:r>
            <a:endParaRPr lang="en-US" sz="2100" dirty="0"/>
          </a:p>
        </p:txBody>
      </p:sp>
      <p:sp>
        <p:nvSpPr>
          <p:cNvPr id="203" name="Shape 183"/>
          <p:cNvSpPr/>
          <p:nvPr/>
        </p:nvSpPr>
        <p:spPr>
          <a:xfrm>
            <a:off x="17818608" y="32324040"/>
            <a:ext cx="365760" cy="347472"/>
          </a:xfrm>
          <a:prstGeom prst="rightArrow">
            <a:avLst/>
          </a:prstGeom>
          <a:solidFill>
            <a:srgbClr val="AFC4E0"/>
          </a:solidFill>
          <a:ln w="12700">
            <a:solidFill>
              <a:srgbClr val="AFC4E0"/>
            </a:solidFill>
            <a:prstDash val="solid"/>
          </a:ln>
        </p:spPr>
      </p:sp>
      <p:sp>
        <p:nvSpPr>
          <p:cNvPr id="204" name="Shape 184"/>
          <p:cNvSpPr/>
          <p:nvPr/>
        </p:nvSpPr>
        <p:spPr>
          <a:xfrm>
            <a:off x="18330672" y="31117032"/>
            <a:ext cx="7912608" cy="2761488"/>
          </a:xfrm>
          <a:prstGeom prst="roundRect">
            <a:avLst>
              <a:gd name="adj" fmla="val 4636"/>
            </a:avLst>
          </a:prstGeom>
          <a:solidFill>
            <a:srgbClr val="FFFFFF"/>
          </a:solidFill>
          <a:ln w="22225">
            <a:solidFill>
              <a:srgbClr val="4E7BFF"/>
            </a:solidFill>
            <a:prstDash val="solid"/>
          </a:ln>
        </p:spPr>
      </p:sp>
      <p:sp>
        <p:nvSpPr>
          <p:cNvPr id="205" name="Shape 185"/>
          <p:cNvSpPr/>
          <p:nvPr/>
        </p:nvSpPr>
        <p:spPr>
          <a:xfrm>
            <a:off x="18641568" y="31409640"/>
            <a:ext cx="841248" cy="841248"/>
          </a:xfrm>
          <a:prstGeom prst="ellipse">
            <a:avLst/>
          </a:prstGeom>
          <a:solidFill>
            <a:srgbClr val="4E7BFF"/>
          </a:solidFill>
          <a:ln w="12700">
            <a:solidFill>
              <a:srgbClr val="4E7BFF"/>
            </a:solidFill>
            <a:prstDash val="solid"/>
          </a:ln>
        </p:spPr>
      </p:sp>
      <p:pic>
        <p:nvPicPr>
          <p:cNvPr id="206" name="Image 17" descr="icons/g3.png">    </p:cNvPr>
          <p:cNvPicPr>
            <a:picLocks noChangeAspect="1"/>
          </p:cNvPicPr>
          <p:nvPr/>
        </p:nvPicPr>
        <p:blipFill>
          <a:blip r:embed="rId18"/>
          <a:stretch>
            <a:fillRect/>
          </a:stretch>
        </p:blipFill>
        <p:spPr>
          <a:xfrm>
            <a:off x="18851880" y="31619952"/>
            <a:ext cx="420624" cy="420624"/>
          </a:xfrm>
          <a:prstGeom prst="rect">
            <a:avLst/>
          </a:prstGeom>
        </p:spPr>
      </p:pic>
      <p:sp>
        <p:nvSpPr>
          <p:cNvPr id="207" name="Text 186"/>
          <p:cNvSpPr/>
          <p:nvPr/>
        </p:nvSpPr>
        <p:spPr>
          <a:xfrm>
            <a:off x="19629120" y="31409640"/>
            <a:ext cx="6358128" cy="841248"/>
          </a:xfrm>
          <a:prstGeom prst="rect">
            <a:avLst/>
          </a:prstGeom>
          <a:noFill/>
          <a:ln/>
        </p:spPr>
        <p:txBody>
          <a:bodyPr wrap="square" lIns="0" tIns="0" rIns="0" bIns="0" rtlCol="0" anchor="ctr"/>
          <a:lstStyle/>
          <a:p>
            <a:pPr indent="0" marL="0">
              <a:buNone/>
            </a:pPr>
            <a:r>
              <a:rPr lang="en-US" sz="2500" b="1" dirty="0">
                <a:solidFill>
                  <a:srgbClr val="4E7BFF"/>
                </a:solidFill>
                <a:latin typeface="Calibri" pitchFamily="34" charset="0"/>
                <a:ea typeface="Calibri" pitchFamily="34" charset="-122"/>
                <a:cs typeface="Calibri" pitchFamily="34" charset="-120"/>
              </a:rPr>
              <a:t>Improved Stability</a:t>
            </a:r>
            <a:endParaRPr lang="en-US" sz="2500" dirty="0"/>
          </a:p>
        </p:txBody>
      </p:sp>
      <p:pic>
        <p:nvPicPr>
          <p:cNvPr id="208" name="Image 18" descr="icons/a6.png">    </p:cNvPr>
          <p:cNvPicPr>
            <a:picLocks noChangeAspect="1"/>
          </p:cNvPicPr>
          <p:nvPr/>
        </p:nvPicPr>
        <p:blipFill>
          <a:blip r:embed="rId19"/>
          <a:stretch>
            <a:fillRect/>
          </a:stretch>
        </p:blipFill>
        <p:spPr>
          <a:xfrm>
            <a:off x="18696432" y="32506920"/>
            <a:ext cx="274320" cy="274320"/>
          </a:xfrm>
          <a:prstGeom prst="rect">
            <a:avLst/>
          </a:prstGeom>
        </p:spPr>
      </p:pic>
      <p:sp>
        <p:nvSpPr>
          <p:cNvPr id="209" name="Text 187"/>
          <p:cNvSpPr/>
          <p:nvPr/>
        </p:nvSpPr>
        <p:spPr>
          <a:xfrm>
            <a:off x="19117056" y="32452056"/>
            <a:ext cx="6815328" cy="384048"/>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Enhanced Bioavailability</a:t>
            </a:r>
            <a:endParaRPr lang="en-US" sz="2100" dirty="0"/>
          </a:p>
        </p:txBody>
      </p:sp>
      <p:pic>
        <p:nvPicPr>
          <p:cNvPr id="210" name="Image 19" descr="icons/a7.png">    </p:cNvPr>
          <p:cNvPicPr>
            <a:picLocks noChangeAspect="1"/>
          </p:cNvPicPr>
          <p:nvPr/>
        </p:nvPicPr>
        <p:blipFill>
          <a:blip r:embed="rId20"/>
          <a:stretch>
            <a:fillRect/>
          </a:stretch>
        </p:blipFill>
        <p:spPr>
          <a:xfrm>
            <a:off x="18696432" y="32964120"/>
            <a:ext cx="274320" cy="274320"/>
          </a:xfrm>
          <a:prstGeom prst="rect">
            <a:avLst/>
          </a:prstGeom>
        </p:spPr>
      </p:pic>
      <p:sp>
        <p:nvSpPr>
          <p:cNvPr id="211" name="Text 188"/>
          <p:cNvSpPr/>
          <p:nvPr/>
        </p:nvSpPr>
        <p:spPr>
          <a:xfrm>
            <a:off x="19117056" y="32909256"/>
            <a:ext cx="6815328" cy="384048"/>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Controlled release</a:t>
            </a:r>
            <a:endParaRPr lang="en-US" sz="2100" dirty="0"/>
          </a:p>
        </p:txBody>
      </p:sp>
      <p:pic>
        <p:nvPicPr>
          <p:cNvPr id="212" name="Image 20" descr="icons/a8.png">    </p:cNvPr>
          <p:cNvPicPr>
            <a:picLocks noChangeAspect="1"/>
          </p:cNvPicPr>
          <p:nvPr/>
        </p:nvPicPr>
        <p:blipFill>
          <a:blip r:embed="rId21"/>
          <a:stretch>
            <a:fillRect/>
          </a:stretch>
        </p:blipFill>
        <p:spPr>
          <a:xfrm>
            <a:off x="18696432" y="33421320"/>
            <a:ext cx="274320" cy="274320"/>
          </a:xfrm>
          <a:prstGeom prst="rect">
            <a:avLst/>
          </a:prstGeom>
        </p:spPr>
      </p:pic>
      <p:sp>
        <p:nvSpPr>
          <p:cNvPr id="213" name="Text 189"/>
          <p:cNvSpPr/>
          <p:nvPr/>
        </p:nvSpPr>
        <p:spPr>
          <a:xfrm>
            <a:off x="19117056" y="33366456"/>
            <a:ext cx="6815328" cy="384048"/>
          </a:xfrm>
          <a:prstGeom prst="rect">
            <a:avLst/>
          </a:prstGeom>
          <a:noFill/>
          <a:ln/>
        </p:spPr>
        <p:txBody>
          <a:bodyPr wrap="square" lIns="0" tIns="0" rIns="0" bIns="0" rtlCol="0" anchor="ctr"/>
          <a:lstStyle/>
          <a:p>
            <a:pPr indent="0" marL="0">
              <a:buNone/>
            </a:pPr>
            <a:r>
              <a:rPr lang="en-US" sz="2100" dirty="0">
                <a:solidFill>
                  <a:srgbClr val="1E293B"/>
                </a:solidFill>
                <a:latin typeface="Calibri" pitchFamily="34" charset="0"/>
                <a:ea typeface="Calibri" pitchFamily="34" charset="-122"/>
                <a:cs typeface="Calibri" pitchFamily="34" charset="-120"/>
              </a:rPr>
              <a:t>Reduced Enzymatic Degradation</a:t>
            </a:r>
            <a:endParaRPr lang="en-US" sz="2100" dirty="0"/>
          </a:p>
        </p:txBody>
      </p:sp>
      <p:sp>
        <p:nvSpPr>
          <p:cNvPr id="214" name="Shape 190"/>
          <p:cNvSpPr/>
          <p:nvPr/>
        </p:nvSpPr>
        <p:spPr>
          <a:xfrm>
            <a:off x="731520" y="34381440"/>
            <a:ext cx="12664440" cy="4709160"/>
          </a:xfrm>
          <a:prstGeom prst="roundRect">
            <a:avLst>
              <a:gd name="adj" fmla="val 2718"/>
            </a:avLst>
          </a:prstGeom>
          <a:solidFill>
            <a:srgbClr val="F5F7FA"/>
          </a:solidFill>
          <a:ln w="15875">
            <a:solidFill>
              <a:srgbClr val="D7DEE8"/>
            </a:solidFill>
            <a:prstDash val="solid"/>
          </a:ln>
        </p:spPr>
      </p:sp>
      <p:sp>
        <p:nvSpPr>
          <p:cNvPr id="215" name="Shape 191"/>
          <p:cNvSpPr/>
          <p:nvPr/>
        </p:nvSpPr>
        <p:spPr>
          <a:xfrm>
            <a:off x="1143000" y="34692336"/>
            <a:ext cx="713232" cy="713232"/>
          </a:xfrm>
          <a:prstGeom prst="ellipse">
            <a:avLst/>
          </a:prstGeom>
          <a:solidFill>
            <a:srgbClr val="163A70"/>
          </a:solidFill>
          <a:ln w="12700">
            <a:solidFill>
              <a:srgbClr val="163A70"/>
            </a:solidFill>
            <a:prstDash val="solid"/>
          </a:ln>
        </p:spPr>
      </p:sp>
      <p:sp>
        <p:nvSpPr>
          <p:cNvPr id="216" name="Text 192"/>
          <p:cNvSpPr/>
          <p:nvPr/>
        </p:nvSpPr>
        <p:spPr>
          <a:xfrm>
            <a:off x="1143000" y="34692336"/>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06</a:t>
            </a:r>
            <a:endParaRPr lang="en-US" sz="2400" dirty="0"/>
          </a:p>
        </p:txBody>
      </p:sp>
      <p:sp>
        <p:nvSpPr>
          <p:cNvPr id="217" name="Text 193"/>
          <p:cNvSpPr/>
          <p:nvPr/>
        </p:nvSpPr>
        <p:spPr>
          <a:xfrm>
            <a:off x="2112264" y="34674048"/>
            <a:ext cx="8229600" cy="749808"/>
          </a:xfrm>
          <a:prstGeom prst="rect">
            <a:avLst/>
          </a:prstGeom>
          <a:noFill/>
          <a:ln/>
        </p:spPr>
        <p:txBody>
          <a:bodyPr wrap="square" lIns="0" tIns="0" rIns="0" bIns="0" rtlCol="0" anchor="ctr"/>
          <a:lstStyle/>
          <a:p>
            <a:pPr algn="l" indent="0" marL="0">
              <a:buNone/>
            </a:pPr>
            <a:r>
              <a:rPr lang="en-US" sz="3000" b="1" spc="120" kern="0" dirty="0">
                <a:solidFill>
                  <a:srgbClr val="163A70"/>
                </a:solidFill>
                <a:latin typeface="Calibri" pitchFamily="34" charset="0"/>
                <a:ea typeface="Calibri" pitchFamily="34" charset="-122"/>
                <a:cs typeface="Calibri" pitchFamily="34" charset="-120"/>
              </a:rPr>
              <a:t>RESULTS</a:t>
            </a:r>
            <a:endParaRPr lang="en-US" sz="3000" dirty="0"/>
          </a:p>
        </p:txBody>
      </p:sp>
      <p:sp>
        <p:nvSpPr>
          <p:cNvPr id="218" name="Text 194"/>
          <p:cNvSpPr/>
          <p:nvPr/>
        </p:nvSpPr>
        <p:spPr>
          <a:xfrm>
            <a:off x="1188720" y="35533584"/>
            <a:ext cx="11750040" cy="1463040"/>
          </a:xfrm>
          <a:prstGeom prst="rect">
            <a:avLst/>
          </a:prstGeom>
          <a:noFill/>
          <a:ln/>
        </p:spPr>
        <p:txBody>
          <a:bodyPr wrap="square" lIns="0" tIns="0" rIns="0" bIns="0" rtlCol="0" anchor="t"/>
          <a:lstStyle/>
          <a:p>
            <a:pPr algn="just" indent="0" marL="0">
              <a:lnSpc>
                <a:spcPct val="114000"/>
              </a:lnSpc>
              <a:buNone/>
            </a:pPr>
            <a:r>
              <a:rPr lang="en-US" sz="2200" dirty="0">
                <a:solidFill>
                  <a:srgbClr val="1E293B"/>
                </a:solidFill>
                <a:latin typeface="Calibri" pitchFamily="34" charset="0"/>
                <a:ea typeface="Calibri" pitchFamily="34" charset="-122"/>
                <a:cs typeface="Calibri" pitchFamily="34" charset="-120"/>
              </a:rPr>
              <a:t>Liposomes technology is an evolving and versatile drug-delivery platform, with continued advances in targeting, surface modification, stimuli-responsive delivery, and formulation optimization supporting its future role in precision medicine.</a:t>
            </a:r>
            <a:endParaRPr lang="en-US" sz="2200" dirty="0"/>
          </a:p>
        </p:txBody>
      </p:sp>
      <p:sp>
        <p:nvSpPr>
          <p:cNvPr id="219" name="Shape 195"/>
          <p:cNvSpPr/>
          <p:nvPr/>
        </p:nvSpPr>
        <p:spPr>
          <a:xfrm>
            <a:off x="1188720" y="36905184"/>
            <a:ext cx="11750040" cy="384048"/>
          </a:xfrm>
          <a:prstGeom prst="roundRect">
            <a:avLst>
              <a:gd name="adj" fmla="val 23810"/>
            </a:avLst>
          </a:prstGeom>
          <a:solidFill>
            <a:srgbClr val="EEF2F8"/>
          </a:solidFill>
          <a:ln w="12700">
            <a:solidFill>
              <a:srgbClr val="D2DCEA"/>
            </a:solidFill>
            <a:prstDash val="solid"/>
          </a:ln>
        </p:spPr>
      </p:sp>
      <p:pic>
        <p:nvPicPr>
          <p:cNvPr id="220" name="Image 21" descr="icons/r1.png">    </p:cNvPr>
          <p:cNvPicPr>
            <a:picLocks noChangeAspect="1"/>
          </p:cNvPicPr>
          <p:nvPr/>
        </p:nvPicPr>
        <p:blipFill>
          <a:blip r:embed="rId22"/>
          <a:stretch>
            <a:fillRect/>
          </a:stretch>
        </p:blipFill>
        <p:spPr>
          <a:xfrm>
            <a:off x="1353312" y="36978336"/>
            <a:ext cx="237744" cy="237744"/>
          </a:xfrm>
          <a:prstGeom prst="rect">
            <a:avLst/>
          </a:prstGeom>
        </p:spPr>
      </p:pic>
      <p:sp>
        <p:nvSpPr>
          <p:cNvPr id="221" name="Text 196"/>
          <p:cNvSpPr/>
          <p:nvPr/>
        </p:nvSpPr>
        <p:spPr>
          <a:xfrm>
            <a:off x="1719072" y="36905184"/>
            <a:ext cx="11109960" cy="384048"/>
          </a:xfrm>
          <a:prstGeom prst="rect">
            <a:avLst/>
          </a:prstGeom>
          <a:noFill/>
          <a:ln/>
        </p:spPr>
        <p:txBody>
          <a:bodyPr wrap="square" lIns="0" tIns="0" rIns="0" bIns="0" rtlCol="0" anchor="ctr"/>
          <a:lstStyle/>
          <a:p>
            <a:pPr indent="0" marL="0">
              <a:buNone/>
            </a:pPr>
            <a:r>
              <a:rPr lang="en-US" sz="1900" b="1" dirty="0">
                <a:solidFill>
                  <a:srgbClr val="163A70"/>
                </a:solidFill>
                <a:latin typeface="Calibri" pitchFamily="34" charset="0"/>
                <a:ea typeface="Calibri" pitchFamily="34" charset="-122"/>
                <a:cs typeface="Calibri" pitchFamily="34" charset="-120"/>
              </a:rPr>
              <a:t>Precision Medicine Benefits</a:t>
            </a:r>
            <a:endParaRPr lang="en-US" sz="1900" dirty="0"/>
          </a:p>
        </p:txBody>
      </p:sp>
      <p:sp>
        <p:nvSpPr>
          <p:cNvPr id="222" name="Shape 197"/>
          <p:cNvSpPr/>
          <p:nvPr/>
        </p:nvSpPr>
        <p:spPr>
          <a:xfrm>
            <a:off x="1188720" y="37316664"/>
            <a:ext cx="11750040" cy="384048"/>
          </a:xfrm>
          <a:prstGeom prst="roundRect">
            <a:avLst>
              <a:gd name="adj" fmla="val 23810"/>
            </a:avLst>
          </a:prstGeom>
          <a:solidFill>
            <a:srgbClr val="EEF2F8"/>
          </a:solidFill>
          <a:ln w="12700">
            <a:solidFill>
              <a:srgbClr val="D2DCEA"/>
            </a:solidFill>
            <a:prstDash val="solid"/>
          </a:ln>
        </p:spPr>
      </p:sp>
      <p:pic>
        <p:nvPicPr>
          <p:cNvPr id="223" name="Image 22" descr="icons/r2.png">    </p:cNvPr>
          <p:cNvPicPr>
            <a:picLocks noChangeAspect="1"/>
          </p:cNvPicPr>
          <p:nvPr/>
        </p:nvPicPr>
        <p:blipFill>
          <a:blip r:embed="rId23"/>
          <a:stretch>
            <a:fillRect/>
          </a:stretch>
        </p:blipFill>
        <p:spPr>
          <a:xfrm>
            <a:off x="1353312" y="37389816"/>
            <a:ext cx="237744" cy="237744"/>
          </a:xfrm>
          <a:prstGeom prst="rect">
            <a:avLst/>
          </a:prstGeom>
        </p:spPr>
      </p:pic>
      <p:sp>
        <p:nvSpPr>
          <p:cNvPr id="224" name="Text 198"/>
          <p:cNvSpPr/>
          <p:nvPr/>
        </p:nvSpPr>
        <p:spPr>
          <a:xfrm>
            <a:off x="1719072" y="37316664"/>
            <a:ext cx="11109960" cy="384048"/>
          </a:xfrm>
          <a:prstGeom prst="rect">
            <a:avLst/>
          </a:prstGeom>
          <a:noFill/>
          <a:ln/>
        </p:spPr>
        <p:txBody>
          <a:bodyPr wrap="square" lIns="0" tIns="0" rIns="0" bIns="0" rtlCol="0" anchor="ctr"/>
          <a:lstStyle/>
          <a:p>
            <a:pPr indent="0" marL="0">
              <a:buNone/>
            </a:pPr>
            <a:r>
              <a:rPr lang="en-US" sz="1900" b="1" dirty="0">
                <a:solidFill>
                  <a:srgbClr val="163A70"/>
                </a:solidFill>
                <a:latin typeface="Calibri" pitchFamily="34" charset="0"/>
                <a:ea typeface="Calibri" pitchFamily="34" charset="-122"/>
                <a:cs typeface="Calibri" pitchFamily="34" charset="-120"/>
              </a:rPr>
              <a:t>Drug Targeting Improvements</a:t>
            </a:r>
            <a:endParaRPr lang="en-US" sz="1900" dirty="0"/>
          </a:p>
        </p:txBody>
      </p:sp>
      <p:sp>
        <p:nvSpPr>
          <p:cNvPr id="225" name="Shape 199"/>
          <p:cNvSpPr/>
          <p:nvPr/>
        </p:nvSpPr>
        <p:spPr>
          <a:xfrm>
            <a:off x="1188720" y="37728144"/>
            <a:ext cx="11750040" cy="384048"/>
          </a:xfrm>
          <a:prstGeom prst="roundRect">
            <a:avLst>
              <a:gd name="adj" fmla="val 23810"/>
            </a:avLst>
          </a:prstGeom>
          <a:solidFill>
            <a:srgbClr val="EEF2F8"/>
          </a:solidFill>
          <a:ln w="12700">
            <a:solidFill>
              <a:srgbClr val="D2DCEA"/>
            </a:solidFill>
            <a:prstDash val="solid"/>
          </a:ln>
        </p:spPr>
      </p:sp>
      <p:pic>
        <p:nvPicPr>
          <p:cNvPr id="226" name="Image 23" descr="icons/r3.png">    </p:cNvPr>
          <p:cNvPicPr>
            <a:picLocks noChangeAspect="1"/>
          </p:cNvPicPr>
          <p:nvPr/>
        </p:nvPicPr>
        <p:blipFill>
          <a:blip r:embed="rId24"/>
          <a:stretch>
            <a:fillRect/>
          </a:stretch>
        </p:blipFill>
        <p:spPr>
          <a:xfrm>
            <a:off x="1353312" y="37801296"/>
            <a:ext cx="237744" cy="237744"/>
          </a:xfrm>
          <a:prstGeom prst="rect">
            <a:avLst/>
          </a:prstGeom>
        </p:spPr>
      </p:pic>
      <p:sp>
        <p:nvSpPr>
          <p:cNvPr id="227" name="Text 200"/>
          <p:cNvSpPr/>
          <p:nvPr/>
        </p:nvSpPr>
        <p:spPr>
          <a:xfrm>
            <a:off x="1719072" y="37728144"/>
            <a:ext cx="11109960" cy="384048"/>
          </a:xfrm>
          <a:prstGeom prst="rect">
            <a:avLst/>
          </a:prstGeom>
          <a:noFill/>
          <a:ln/>
        </p:spPr>
        <p:txBody>
          <a:bodyPr wrap="square" lIns="0" tIns="0" rIns="0" bIns="0" rtlCol="0" anchor="ctr"/>
          <a:lstStyle/>
          <a:p>
            <a:pPr indent="0" marL="0">
              <a:buNone/>
            </a:pPr>
            <a:r>
              <a:rPr lang="en-US" sz="1900" b="1" dirty="0">
                <a:solidFill>
                  <a:srgbClr val="163A70"/>
                </a:solidFill>
                <a:latin typeface="Calibri" pitchFamily="34" charset="0"/>
                <a:ea typeface="Calibri" pitchFamily="34" charset="-122"/>
                <a:cs typeface="Calibri" pitchFamily="34" charset="-120"/>
              </a:rPr>
              <a:t>Surface Modification Advantages</a:t>
            </a:r>
            <a:endParaRPr lang="en-US" sz="1900" dirty="0"/>
          </a:p>
        </p:txBody>
      </p:sp>
      <p:sp>
        <p:nvSpPr>
          <p:cNvPr id="228" name="Shape 201"/>
          <p:cNvSpPr/>
          <p:nvPr/>
        </p:nvSpPr>
        <p:spPr>
          <a:xfrm>
            <a:off x="1188720" y="38139624"/>
            <a:ext cx="11750040" cy="384048"/>
          </a:xfrm>
          <a:prstGeom prst="roundRect">
            <a:avLst>
              <a:gd name="adj" fmla="val 23810"/>
            </a:avLst>
          </a:prstGeom>
          <a:solidFill>
            <a:srgbClr val="EEF2F8"/>
          </a:solidFill>
          <a:ln w="12700">
            <a:solidFill>
              <a:srgbClr val="D2DCEA"/>
            </a:solidFill>
            <a:prstDash val="solid"/>
          </a:ln>
        </p:spPr>
      </p:sp>
      <p:pic>
        <p:nvPicPr>
          <p:cNvPr id="229" name="Image 24" descr="icons/r4.png">    </p:cNvPr>
          <p:cNvPicPr>
            <a:picLocks noChangeAspect="1"/>
          </p:cNvPicPr>
          <p:nvPr/>
        </p:nvPicPr>
        <p:blipFill>
          <a:blip r:embed="rId25"/>
          <a:stretch>
            <a:fillRect/>
          </a:stretch>
        </p:blipFill>
        <p:spPr>
          <a:xfrm>
            <a:off x="1353312" y="38212776"/>
            <a:ext cx="237744" cy="237744"/>
          </a:xfrm>
          <a:prstGeom prst="rect">
            <a:avLst/>
          </a:prstGeom>
        </p:spPr>
      </p:pic>
      <p:sp>
        <p:nvSpPr>
          <p:cNvPr id="230" name="Text 202"/>
          <p:cNvSpPr/>
          <p:nvPr/>
        </p:nvSpPr>
        <p:spPr>
          <a:xfrm>
            <a:off x="1719072" y="38139624"/>
            <a:ext cx="11109960" cy="384048"/>
          </a:xfrm>
          <a:prstGeom prst="rect">
            <a:avLst/>
          </a:prstGeom>
          <a:noFill/>
          <a:ln/>
        </p:spPr>
        <p:txBody>
          <a:bodyPr wrap="square" lIns="0" tIns="0" rIns="0" bIns="0" rtlCol="0" anchor="ctr"/>
          <a:lstStyle/>
          <a:p>
            <a:pPr indent="0" marL="0">
              <a:buNone/>
            </a:pPr>
            <a:r>
              <a:rPr lang="en-US" sz="1900" b="1" dirty="0">
                <a:solidFill>
                  <a:srgbClr val="163A70"/>
                </a:solidFill>
                <a:latin typeface="Calibri" pitchFamily="34" charset="0"/>
                <a:ea typeface="Calibri" pitchFamily="34" charset="-122"/>
                <a:cs typeface="Calibri" pitchFamily="34" charset="-120"/>
              </a:rPr>
              <a:t>Stimuli Responsive Systems</a:t>
            </a:r>
            <a:endParaRPr lang="en-US" sz="1900" dirty="0"/>
          </a:p>
        </p:txBody>
      </p:sp>
      <p:sp>
        <p:nvSpPr>
          <p:cNvPr id="231" name="Shape 203"/>
          <p:cNvSpPr/>
          <p:nvPr/>
        </p:nvSpPr>
        <p:spPr>
          <a:xfrm>
            <a:off x="1188720" y="38551104"/>
            <a:ext cx="11750040" cy="384048"/>
          </a:xfrm>
          <a:prstGeom prst="roundRect">
            <a:avLst>
              <a:gd name="adj" fmla="val 23810"/>
            </a:avLst>
          </a:prstGeom>
          <a:solidFill>
            <a:srgbClr val="EEF2F8"/>
          </a:solidFill>
          <a:ln w="12700">
            <a:solidFill>
              <a:srgbClr val="D2DCEA"/>
            </a:solidFill>
            <a:prstDash val="solid"/>
          </a:ln>
        </p:spPr>
      </p:sp>
      <p:pic>
        <p:nvPicPr>
          <p:cNvPr id="232" name="Image 25" descr="icons/r5.png">    </p:cNvPr>
          <p:cNvPicPr>
            <a:picLocks noChangeAspect="1"/>
          </p:cNvPicPr>
          <p:nvPr/>
        </p:nvPicPr>
        <p:blipFill>
          <a:blip r:embed="rId26"/>
          <a:stretch>
            <a:fillRect/>
          </a:stretch>
        </p:blipFill>
        <p:spPr>
          <a:xfrm>
            <a:off x="1353312" y="38624256"/>
            <a:ext cx="237744" cy="237744"/>
          </a:xfrm>
          <a:prstGeom prst="rect">
            <a:avLst/>
          </a:prstGeom>
        </p:spPr>
      </p:pic>
      <p:sp>
        <p:nvSpPr>
          <p:cNvPr id="233" name="Text 204"/>
          <p:cNvSpPr/>
          <p:nvPr/>
        </p:nvSpPr>
        <p:spPr>
          <a:xfrm>
            <a:off x="1719072" y="38551104"/>
            <a:ext cx="11109960" cy="384048"/>
          </a:xfrm>
          <a:prstGeom prst="rect">
            <a:avLst/>
          </a:prstGeom>
          <a:noFill/>
          <a:ln/>
        </p:spPr>
        <p:txBody>
          <a:bodyPr wrap="square" lIns="0" tIns="0" rIns="0" bIns="0" rtlCol="0" anchor="ctr"/>
          <a:lstStyle/>
          <a:p>
            <a:pPr indent="0" marL="0">
              <a:buNone/>
            </a:pPr>
            <a:r>
              <a:rPr lang="en-US" sz="1900" b="1" dirty="0">
                <a:solidFill>
                  <a:srgbClr val="163A70"/>
                </a:solidFill>
                <a:latin typeface="Calibri" pitchFamily="34" charset="0"/>
                <a:ea typeface="Calibri" pitchFamily="34" charset="-122"/>
                <a:cs typeface="Calibri" pitchFamily="34" charset="-120"/>
              </a:rPr>
              <a:t>Clinical Impact</a:t>
            </a:r>
            <a:endParaRPr lang="en-US" sz="1900" dirty="0"/>
          </a:p>
        </p:txBody>
      </p:sp>
      <p:sp>
        <p:nvSpPr>
          <p:cNvPr id="234" name="Shape 205"/>
          <p:cNvSpPr/>
          <p:nvPr/>
        </p:nvSpPr>
        <p:spPr>
          <a:xfrm>
            <a:off x="14036040" y="34381440"/>
            <a:ext cx="12664440" cy="4709160"/>
          </a:xfrm>
          <a:prstGeom prst="roundRect">
            <a:avLst>
              <a:gd name="adj" fmla="val 2718"/>
            </a:avLst>
          </a:prstGeom>
          <a:solidFill>
            <a:srgbClr val="F5F7FA"/>
          </a:solidFill>
          <a:ln w="15875">
            <a:solidFill>
              <a:srgbClr val="D7DEE8"/>
            </a:solidFill>
            <a:prstDash val="solid"/>
          </a:ln>
        </p:spPr>
      </p:sp>
      <p:sp>
        <p:nvSpPr>
          <p:cNvPr id="235" name="Shape 206"/>
          <p:cNvSpPr/>
          <p:nvPr/>
        </p:nvSpPr>
        <p:spPr>
          <a:xfrm>
            <a:off x="14447520" y="34692336"/>
            <a:ext cx="713232" cy="713232"/>
          </a:xfrm>
          <a:prstGeom prst="ellipse">
            <a:avLst/>
          </a:prstGeom>
          <a:solidFill>
            <a:srgbClr val="163A70"/>
          </a:solidFill>
          <a:ln w="12700">
            <a:solidFill>
              <a:srgbClr val="163A70"/>
            </a:solidFill>
            <a:prstDash val="solid"/>
          </a:ln>
        </p:spPr>
      </p:sp>
      <p:sp>
        <p:nvSpPr>
          <p:cNvPr id="236" name="Text 207"/>
          <p:cNvSpPr/>
          <p:nvPr/>
        </p:nvSpPr>
        <p:spPr>
          <a:xfrm>
            <a:off x="14447520" y="34692336"/>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07</a:t>
            </a:r>
            <a:endParaRPr lang="en-US" sz="2400" dirty="0"/>
          </a:p>
        </p:txBody>
      </p:sp>
      <p:sp>
        <p:nvSpPr>
          <p:cNvPr id="237" name="Text 208"/>
          <p:cNvSpPr/>
          <p:nvPr/>
        </p:nvSpPr>
        <p:spPr>
          <a:xfrm>
            <a:off x="15416784" y="34674048"/>
            <a:ext cx="9144000" cy="749808"/>
          </a:xfrm>
          <a:prstGeom prst="rect">
            <a:avLst/>
          </a:prstGeom>
          <a:noFill/>
          <a:ln/>
        </p:spPr>
        <p:txBody>
          <a:bodyPr wrap="square" lIns="0" tIns="0" rIns="0" bIns="0" rtlCol="0" anchor="ctr"/>
          <a:lstStyle/>
          <a:p>
            <a:pPr algn="l" indent="0" marL="0">
              <a:buNone/>
            </a:pPr>
            <a:r>
              <a:rPr lang="en-US" sz="3000" b="1" spc="120" kern="0" dirty="0">
                <a:solidFill>
                  <a:srgbClr val="163A70"/>
                </a:solidFill>
                <a:latin typeface="Calibri" pitchFamily="34" charset="0"/>
                <a:ea typeface="Calibri" pitchFamily="34" charset="-122"/>
                <a:cs typeface="Calibri" pitchFamily="34" charset="-120"/>
              </a:rPr>
              <a:t>PROS  vs  CONS</a:t>
            </a:r>
            <a:endParaRPr lang="en-US" sz="3000" dirty="0"/>
          </a:p>
        </p:txBody>
      </p:sp>
      <p:sp>
        <p:nvSpPr>
          <p:cNvPr id="238" name="Shape 209"/>
          <p:cNvSpPr/>
          <p:nvPr/>
        </p:nvSpPr>
        <p:spPr>
          <a:xfrm>
            <a:off x="14493240" y="35515296"/>
            <a:ext cx="5692140" cy="3456432"/>
          </a:xfrm>
          <a:prstGeom prst="roundRect">
            <a:avLst>
              <a:gd name="adj" fmla="val 3704"/>
            </a:avLst>
          </a:prstGeom>
          <a:solidFill>
            <a:srgbClr val="E6F4F4"/>
          </a:solidFill>
          <a:ln w="22225">
            <a:solidFill>
              <a:srgbClr val="1FA6A6"/>
            </a:solidFill>
            <a:prstDash val="solid"/>
          </a:ln>
        </p:spPr>
      </p:sp>
      <p:sp>
        <p:nvSpPr>
          <p:cNvPr id="239" name="Shape 210"/>
          <p:cNvSpPr/>
          <p:nvPr/>
        </p:nvSpPr>
        <p:spPr>
          <a:xfrm>
            <a:off x="14639544" y="35661600"/>
            <a:ext cx="5399532" cy="530352"/>
          </a:xfrm>
          <a:prstGeom prst="roundRect">
            <a:avLst>
              <a:gd name="adj" fmla="val 20690"/>
            </a:avLst>
          </a:prstGeom>
          <a:solidFill>
            <a:srgbClr val="1FA6A6"/>
          </a:solidFill>
          <a:ln w="12700">
            <a:solidFill>
              <a:srgbClr val="1FA6A6"/>
            </a:solidFill>
            <a:prstDash val="solid"/>
          </a:ln>
        </p:spPr>
      </p:sp>
      <p:sp>
        <p:nvSpPr>
          <p:cNvPr id="240" name="Text 211"/>
          <p:cNvSpPr/>
          <p:nvPr/>
        </p:nvSpPr>
        <p:spPr>
          <a:xfrm>
            <a:off x="14639544" y="35661600"/>
            <a:ext cx="5399532" cy="530352"/>
          </a:xfrm>
          <a:prstGeom prst="rect">
            <a:avLst/>
          </a:prstGeom>
          <a:noFill/>
          <a:ln/>
        </p:spPr>
        <p:txBody>
          <a:bodyPr wrap="square" lIns="0" tIns="0" rIns="0" bIns="0" rtlCol="0" anchor="ctr"/>
          <a:lstStyle/>
          <a:p>
            <a:pPr algn="ctr" indent="0" marL="0">
              <a:buNone/>
            </a:pPr>
            <a:r>
              <a:rPr lang="en-US" sz="2500" b="1" spc="250" kern="0" dirty="0">
                <a:solidFill>
                  <a:srgbClr val="FFFFFF"/>
                </a:solidFill>
                <a:latin typeface="Calibri" pitchFamily="34" charset="0"/>
                <a:ea typeface="Calibri" pitchFamily="34" charset="-122"/>
                <a:cs typeface="Calibri" pitchFamily="34" charset="-120"/>
              </a:rPr>
              <a:t>PROS</a:t>
            </a:r>
            <a:endParaRPr lang="en-US" sz="2500" dirty="0"/>
          </a:p>
        </p:txBody>
      </p:sp>
      <p:sp>
        <p:nvSpPr>
          <p:cNvPr id="241" name="Shape 212"/>
          <p:cNvSpPr/>
          <p:nvPr/>
        </p:nvSpPr>
        <p:spPr>
          <a:xfrm>
            <a:off x="14694408" y="36402264"/>
            <a:ext cx="292608" cy="292608"/>
          </a:xfrm>
          <a:prstGeom prst="ellipse">
            <a:avLst/>
          </a:prstGeom>
          <a:solidFill>
            <a:srgbClr val="1FA6A6"/>
          </a:solidFill>
          <a:ln w="12700">
            <a:solidFill>
              <a:srgbClr val="1FA6A6"/>
            </a:solidFill>
            <a:prstDash val="solid"/>
          </a:ln>
        </p:spPr>
      </p:sp>
      <p:pic>
        <p:nvPicPr>
          <p:cNvPr id="242" name="Image 26" descr="icons/pro.png">    </p:cNvPr>
          <p:cNvPicPr>
            <a:picLocks noChangeAspect="1"/>
          </p:cNvPicPr>
          <p:nvPr/>
        </p:nvPicPr>
        <p:blipFill>
          <a:blip r:embed="rId27"/>
          <a:stretch>
            <a:fillRect/>
          </a:stretch>
        </p:blipFill>
        <p:spPr>
          <a:xfrm>
            <a:off x="14772132" y="36479988"/>
            <a:ext cx="137160" cy="137160"/>
          </a:xfrm>
          <a:prstGeom prst="rect">
            <a:avLst/>
          </a:prstGeom>
        </p:spPr>
      </p:pic>
      <p:sp>
        <p:nvSpPr>
          <p:cNvPr id="243" name="Text 213"/>
          <p:cNvSpPr/>
          <p:nvPr/>
        </p:nvSpPr>
        <p:spPr>
          <a:xfrm>
            <a:off x="15060168" y="36356544"/>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Targeted drug delivery</a:t>
            </a:r>
            <a:endParaRPr lang="en-US" sz="1900" dirty="0"/>
          </a:p>
        </p:txBody>
      </p:sp>
      <p:sp>
        <p:nvSpPr>
          <p:cNvPr id="244" name="Shape 214"/>
          <p:cNvSpPr/>
          <p:nvPr/>
        </p:nvSpPr>
        <p:spPr>
          <a:xfrm>
            <a:off x="14694408" y="36832032"/>
            <a:ext cx="292608" cy="292608"/>
          </a:xfrm>
          <a:prstGeom prst="ellipse">
            <a:avLst/>
          </a:prstGeom>
          <a:solidFill>
            <a:srgbClr val="1FA6A6"/>
          </a:solidFill>
          <a:ln w="12700">
            <a:solidFill>
              <a:srgbClr val="1FA6A6"/>
            </a:solidFill>
            <a:prstDash val="solid"/>
          </a:ln>
        </p:spPr>
      </p:sp>
      <p:pic>
        <p:nvPicPr>
          <p:cNvPr id="245" name="Image 27" descr="icons/pro.png">    </p:cNvPr>
          <p:cNvPicPr>
            <a:picLocks noChangeAspect="1"/>
          </p:cNvPicPr>
          <p:nvPr/>
        </p:nvPicPr>
        <p:blipFill>
          <a:blip r:embed="rId28"/>
          <a:stretch>
            <a:fillRect/>
          </a:stretch>
        </p:blipFill>
        <p:spPr>
          <a:xfrm>
            <a:off x="14772132" y="36909756"/>
            <a:ext cx="137160" cy="137160"/>
          </a:xfrm>
          <a:prstGeom prst="rect">
            <a:avLst/>
          </a:prstGeom>
        </p:spPr>
      </p:pic>
      <p:sp>
        <p:nvSpPr>
          <p:cNvPr id="246" name="Text 215"/>
          <p:cNvSpPr/>
          <p:nvPr/>
        </p:nvSpPr>
        <p:spPr>
          <a:xfrm>
            <a:off x="15060168" y="36786312"/>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Enhanced drug solubility</a:t>
            </a:r>
            <a:endParaRPr lang="en-US" sz="1900" dirty="0"/>
          </a:p>
        </p:txBody>
      </p:sp>
      <p:sp>
        <p:nvSpPr>
          <p:cNvPr id="247" name="Shape 216"/>
          <p:cNvSpPr/>
          <p:nvPr/>
        </p:nvSpPr>
        <p:spPr>
          <a:xfrm>
            <a:off x="14694408" y="37261800"/>
            <a:ext cx="292608" cy="292608"/>
          </a:xfrm>
          <a:prstGeom prst="ellipse">
            <a:avLst/>
          </a:prstGeom>
          <a:solidFill>
            <a:srgbClr val="1FA6A6"/>
          </a:solidFill>
          <a:ln w="12700">
            <a:solidFill>
              <a:srgbClr val="1FA6A6"/>
            </a:solidFill>
            <a:prstDash val="solid"/>
          </a:ln>
        </p:spPr>
      </p:sp>
      <p:pic>
        <p:nvPicPr>
          <p:cNvPr id="248" name="Image 28" descr="icons/pro.png">    </p:cNvPr>
          <p:cNvPicPr>
            <a:picLocks noChangeAspect="1"/>
          </p:cNvPicPr>
          <p:nvPr/>
        </p:nvPicPr>
        <p:blipFill>
          <a:blip r:embed="rId29"/>
          <a:stretch>
            <a:fillRect/>
          </a:stretch>
        </p:blipFill>
        <p:spPr>
          <a:xfrm>
            <a:off x="14772132" y="37339524"/>
            <a:ext cx="137160" cy="137160"/>
          </a:xfrm>
          <a:prstGeom prst="rect">
            <a:avLst/>
          </a:prstGeom>
        </p:spPr>
      </p:pic>
      <p:sp>
        <p:nvSpPr>
          <p:cNvPr id="249" name="Text 217"/>
          <p:cNvSpPr/>
          <p:nvPr/>
        </p:nvSpPr>
        <p:spPr>
          <a:xfrm>
            <a:off x="15060168" y="37216080"/>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Drug protection</a:t>
            </a:r>
            <a:endParaRPr lang="en-US" sz="1900" dirty="0"/>
          </a:p>
        </p:txBody>
      </p:sp>
      <p:sp>
        <p:nvSpPr>
          <p:cNvPr id="250" name="Shape 218"/>
          <p:cNvSpPr/>
          <p:nvPr/>
        </p:nvSpPr>
        <p:spPr>
          <a:xfrm>
            <a:off x="14694408" y="37691568"/>
            <a:ext cx="292608" cy="292608"/>
          </a:xfrm>
          <a:prstGeom prst="ellipse">
            <a:avLst/>
          </a:prstGeom>
          <a:solidFill>
            <a:srgbClr val="1FA6A6"/>
          </a:solidFill>
          <a:ln w="12700">
            <a:solidFill>
              <a:srgbClr val="1FA6A6"/>
            </a:solidFill>
            <a:prstDash val="solid"/>
          </a:ln>
        </p:spPr>
      </p:sp>
      <p:pic>
        <p:nvPicPr>
          <p:cNvPr id="251" name="Image 29" descr="icons/pro.png">    </p:cNvPr>
          <p:cNvPicPr>
            <a:picLocks noChangeAspect="1"/>
          </p:cNvPicPr>
          <p:nvPr/>
        </p:nvPicPr>
        <p:blipFill>
          <a:blip r:embed="rId30"/>
          <a:stretch>
            <a:fillRect/>
          </a:stretch>
        </p:blipFill>
        <p:spPr>
          <a:xfrm>
            <a:off x="14772132" y="37769292"/>
            <a:ext cx="137160" cy="137160"/>
          </a:xfrm>
          <a:prstGeom prst="rect">
            <a:avLst/>
          </a:prstGeom>
        </p:spPr>
      </p:pic>
      <p:sp>
        <p:nvSpPr>
          <p:cNvPr id="252" name="Text 219"/>
          <p:cNvSpPr/>
          <p:nvPr/>
        </p:nvSpPr>
        <p:spPr>
          <a:xfrm>
            <a:off x="15060168" y="37645848"/>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Controlled release</a:t>
            </a:r>
            <a:endParaRPr lang="en-US" sz="1900" dirty="0"/>
          </a:p>
        </p:txBody>
      </p:sp>
      <p:sp>
        <p:nvSpPr>
          <p:cNvPr id="253" name="Shape 220"/>
          <p:cNvSpPr/>
          <p:nvPr/>
        </p:nvSpPr>
        <p:spPr>
          <a:xfrm>
            <a:off x="14694408" y="38121336"/>
            <a:ext cx="292608" cy="292608"/>
          </a:xfrm>
          <a:prstGeom prst="ellipse">
            <a:avLst/>
          </a:prstGeom>
          <a:solidFill>
            <a:srgbClr val="1FA6A6"/>
          </a:solidFill>
          <a:ln w="12700">
            <a:solidFill>
              <a:srgbClr val="1FA6A6"/>
            </a:solidFill>
            <a:prstDash val="solid"/>
          </a:ln>
        </p:spPr>
      </p:sp>
      <p:pic>
        <p:nvPicPr>
          <p:cNvPr id="254" name="Image 30" descr="icons/pro.png">    </p:cNvPr>
          <p:cNvPicPr>
            <a:picLocks noChangeAspect="1"/>
          </p:cNvPicPr>
          <p:nvPr/>
        </p:nvPicPr>
        <p:blipFill>
          <a:blip r:embed="rId31"/>
          <a:stretch>
            <a:fillRect/>
          </a:stretch>
        </p:blipFill>
        <p:spPr>
          <a:xfrm>
            <a:off x="14772132" y="38199060"/>
            <a:ext cx="137160" cy="137160"/>
          </a:xfrm>
          <a:prstGeom prst="rect">
            <a:avLst/>
          </a:prstGeom>
        </p:spPr>
      </p:pic>
      <p:sp>
        <p:nvSpPr>
          <p:cNvPr id="255" name="Text 221"/>
          <p:cNvSpPr/>
          <p:nvPr/>
        </p:nvSpPr>
        <p:spPr>
          <a:xfrm>
            <a:off x="15060168" y="38075616"/>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Versatile platform</a:t>
            </a:r>
            <a:endParaRPr lang="en-US" sz="1900" dirty="0"/>
          </a:p>
        </p:txBody>
      </p:sp>
      <p:sp>
        <p:nvSpPr>
          <p:cNvPr id="256" name="Shape 222"/>
          <p:cNvSpPr/>
          <p:nvPr/>
        </p:nvSpPr>
        <p:spPr>
          <a:xfrm>
            <a:off x="14694408" y="38551104"/>
            <a:ext cx="292608" cy="292608"/>
          </a:xfrm>
          <a:prstGeom prst="ellipse">
            <a:avLst/>
          </a:prstGeom>
          <a:solidFill>
            <a:srgbClr val="1FA6A6"/>
          </a:solidFill>
          <a:ln w="12700">
            <a:solidFill>
              <a:srgbClr val="1FA6A6"/>
            </a:solidFill>
            <a:prstDash val="solid"/>
          </a:ln>
        </p:spPr>
      </p:sp>
      <p:pic>
        <p:nvPicPr>
          <p:cNvPr id="257" name="Image 31" descr="icons/pro.png">    </p:cNvPr>
          <p:cNvPicPr>
            <a:picLocks noChangeAspect="1"/>
          </p:cNvPicPr>
          <p:nvPr/>
        </p:nvPicPr>
        <p:blipFill>
          <a:blip r:embed="rId32"/>
          <a:stretch>
            <a:fillRect/>
          </a:stretch>
        </p:blipFill>
        <p:spPr>
          <a:xfrm>
            <a:off x="14772132" y="38628828"/>
            <a:ext cx="137160" cy="137160"/>
          </a:xfrm>
          <a:prstGeom prst="rect">
            <a:avLst/>
          </a:prstGeom>
        </p:spPr>
      </p:pic>
      <p:sp>
        <p:nvSpPr>
          <p:cNvPr id="258" name="Text 223"/>
          <p:cNvSpPr/>
          <p:nvPr/>
        </p:nvSpPr>
        <p:spPr>
          <a:xfrm>
            <a:off x="15060168" y="38505384"/>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Reduced toxicity</a:t>
            </a:r>
            <a:endParaRPr lang="en-US" sz="1900" dirty="0"/>
          </a:p>
        </p:txBody>
      </p:sp>
      <p:sp>
        <p:nvSpPr>
          <p:cNvPr id="259" name="Shape 224"/>
          <p:cNvSpPr/>
          <p:nvPr/>
        </p:nvSpPr>
        <p:spPr>
          <a:xfrm>
            <a:off x="20551140" y="35515296"/>
            <a:ext cx="5692140" cy="3456432"/>
          </a:xfrm>
          <a:prstGeom prst="roundRect">
            <a:avLst>
              <a:gd name="adj" fmla="val 3704"/>
            </a:avLst>
          </a:prstGeom>
          <a:solidFill>
            <a:srgbClr val="EDF0F5"/>
          </a:solidFill>
          <a:ln w="22225">
            <a:solidFill>
              <a:srgbClr val="5A6B84"/>
            </a:solidFill>
            <a:prstDash val="solid"/>
          </a:ln>
        </p:spPr>
      </p:sp>
      <p:sp>
        <p:nvSpPr>
          <p:cNvPr id="260" name="Shape 225"/>
          <p:cNvSpPr/>
          <p:nvPr/>
        </p:nvSpPr>
        <p:spPr>
          <a:xfrm>
            <a:off x="20697444" y="35661600"/>
            <a:ext cx="5399532" cy="530352"/>
          </a:xfrm>
          <a:prstGeom prst="roundRect">
            <a:avLst>
              <a:gd name="adj" fmla="val 20690"/>
            </a:avLst>
          </a:prstGeom>
          <a:solidFill>
            <a:srgbClr val="5A6B84"/>
          </a:solidFill>
          <a:ln w="12700">
            <a:solidFill>
              <a:srgbClr val="5A6B84"/>
            </a:solidFill>
            <a:prstDash val="solid"/>
          </a:ln>
        </p:spPr>
      </p:sp>
      <p:sp>
        <p:nvSpPr>
          <p:cNvPr id="261" name="Text 226"/>
          <p:cNvSpPr/>
          <p:nvPr/>
        </p:nvSpPr>
        <p:spPr>
          <a:xfrm>
            <a:off x="20697444" y="35661600"/>
            <a:ext cx="5399532" cy="530352"/>
          </a:xfrm>
          <a:prstGeom prst="rect">
            <a:avLst/>
          </a:prstGeom>
          <a:noFill/>
          <a:ln/>
        </p:spPr>
        <p:txBody>
          <a:bodyPr wrap="square" lIns="0" tIns="0" rIns="0" bIns="0" rtlCol="0" anchor="ctr"/>
          <a:lstStyle/>
          <a:p>
            <a:pPr algn="ctr" indent="0" marL="0">
              <a:buNone/>
            </a:pPr>
            <a:r>
              <a:rPr lang="en-US" sz="2500" b="1" spc="250" kern="0" dirty="0">
                <a:solidFill>
                  <a:srgbClr val="FFFFFF"/>
                </a:solidFill>
                <a:latin typeface="Calibri" pitchFamily="34" charset="0"/>
                <a:ea typeface="Calibri" pitchFamily="34" charset="-122"/>
                <a:cs typeface="Calibri" pitchFamily="34" charset="-120"/>
              </a:rPr>
              <a:t>CONS</a:t>
            </a:r>
            <a:endParaRPr lang="en-US" sz="2500" dirty="0"/>
          </a:p>
        </p:txBody>
      </p:sp>
      <p:sp>
        <p:nvSpPr>
          <p:cNvPr id="262" name="Shape 227"/>
          <p:cNvSpPr/>
          <p:nvPr/>
        </p:nvSpPr>
        <p:spPr>
          <a:xfrm>
            <a:off x="20752308" y="36402264"/>
            <a:ext cx="292608" cy="292608"/>
          </a:xfrm>
          <a:prstGeom prst="ellipse">
            <a:avLst/>
          </a:prstGeom>
          <a:solidFill>
            <a:srgbClr val="5A6B84"/>
          </a:solidFill>
          <a:ln w="12700">
            <a:solidFill>
              <a:srgbClr val="5A6B84"/>
            </a:solidFill>
            <a:prstDash val="solid"/>
          </a:ln>
        </p:spPr>
      </p:sp>
      <p:pic>
        <p:nvPicPr>
          <p:cNvPr id="263" name="Image 32" descr="icons/con.png">    </p:cNvPr>
          <p:cNvPicPr>
            <a:picLocks noChangeAspect="1"/>
          </p:cNvPicPr>
          <p:nvPr/>
        </p:nvPicPr>
        <p:blipFill>
          <a:blip r:embed="rId33"/>
          <a:stretch>
            <a:fillRect/>
          </a:stretch>
        </p:blipFill>
        <p:spPr>
          <a:xfrm>
            <a:off x="20830032" y="36479988"/>
            <a:ext cx="137160" cy="137160"/>
          </a:xfrm>
          <a:prstGeom prst="rect">
            <a:avLst/>
          </a:prstGeom>
        </p:spPr>
      </p:pic>
      <p:sp>
        <p:nvSpPr>
          <p:cNvPr id="264" name="Text 228"/>
          <p:cNvSpPr/>
          <p:nvPr/>
        </p:nvSpPr>
        <p:spPr>
          <a:xfrm>
            <a:off x="21118068" y="36356544"/>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Physical instability</a:t>
            </a:r>
            <a:endParaRPr lang="en-US" sz="1900" dirty="0"/>
          </a:p>
        </p:txBody>
      </p:sp>
      <p:sp>
        <p:nvSpPr>
          <p:cNvPr id="265" name="Shape 229"/>
          <p:cNvSpPr/>
          <p:nvPr/>
        </p:nvSpPr>
        <p:spPr>
          <a:xfrm>
            <a:off x="20752308" y="36832032"/>
            <a:ext cx="292608" cy="292608"/>
          </a:xfrm>
          <a:prstGeom prst="ellipse">
            <a:avLst/>
          </a:prstGeom>
          <a:solidFill>
            <a:srgbClr val="5A6B84"/>
          </a:solidFill>
          <a:ln w="12700">
            <a:solidFill>
              <a:srgbClr val="5A6B84"/>
            </a:solidFill>
            <a:prstDash val="solid"/>
          </a:ln>
        </p:spPr>
      </p:sp>
      <p:pic>
        <p:nvPicPr>
          <p:cNvPr id="266" name="Image 33" descr="icons/con.png">    </p:cNvPr>
          <p:cNvPicPr>
            <a:picLocks noChangeAspect="1"/>
          </p:cNvPicPr>
          <p:nvPr/>
        </p:nvPicPr>
        <p:blipFill>
          <a:blip r:embed="rId34"/>
          <a:stretch>
            <a:fillRect/>
          </a:stretch>
        </p:blipFill>
        <p:spPr>
          <a:xfrm>
            <a:off x="20830032" y="36909756"/>
            <a:ext cx="137160" cy="137160"/>
          </a:xfrm>
          <a:prstGeom prst="rect">
            <a:avLst/>
          </a:prstGeom>
        </p:spPr>
      </p:pic>
      <p:sp>
        <p:nvSpPr>
          <p:cNvPr id="267" name="Text 230"/>
          <p:cNvSpPr/>
          <p:nvPr/>
        </p:nvSpPr>
        <p:spPr>
          <a:xfrm>
            <a:off x="21118068" y="36786312"/>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Drug leakage</a:t>
            </a:r>
            <a:endParaRPr lang="en-US" sz="1900" dirty="0"/>
          </a:p>
        </p:txBody>
      </p:sp>
      <p:sp>
        <p:nvSpPr>
          <p:cNvPr id="268" name="Shape 231"/>
          <p:cNvSpPr/>
          <p:nvPr/>
        </p:nvSpPr>
        <p:spPr>
          <a:xfrm>
            <a:off x="20752308" y="37261800"/>
            <a:ext cx="292608" cy="292608"/>
          </a:xfrm>
          <a:prstGeom prst="ellipse">
            <a:avLst/>
          </a:prstGeom>
          <a:solidFill>
            <a:srgbClr val="5A6B84"/>
          </a:solidFill>
          <a:ln w="12700">
            <a:solidFill>
              <a:srgbClr val="5A6B84"/>
            </a:solidFill>
            <a:prstDash val="solid"/>
          </a:ln>
        </p:spPr>
      </p:sp>
      <p:pic>
        <p:nvPicPr>
          <p:cNvPr id="269" name="Image 34" descr="icons/con.png">    </p:cNvPr>
          <p:cNvPicPr>
            <a:picLocks noChangeAspect="1"/>
          </p:cNvPicPr>
          <p:nvPr/>
        </p:nvPicPr>
        <p:blipFill>
          <a:blip r:embed="rId35"/>
          <a:stretch>
            <a:fillRect/>
          </a:stretch>
        </p:blipFill>
        <p:spPr>
          <a:xfrm>
            <a:off x="20830032" y="37339524"/>
            <a:ext cx="137160" cy="137160"/>
          </a:xfrm>
          <a:prstGeom prst="rect">
            <a:avLst/>
          </a:prstGeom>
        </p:spPr>
      </p:pic>
      <p:sp>
        <p:nvSpPr>
          <p:cNvPr id="270" name="Text 232"/>
          <p:cNvSpPr/>
          <p:nvPr/>
        </p:nvSpPr>
        <p:spPr>
          <a:xfrm>
            <a:off x="21118068" y="37216080"/>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Chemical instability</a:t>
            </a:r>
            <a:endParaRPr lang="en-US" sz="1900" dirty="0"/>
          </a:p>
        </p:txBody>
      </p:sp>
      <p:sp>
        <p:nvSpPr>
          <p:cNvPr id="271" name="Shape 233"/>
          <p:cNvSpPr/>
          <p:nvPr/>
        </p:nvSpPr>
        <p:spPr>
          <a:xfrm>
            <a:off x="20752308" y="37691568"/>
            <a:ext cx="292608" cy="292608"/>
          </a:xfrm>
          <a:prstGeom prst="ellipse">
            <a:avLst/>
          </a:prstGeom>
          <a:solidFill>
            <a:srgbClr val="5A6B84"/>
          </a:solidFill>
          <a:ln w="12700">
            <a:solidFill>
              <a:srgbClr val="5A6B84"/>
            </a:solidFill>
            <a:prstDash val="solid"/>
          </a:ln>
        </p:spPr>
      </p:sp>
      <p:pic>
        <p:nvPicPr>
          <p:cNvPr id="272" name="Image 35" descr="icons/con.png">    </p:cNvPr>
          <p:cNvPicPr>
            <a:picLocks noChangeAspect="1"/>
          </p:cNvPicPr>
          <p:nvPr/>
        </p:nvPicPr>
        <p:blipFill>
          <a:blip r:embed="rId36"/>
          <a:stretch>
            <a:fillRect/>
          </a:stretch>
        </p:blipFill>
        <p:spPr>
          <a:xfrm>
            <a:off x="20830032" y="37769292"/>
            <a:ext cx="137160" cy="137160"/>
          </a:xfrm>
          <a:prstGeom prst="rect">
            <a:avLst/>
          </a:prstGeom>
        </p:spPr>
      </p:pic>
      <p:sp>
        <p:nvSpPr>
          <p:cNvPr id="273" name="Text 234"/>
          <p:cNvSpPr/>
          <p:nvPr/>
        </p:nvSpPr>
        <p:spPr>
          <a:xfrm>
            <a:off x="21118068" y="37645848"/>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High production cost</a:t>
            </a:r>
            <a:endParaRPr lang="en-US" sz="1900" dirty="0"/>
          </a:p>
        </p:txBody>
      </p:sp>
      <p:sp>
        <p:nvSpPr>
          <p:cNvPr id="274" name="Shape 235"/>
          <p:cNvSpPr/>
          <p:nvPr/>
        </p:nvSpPr>
        <p:spPr>
          <a:xfrm>
            <a:off x="20752308" y="38121336"/>
            <a:ext cx="292608" cy="292608"/>
          </a:xfrm>
          <a:prstGeom prst="ellipse">
            <a:avLst/>
          </a:prstGeom>
          <a:solidFill>
            <a:srgbClr val="5A6B84"/>
          </a:solidFill>
          <a:ln w="12700">
            <a:solidFill>
              <a:srgbClr val="5A6B84"/>
            </a:solidFill>
            <a:prstDash val="solid"/>
          </a:ln>
        </p:spPr>
      </p:sp>
      <p:pic>
        <p:nvPicPr>
          <p:cNvPr id="275" name="Image 36" descr="icons/con.png">    </p:cNvPr>
          <p:cNvPicPr>
            <a:picLocks noChangeAspect="1"/>
          </p:cNvPicPr>
          <p:nvPr/>
        </p:nvPicPr>
        <p:blipFill>
          <a:blip r:embed="rId37"/>
          <a:stretch>
            <a:fillRect/>
          </a:stretch>
        </p:blipFill>
        <p:spPr>
          <a:xfrm>
            <a:off x="20830032" y="38199060"/>
            <a:ext cx="137160" cy="137160"/>
          </a:xfrm>
          <a:prstGeom prst="rect">
            <a:avLst/>
          </a:prstGeom>
        </p:spPr>
      </p:pic>
      <p:sp>
        <p:nvSpPr>
          <p:cNvPr id="276" name="Text 236"/>
          <p:cNvSpPr/>
          <p:nvPr/>
        </p:nvSpPr>
        <p:spPr>
          <a:xfrm>
            <a:off x="21118068" y="38075616"/>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Scale up difficulties</a:t>
            </a:r>
            <a:endParaRPr lang="en-US" sz="1900" dirty="0"/>
          </a:p>
        </p:txBody>
      </p:sp>
      <p:sp>
        <p:nvSpPr>
          <p:cNvPr id="277" name="Shape 237"/>
          <p:cNvSpPr/>
          <p:nvPr/>
        </p:nvSpPr>
        <p:spPr>
          <a:xfrm>
            <a:off x="20752308" y="38551104"/>
            <a:ext cx="292608" cy="292608"/>
          </a:xfrm>
          <a:prstGeom prst="ellipse">
            <a:avLst/>
          </a:prstGeom>
          <a:solidFill>
            <a:srgbClr val="5A6B84"/>
          </a:solidFill>
          <a:ln w="12700">
            <a:solidFill>
              <a:srgbClr val="5A6B84"/>
            </a:solidFill>
            <a:prstDash val="solid"/>
          </a:ln>
        </p:spPr>
      </p:sp>
      <p:pic>
        <p:nvPicPr>
          <p:cNvPr id="278" name="Image 37" descr="icons/con.png">    </p:cNvPr>
          <p:cNvPicPr>
            <a:picLocks noChangeAspect="1"/>
          </p:cNvPicPr>
          <p:nvPr/>
        </p:nvPicPr>
        <p:blipFill>
          <a:blip r:embed="rId38"/>
          <a:stretch>
            <a:fillRect/>
          </a:stretch>
        </p:blipFill>
        <p:spPr>
          <a:xfrm>
            <a:off x="20830032" y="38628828"/>
            <a:ext cx="137160" cy="137160"/>
          </a:xfrm>
          <a:prstGeom prst="rect">
            <a:avLst/>
          </a:prstGeom>
        </p:spPr>
      </p:pic>
      <p:sp>
        <p:nvSpPr>
          <p:cNvPr id="279" name="Text 238"/>
          <p:cNvSpPr/>
          <p:nvPr/>
        </p:nvSpPr>
        <p:spPr>
          <a:xfrm>
            <a:off x="21118068" y="38505384"/>
            <a:ext cx="4978908" cy="384048"/>
          </a:xfrm>
          <a:prstGeom prst="rect">
            <a:avLst/>
          </a:prstGeom>
          <a:noFill/>
          <a:ln/>
        </p:spPr>
        <p:txBody>
          <a:bodyPr wrap="square" lIns="0" tIns="0" rIns="0" bIns="0" rtlCol="0" anchor="ctr"/>
          <a:lstStyle/>
          <a:p>
            <a:pPr indent="0" marL="0">
              <a:buNone/>
            </a:pPr>
            <a:r>
              <a:rPr lang="en-US" sz="1900" dirty="0">
                <a:solidFill>
                  <a:srgbClr val="1E293B"/>
                </a:solidFill>
                <a:latin typeface="Calibri" pitchFamily="34" charset="0"/>
                <a:ea typeface="Calibri" pitchFamily="34" charset="-122"/>
                <a:cs typeface="Calibri" pitchFamily="34" charset="-120"/>
              </a:rPr>
              <a:t>Storage limitation</a:t>
            </a:r>
            <a:endParaRPr lang="en-US" sz="1900" dirty="0"/>
          </a:p>
        </p:txBody>
      </p:sp>
      <p:sp>
        <p:nvSpPr>
          <p:cNvPr id="280" name="Shape 239"/>
          <p:cNvSpPr/>
          <p:nvPr/>
        </p:nvSpPr>
        <p:spPr>
          <a:xfrm>
            <a:off x="731520" y="39410640"/>
            <a:ext cx="25968960" cy="1965960"/>
          </a:xfrm>
          <a:prstGeom prst="roundRect">
            <a:avLst>
              <a:gd name="adj" fmla="val 6512"/>
            </a:avLst>
          </a:prstGeom>
          <a:solidFill>
            <a:srgbClr val="EAF1FA"/>
          </a:solidFill>
          <a:ln w="15875">
            <a:solidFill>
              <a:srgbClr val="B9CDE6"/>
            </a:solidFill>
            <a:prstDash val="solid"/>
          </a:ln>
        </p:spPr>
      </p:sp>
      <p:sp>
        <p:nvSpPr>
          <p:cNvPr id="281" name="Shape 240"/>
          <p:cNvSpPr/>
          <p:nvPr/>
        </p:nvSpPr>
        <p:spPr>
          <a:xfrm>
            <a:off x="1143000" y="39648384"/>
            <a:ext cx="713232" cy="713232"/>
          </a:xfrm>
          <a:prstGeom prst="ellipse">
            <a:avLst/>
          </a:prstGeom>
          <a:solidFill>
            <a:srgbClr val="163A70"/>
          </a:solidFill>
          <a:ln w="12700">
            <a:solidFill>
              <a:srgbClr val="163A70"/>
            </a:solidFill>
            <a:prstDash val="solid"/>
          </a:ln>
        </p:spPr>
      </p:sp>
      <p:sp>
        <p:nvSpPr>
          <p:cNvPr id="282" name="Text 241"/>
          <p:cNvSpPr/>
          <p:nvPr/>
        </p:nvSpPr>
        <p:spPr>
          <a:xfrm>
            <a:off x="1143000" y="39648384"/>
            <a:ext cx="713232" cy="713232"/>
          </a:xfrm>
          <a:prstGeom prst="rect">
            <a:avLst/>
          </a:prstGeom>
          <a:noFill/>
          <a:ln/>
        </p:spPr>
        <p:txBody>
          <a:bodyPr wrap="square" lIns="0" tIns="0" rIns="0" bIns="0" rtlCol="0" anchor="ctr"/>
          <a:lstStyle/>
          <a:p>
            <a:pPr algn="ctr" indent="0" marL="0">
              <a:buNone/>
            </a:pPr>
            <a:r>
              <a:rPr lang="en-US" sz="2400" b="1" dirty="0">
                <a:solidFill>
                  <a:srgbClr val="FFFFFF"/>
                </a:solidFill>
                <a:latin typeface="Calibri" pitchFamily="34" charset="0"/>
                <a:ea typeface="Calibri" pitchFamily="34" charset="-122"/>
                <a:cs typeface="Calibri" pitchFamily="34" charset="-120"/>
              </a:rPr>
              <a:t>08</a:t>
            </a:r>
            <a:endParaRPr lang="en-US" sz="2400" dirty="0"/>
          </a:p>
        </p:txBody>
      </p:sp>
      <p:sp>
        <p:nvSpPr>
          <p:cNvPr id="283" name="Text 242"/>
          <p:cNvSpPr/>
          <p:nvPr/>
        </p:nvSpPr>
        <p:spPr>
          <a:xfrm>
            <a:off x="2112264" y="39630096"/>
            <a:ext cx="9144000" cy="749808"/>
          </a:xfrm>
          <a:prstGeom prst="rect">
            <a:avLst/>
          </a:prstGeom>
          <a:noFill/>
          <a:ln/>
        </p:spPr>
        <p:txBody>
          <a:bodyPr wrap="square" lIns="0" tIns="0" rIns="0" bIns="0" rtlCol="0" anchor="ctr"/>
          <a:lstStyle/>
          <a:p>
            <a:pPr algn="l" indent="0" marL="0">
              <a:buNone/>
            </a:pPr>
            <a:r>
              <a:rPr lang="en-US" sz="2800" b="1" spc="120" kern="0" dirty="0">
                <a:solidFill>
                  <a:srgbClr val="163A70"/>
                </a:solidFill>
                <a:latin typeface="Calibri" pitchFamily="34" charset="0"/>
                <a:ea typeface="Calibri" pitchFamily="34" charset="-122"/>
                <a:cs typeface="Calibri" pitchFamily="34" charset="-120"/>
              </a:rPr>
              <a:t>CONCLUSION</a:t>
            </a:r>
            <a:endParaRPr lang="en-US" sz="2800" dirty="0"/>
          </a:p>
        </p:txBody>
      </p:sp>
      <p:sp>
        <p:nvSpPr>
          <p:cNvPr id="284" name="Text 243"/>
          <p:cNvSpPr/>
          <p:nvPr/>
        </p:nvSpPr>
        <p:spPr>
          <a:xfrm>
            <a:off x="5852160" y="39703248"/>
            <a:ext cx="20391120" cy="1371600"/>
          </a:xfrm>
          <a:prstGeom prst="rect">
            <a:avLst/>
          </a:prstGeom>
          <a:noFill/>
          <a:ln/>
        </p:spPr>
        <p:txBody>
          <a:bodyPr wrap="square" lIns="0" tIns="0" rIns="0" bIns="0" rtlCol="0" anchor="t"/>
          <a:lstStyle/>
          <a:p>
            <a:pPr algn="just" indent="0" marL="0">
              <a:lnSpc>
                <a:spcPct val="114000"/>
              </a:lnSpc>
              <a:buNone/>
            </a:pPr>
            <a:r>
              <a:rPr lang="en-US" sz="2300" dirty="0">
                <a:solidFill>
                  <a:srgbClr val="1E293B"/>
                </a:solidFill>
                <a:latin typeface="Calibri" pitchFamily="34" charset="0"/>
                <a:ea typeface="Calibri" pitchFamily="34" charset="-122"/>
                <a:cs typeface="Calibri" pitchFamily="34" charset="-120"/>
              </a:rPr>
              <a:t>Liposomes demonstrated strong potential in cancer therapy, gene delivery, and antiviral applications. liposome technology is an evolving and versatile drug-delivery platform, with continued advances in targeting, surface modification, stimuli-responsive delivery, and formulation optimization supporting its future role in precision medicine.</a:t>
            </a:r>
            <a:endParaRPr lang="en-US" sz="2300" dirty="0"/>
          </a:p>
        </p:txBody>
      </p:sp>
      <p:sp>
        <p:nvSpPr>
          <p:cNvPr id="285" name="Shape 244"/>
          <p:cNvSpPr/>
          <p:nvPr/>
        </p:nvSpPr>
        <p:spPr>
          <a:xfrm>
            <a:off x="731520" y="41696640"/>
            <a:ext cx="6949440" cy="1737360"/>
          </a:xfrm>
          <a:prstGeom prst="roundRect">
            <a:avLst>
              <a:gd name="adj" fmla="val 7368"/>
            </a:avLst>
          </a:prstGeom>
          <a:solidFill>
            <a:srgbClr val="FFFFFF"/>
          </a:solidFill>
          <a:ln w="15875">
            <a:solidFill>
              <a:srgbClr val="D7DEE8"/>
            </a:solidFill>
            <a:prstDash val="solid"/>
          </a:ln>
        </p:spPr>
      </p:sp>
      <p:sp>
        <p:nvSpPr>
          <p:cNvPr id="286" name="Text 245"/>
          <p:cNvSpPr/>
          <p:nvPr/>
        </p:nvSpPr>
        <p:spPr>
          <a:xfrm>
            <a:off x="1060704" y="41842944"/>
            <a:ext cx="6309360" cy="329184"/>
          </a:xfrm>
          <a:prstGeom prst="rect">
            <a:avLst/>
          </a:prstGeom>
          <a:noFill/>
          <a:ln/>
        </p:spPr>
        <p:txBody>
          <a:bodyPr wrap="square" lIns="0" tIns="0" rIns="0" bIns="0" rtlCol="0" anchor="ctr"/>
          <a:lstStyle/>
          <a:p>
            <a:pPr indent="0" marL="0">
              <a:buNone/>
            </a:pPr>
            <a:r>
              <a:rPr lang="en-US" sz="1700" b="1" spc="140" kern="0" dirty="0">
                <a:solidFill>
                  <a:srgbClr val="163A70"/>
                </a:solidFill>
                <a:latin typeface="Calibri" pitchFamily="34" charset="0"/>
                <a:ea typeface="Calibri" pitchFamily="34" charset="-122"/>
                <a:cs typeface="Calibri" pitchFamily="34" charset="-120"/>
              </a:rPr>
              <a:t>ACKNOWLEDGEMENTS</a:t>
            </a:r>
            <a:endParaRPr lang="en-US" sz="1700" dirty="0"/>
          </a:p>
        </p:txBody>
      </p:sp>
      <p:sp>
        <p:nvSpPr>
          <p:cNvPr id="287" name="Text 246"/>
          <p:cNvSpPr/>
          <p:nvPr/>
        </p:nvSpPr>
        <p:spPr>
          <a:xfrm>
            <a:off x="1060704" y="42226992"/>
            <a:ext cx="6309360" cy="914400"/>
          </a:xfrm>
          <a:prstGeom prst="rect">
            <a:avLst/>
          </a:prstGeom>
          <a:noFill/>
          <a:ln/>
        </p:spPr>
        <p:txBody>
          <a:bodyPr wrap="square" lIns="0" tIns="0" rIns="0" bIns="0" rtlCol="0" anchor="t"/>
          <a:lstStyle/>
          <a:p>
            <a:pPr algn="l" indent="0" marL="0">
              <a:lnSpc>
                <a:spcPct val="112000"/>
              </a:lnSpc>
              <a:buNone/>
            </a:pPr>
            <a:r>
              <a:rPr lang="en-US" sz="1700" dirty="0">
                <a:solidFill>
                  <a:srgbClr val="1E293B"/>
                </a:solidFill>
                <a:latin typeface="Calibri" pitchFamily="34" charset="0"/>
                <a:ea typeface="Calibri" pitchFamily="34" charset="-122"/>
                <a:cs typeface="Calibri" pitchFamily="34" charset="-120"/>
              </a:rPr>
              <a:t>The authors are thankful to the college staff and management for the encouragement and support.</a:t>
            </a:r>
            <a:endParaRPr lang="en-US" sz="1700" dirty="0"/>
          </a:p>
        </p:txBody>
      </p:sp>
      <p:sp>
        <p:nvSpPr>
          <p:cNvPr id="288" name="Shape 247"/>
          <p:cNvSpPr/>
          <p:nvPr/>
        </p:nvSpPr>
        <p:spPr>
          <a:xfrm>
            <a:off x="8046720" y="41696640"/>
            <a:ext cx="18653760" cy="1737360"/>
          </a:xfrm>
          <a:prstGeom prst="roundRect">
            <a:avLst>
              <a:gd name="adj" fmla="val 7368"/>
            </a:avLst>
          </a:prstGeom>
          <a:solidFill>
            <a:srgbClr val="FFFFFF"/>
          </a:solidFill>
          <a:ln w="15875">
            <a:solidFill>
              <a:srgbClr val="D7DEE8"/>
            </a:solidFill>
            <a:prstDash val="solid"/>
          </a:ln>
        </p:spPr>
      </p:sp>
      <p:sp>
        <p:nvSpPr>
          <p:cNvPr id="289" name="Text 248"/>
          <p:cNvSpPr/>
          <p:nvPr/>
        </p:nvSpPr>
        <p:spPr>
          <a:xfrm>
            <a:off x="8375904" y="41842944"/>
            <a:ext cx="18013680" cy="329184"/>
          </a:xfrm>
          <a:prstGeom prst="rect">
            <a:avLst/>
          </a:prstGeom>
          <a:noFill/>
          <a:ln/>
        </p:spPr>
        <p:txBody>
          <a:bodyPr wrap="square" lIns="0" tIns="0" rIns="0" bIns="0" rtlCol="0" anchor="ctr"/>
          <a:lstStyle/>
          <a:p>
            <a:pPr indent="0" marL="0">
              <a:buNone/>
            </a:pPr>
            <a:r>
              <a:rPr lang="en-US" sz="1700" b="1" spc="140" kern="0" dirty="0">
                <a:solidFill>
                  <a:srgbClr val="163A70"/>
                </a:solidFill>
                <a:latin typeface="Calibri" pitchFamily="34" charset="0"/>
                <a:ea typeface="Calibri" pitchFamily="34" charset="-122"/>
                <a:cs typeface="Calibri" pitchFamily="34" charset="-120"/>
              </a:rPr>
              <a:t>REFERENCES</a:t>
            </a:r>
            <a:endParaRPr lang="en-US" sz="1700" dirty="0"/>
          </a:p>
        </p:txBody>
      </p:sp>
      <p:sp>
        <p:nvSpPr>
          <p:cNvPr id="290" name="Text 249"/>
          <p:cNvSpPr/>
          <p:nvPr/>
        </p:nvSpPr>
        <p:spPr>
          <a:xfrm>
            <a:off x="8375904" y="42208704"/>
            <a:ext cx="18013680" cy="1152144"/>
          </a:xfrm>
          <a:prstGeom prst="rect">
            <a:avLst/>
          </a:prstGeom>
          <a:noFill/>
          <a:ln/>
        </p:spPr>
        <p:txBody>
          <a:bodyPr wrap="square" lIns="0" tIns="0" rIns="0" bIns="0" rtlCol="0" anchor="t"/>
          <a:lstStyle/>
          <a:p>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1. Nsairat H, et al. </a:t>
            </a:r>
            <a:pPr algn="l" indent="0" marL="0">
              <a:lnSpc>
                <a:spcPct val="110000"/>
              </a:lnSpc>
              <a:buNone/>
            </a:pPr>
            <a:r>
              <a:rPr lang="en-US" sz="1600" i="1" dirty="0">
                <a:solidFill>
                  <a:srgbClr val="1E293B"/>
                </a:solidFill>
                <a:latin typeface="Calibri" pitchFamily="34" charset="0"/>
                <a:ea typeface="Calibri" pitchFamily="34" charset="-122"/>
                <a:cs typeface="Calibri" pitchFamily="34" charset="-120"/>
              </a:rPr>
              <a:t>Heliyon.</a:t>
            </a:r>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 2022;8. 2. Ricci A, et al. </a:t>
            </a:r>
            <a:pPr algn="l" indent="0" marL="0">
              <a:lnSpc>
                <a:spcPct val="110000"/>
              </a:lnSpc>
              <a:buNone/>
            </a:pPr>
            <a:r>
              <a:rPr lang="en-US" sz="1600" i="1" dirty="0">
                <a:solidFill>
                  <a:srgbClr val="1E293B"/>
                </a:solidFill>
                <a:latin typeface="Calibri" pitchFamily="34" charset="0"/>
                <a:ea typeface="Calibri" pitchFamily="34" charset="-122"/>
                <a:cs typeface="Calibri" pitchFamily="34" charset="-120"/>
              </a:rPr>
              <a:t>Antioxidants.</a:t>
            </a:r>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 2024;13:1516. 3. Hamad I, et al. </a:t>
            </a:r>
            <a:pPr algn="l" indent="0" marL="0">
              <a:lnSpc>
                <a:spcPct val="110000"/>
              </a:lnSpc>
              <a:buNone/>
            </a:pPr>
            <a:r>
              <a:rPr lang="en-US" sz="1600" i="1" dirty="0">
                <a:solidFill>
                  <a:srgbClr val="1E293B"/>
                </a:solidFill>
                <a:latin typeface="Calibri" pitchFamily="34" charset="0"/>
                <a:ea typeface="Calibri" pitchFamily="34" charset="-122"/>
                <a:cs typeface="Calibri" pitchFamily="34" charset="-120"/>
              </a:rPr>
              <a:t>Pharmaceutics.</a:t>
            </a:r>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 2024;16:400. 4. Huang Z, et al. </a:t>
            </a:r>
            <a:pPr algn="l" indent="0" marL="0">
              <a:lnSpc>
                <a:spcPct val="110000"/>
              </a:lnSpc>
              <a:buNone/>
            </a:pPr>
            <a:r>
              <a:rPr lang="en-US" sz="1600" i="1" dirty="0">
                <a:solidFill>
                  <a:srgbClr val="1E293B"/>
                </a:solidFill>
                <a:latin typeface="Calibri" pitchFamily="34" charset="0"/>
                <a:ea typeface="Calibri" pitchFamily="34" charset="-122"/>
                <a:cs typeface="Calibri" pitchFamily="34" charset="-120"/>
              </a:rPr>
              <a:t>J Liposome Res.</a:t>
            </a:r>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 2024;34:715–727. 5. Paramshetti S, et al. </a:t>
            </a:r>
            <a:pPr algn="l" indent="0" marL="0">
              <a:lnSpc>
                <a:spcPct val="110000"/>
              </a:lnSpc>
              <a:buNone/>
            </a:pPr>
            <a:r>
              <a:rPr lang="en-US" sz="1600" i="1" dirty="0">
                <a:solidFill>
                  <a:srgbClr val="1E293B"/>
                </a:solidFill>
                <a:latin typeface="Calibri" pitchFamily="34" charset="0"/>
                <a:ea typeface="Calibri" pitchFamily="34" charset="-122"/>
                <a:cs typeface="Calibri" pitchFamily="34" charset="-120"/>
              </a:rPr>
              <a:t>Life Sci.</a:t>
            </a:r>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 2024;342:122616. </a:t>
            </a:r>
            <a:endParaRPr lang="en-US" sz="1600" dirty="0"/>
          </a:p>
          <a:p>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6. Pal R, et al. </a:t>
            </a:r>
            <a:pPr algn="l" indent="0" marL="0">
              <a:lnSpc>
                <a:spcPct val="110000"/>
              </a:lnSpc>
              <a:buNone/>
            </a:pPr>
            <a:r>
              <a:rPr lang="en-US" sz="1600" i="1" dirty="0">
                <a:solidFill>
                  <a:srgbClr val="1E293B"/>
                </a:solidFill>
                <a:latin typeface="Calibri" pitchFamily="34" charset="0"/>
                <a:ea typeface="Calibri" pitchFamily="34" charset="-122"/>
                <a:cs typeface="Calibri" pitchFamily="34" charset="-120"/>
              </a:rPr>
              <a:t>J Adv Med Med Res.</a:t>
            </a:r>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 2023;35:7–15. 7. Singh H, et al. </a:t>
            </a:r>
            <a:pPr algn="l" indent="0" marL="0">
              <a:lnSpc>
                <a:spcPct val="110000"/>
              </a:lnSpc>
              <a:buNone/>
            </a:pPr>
            <a:r>
              <a:rPr lang="en-US" sz="1600" i="1" dirty="0">
                <a:solidFill>
                  <a:srgbClr val="1E293B"/>
                </a:solidFill>
                <a:latin typeface="Calibri" pitchFamily="34" charset="0"/>
                <a:ea typeface="Calibri" pitchFamily="34" charset="-122"/>
                <a:cs typeface="Calibri" pitchFamily="34" charset="-120"/>
              </a:rPr>
              <a:t>J Drug Deliv Sci Technol.</a:t>
            </a:r>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 2024;94:105526. 8. Jain A, et al. </a:t>
            </a:r>
            <a:pPr algn="l" indent="0" marL="0">
              <a:lnSpc>
                <a:spcPct val="110000"/>
              </a:lnSpc>
              <a:buNone/>
            </a:pPr>
            <a:r>
              <a:rPr lang="en-US" sz="1600" i="1" dirty="0">
                <a:solidFill>
                  <a:srgbClr val="1E293B"/>
                </a:solidFill>
                <a:latin typeface="Calibri" pitchFamily="34" charset="0"/>
                <a:ea typeface="Calibri" pitchFamily="34" charset="-122"/>
                <a:cs typeface="Calibri" pitchFamily="34" charset="-120"/>
              </a:rPr>
              <a:t>Chem Phys Lipids.</a:t>
            </a:r>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 2019;222:115–119. 9. Hadjou H, et al. </a:t>
            </a:r>
            <a:pPr algn="l" indent="0" marL="0">
              <a:lnSpc>
                <a:spcPct val="110000"/>
              </a:lnSpc>
              <a:buNone/>
            </a:pPr>
            <a:r>
              <a:rPr lang="en-US" sz="1600" i="1" dirty="0">
                <a:solidFill>
                  <a:srgbClr val="1E293B"/>
                </a:solidFill>
                <a:latin typeface="Calibri" pitchFamily="34" charset="0"/>
                <a:ea typeface="Calibri" pitchFamily="34" charset="-122"/>
                <a:cs typeface="Calibri" pitchFamily="34" charset="-120"/>
              </a:rPr>
              <a:t>ACS Appl Mater Interfaces.</a:t>
            </a:r>
            <a:pPr algn="l" indent="0" marL="0">
              <a:lnSpc>
                <a:spcPct val="110000"/>
              </a:lnSpc>
              <a:buNone/>
            </a:pPr>
            <a:r>
              <a:rPr lang="en-US" sz="1600" dirty="0">
                <a:solidFill>
                  <a:srgbClr val="1E293B"/>
                </a:solidFill>
                <a:latin typeface="Calibri" pitchFamily="34" charset="0"/>
                <a:ea typeface="Calibri" pitchFamily="34" charset="-122"/>
                <a:cs typeface="Calibri" pitchFamily="34" charset="-120"/>
              </a:rPr>
              <a:t> 2022;14:48530–48540.</a:t>
            </a:r>
            <a:endParaRPr lang="en-US" sz="16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1</Slides>
  <Notes>1</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vt:i4>
      </vt:variant>
    </vt:vector>
  </HeadingPairs>
  <TitlesOfParts>
    <vt:vector size="4" baseType="lpstr">
      <vt:lpstr>Arial</vt:lpstr>
      <vt:lpstr>Calibri</vt:lpstr>
      <vt:lpstr>Office Theme</vt:lpstr>
      <vt:lpstr>Slide 1</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Harnessing Liposome Technology for Precision Medicine</dc:title>
  <dc:subject>PptxGenJS Presentation</dc:subject>
  <dc:creator>Department of Pharmaceutics, RR College of Pharmacy</dc:creator>
  <cp:lastModifiedBy>Department of Pharmaceutics, RR College of Pharmacy</cp:lastModifiedBy>
  <cp:revision>1</cp:revision>
  <dcterms:created xsi:type="dcterms:W3CDTF">2026-08-12T05:26:19Z</dcterms:created>
  <dcterms:modified xsi:type="dcterms:W3CDTF">2026-08-12T05:26:19Z</dcterms:modified>
</cp:coreProperties>
</file>